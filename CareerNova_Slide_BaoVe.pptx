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Điểm TB (/5)</c:v>
                </c:pt>
              </c:strCache>
            </c:strRef>
          </c:tx>
          <c:spPr>
            <a:solidFill>
              <a:srgbClr val="0C63B4"/>
            </a:solidFill>
            <a:effectLst/>
          </c:spPr>
          <c:invertIfNegative val="0"/>
          <c:dLbls>
            <c:numFmt formatCode="0.00" sourceLinked="0"/>
            <c:txPr>
              <a:bodyPr/>
              <a:lstStyle/>
              <a:p>
                <a:pPr>
                  <a:defRPr b="0" i="0" strike="noStrike" sz="1100" u="none">
                    <a:solidFill>
                      <a:srgbClr val="17334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Tiết kiệm thời gian định hướng</c:v>
                  </c:pt>
                  <c:pt idx="1">
                    <c:v>Thao tác thuận tiện</c:v>
                  </c:pt>
                  <c:pt idx="2">
                    <c:v>Tốc độ phản hồi</c:v>
                  </c:pt>
                  <c:pt idx="3">
                    <c:v>Nhận diện kỹ năng CV</c:v>
                  </c:pt>
                  <c:pt idx="4">
                    <c:v>Radar điểm mạnh/yếu</c:v>
                  </c:pt>
                  <c:pt idx="5">
                    <c:v>Độ tin cậy % Matching</c:v>
                  </c:pt>
                </c:lvl>
              </c:multiLvlStrCache>
            </c:multiLvlStrRef>
          </c:cat>
          <c:val>
            <c:numRef>
              <c:f>Sheet1!$B$2:$B$7</c:f>
              <c:numCache>
                <c:formatCode>General</c:formatCode>
                <c:ptCount val="6"/>
                <c:pt idx="0">
                  <c:v>4.67</c:v>
                </c:pt>
                <c:pt idx="1">
                  <c:v>4.67</c:v>
                </c:pt>
                <c:pt idx="2">
                  <c:v>4.67</c:v>
                </c:pt>
                <c:pt idx="3">
                  <c:v>4.44</c:v>
                </c:pt>
                <c:pt idx="4">
                  <c:v>4.33</c:v>
                </c:pt>
                <c:pt idx="5">
                  <c:v>3.89</c:v>
                </c:pt>
              </c:numCache>
            </c:numRef>
          </c:val>
        </c:ser>
        <c:dLbls>
          <c:numFmt formatCode="0.00" sourceLinked="0"/>
          <c:txPr>
            <a:bodyPr/>
            <a:lstStyle/>
            <a:p>
              <a:pPr>
                <a:defRPr b="0" i="0" strike="noStrike" sz="1100" u="none">
                  <a:solidFill>
                    <a:srgbClr val="17334D"/>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7334D"/>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b"/>
        <c:majorGridlines>
          <c:spPr>
            <a:ln w="12700" cap="flat">
              <a:solidFill>
                <a:srgbClr val="EDED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C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Em là ... nhóm thực hiện khóa luận 'Đề xuất khung phân tích hỗ trợ sinh viên phân tích dữ liệu tuyển dụng' — hệ thống CareerNova, đã triển khai thật tại career-nova.online. Bài trình bày ~20 phút gồm 5 phần, sau đó demo 10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gồm 5 phần: giới thiệu, giải pháp-phương pháp, kết quả, demo, kết luận. Phần trình bày ~20 phút, demo ~10 phút. Hai thành viên luân phiên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câu chuyện thật: chính chúng em từng không biết mình thiếu kỹ năng gì so với thị trường. Ba nỗi đau: (1) không tự lượng hóa năng lực; (2) dữ liệu tuyển dụng phân mảnh, chưa chuẩn hóa; (3) công cụ hiện tại chỉ khớp từ khóa, không chỉ ra khoảng cách kỹ năng. Đây là động lực của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không dùng keyword thuần? Keyword bỏ sót từ đồng nghĩa và không đo được mức độ gần về ngữ nghĩa. Ý tưởng CareerNova: kết hợp LLM (hiểu ngữ nghĩa) + kiểm chứng bằng chứng để trích xuất kỹ năng đáng tin, rồi so khớp ngữ nghĩa có trọng số thị trường, cuối cùng trực quan hóa khoảng cách kỹ năng.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mục tiêu ánh xạ trực tiếp sang ba đóng góp: (1) thu thập-chuẩn hóa → kho dữ liệu + pipeline ETL; (2) trích xuất-định lượng → công cụ đo Skill Gap; (3) trực quan hóa → web CareerNova triển khai thật. Phạm vi: ngành CNTT tại Việt Nam, cho SV năm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Bức tranh lớn: nguồn tin tuyển dụng → crawler → ETL/PostgreSQL → Core API (NestJS) → algo-api (FastAPI: trích xuất + so khớp) → Frontend (Next.js). Đóng góp thiết kế: tách algo-api riêng cho tác vụ AI nặng và dùng cache, giúp giao diện luôn nhanh. Từ đây em sẽ đi vào từng mắt xích.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crawl đa nguồn (ITViec, VietnamWorks...) → làm sạch → chuẩn hóa thực thể (kỹ năng, công ty) → khử trùng lặp → PostgreSQL. Vì sao chuẩn hóa: React.js/ReactJS/react phải gộp về một để thống kê đúng. Dữ liệu thật: 7.245 tin, 3.511 công ty, 6.048 kỹ năng — có ảnh chụp truy vấn DB làm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tâm đắc kỹ thuật #1. LLM trả JSON có cấu trúc (schema cưỡng chế, temperature=0) gồm kỹ năng kèm evidence. Vấn đề: LLM có thể ảo giác kỹ năng không có thật → tầng hậu kiểm đối chiếu evidence với văn bản gốc, loại kỹ năng không có dẫn chứng. Nhờ vậy Precision đạt 98,9%. Thành thật: hậu kiểm dùng khớp chuỗi con nên còn giòn với lỗi OCR — sẽ nói ở phần hạn chế.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tâm đắc #2 và #3. Quy trình: SBERT tạo vector 384 chiều → Cosine đo tương đồng → nhân trọng số IDF động (tính từ tần suất kỹ năng trên thị trường IT VN) → áp 6 luật lọc theo nhóm kỹ năng → ra Match Score kèm danh sách kỹ năng thiếu. Vì sao trọng số: kỹ năng hiếm/cầu cao được tính nặng hơn. Các ngưỡng và luật do nhóm đặt dựa trên thử nghiệm — chi tiết ở slide dự phòng.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sản phẩm trực quan: Dashboard thị trường (job hot, kỹ năng cầu cao, xu hướng lương) và Skill Gap (radar CV vs JD, kỹ năng đã đạt/còn thiếu, lộ trình học). Nguyên lý DIKW: biến dữ liệu thô thành hành động cụ thể cho 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tâm đắc lớn nhất: hệ thống chạy thật tại career-nova.online với dữ liệu thật, khác với prototype. 5 phân hệ đầy đủ, 11/11 test case đạt, người dùng cho 8,56/10. Đây là ảnh giao diện so khớp CV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ma trận truy vết từ yêu cầu (UC) → thiết kế → hiện thực → ca kiểm thử. 11/11 ca đạt trên môi trường thật. Hai ca rủi ro cao nhất đều qua: TC-06 chặn file sai định dạng/quá dung lượng ở biên; TC-08 chạy đúng toàn bộ chuỗi AI trích xuất-chuẩn hóa-so khớp. Kiểm thử chức năng chỉ trả lời 'chạy đúng không'; tốc độ và độ chính xác đo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bày trung thực (đúng tinh thần hội đồng &amp; cô muốn). NER: Precision gần tuyệt đối 98,9% (gần như không bịa kỹ năng), F1 đạt, nhưng Recall 73% chưa đạt 80% do lệch ngôn ngữ Việt-Anh và lệch cấp độ chi tiết. Chuẩn hóa đạt cả 3 ngưỡng. Khử trùng lặp 100% nhưng tập nhỏ có cặp giả lập nên chỉ là kiểm chứng, không tổng quát. Skill Gap Accuracy chỉ 54,8% — NHƯNG nguyên nhân rõ ràng: CSDL chỉ lưu nhị phân, 117 kỹ năng Partial bị ép về Missing; điểm số tổng hợp MAE vẫn 0,1 nên vẫn tin cậy. Tuyệt đối không nói 'vượt kỳ vọng/hoàn 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 20 lượt/thao tác trên môi trường thật. Dashboard &amp; upload nhanh. Đối soát lần đầu (cache miss) TB 41,9s, max 55,1s → đạt NFR-02 (60s), 0/20 vượt. Lặp lại (cache hit) chỉ 0,27s, nhanh ~155 lần. Vì sao lần đầu chậm: gọi Gemini API + tính vector trên 2 vCPU không GPU. Thành thật: đây là đo đơn phiên, chưa load test, nhiều người đồng thời có thể vượt 60s — nêu ở hạn chế. Có ảnh terminal làm bằng chứng thô.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Khảo sát định hình n=9, đúng chân dung người dùng mục tiêu. Trung bình 4,39/5, thiện cảm 8,56/10. Tín hiệu mạnh nhất: 100% đồng ý 'tiết kiệm thời gian định hướng' — đúng giá trị cốt lõi. Quan trọng: điểm thấp nhất là 'độ tin cậy % Matching' 3,89 — khớp CHÍNH XÁC hạn chế Skill Gap ở slide trước; cảm nhận chủ quan và số đo khách quan hội tụ. 71,4% muốn giải thích cách chấm điểm → nhóm đã bổ sung tooltip + trang hướng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video ~10 phút. Ba chức năng tâm đắc, mỗi cái nêu rõ đầu vào → đầu ra: (1) Dashboard thị trường; (2) Upload CV → so khớp ra % phù hợp + radar + kỹ năng thiếu; (3) Skill Gap → lộ trình học. Video quay sẵn để tránh sự cố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điều tâm đắc (đáp trực tiếp yêu cầu hội đồng): (1) hệ thống chạy thật, đo thật, có bằng chứng thô; (2) cơ chế hậu kiểm chống ảo giác LLM → Precision 98,9%; (3) định lượng khoảng cách kỹ năng có trọng số thị trường — thứ keyword matching không làm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hội đồng đánh giá cao sự trung thực. Nêu thẳng 6 hạn chế, mỗi cái kèm hướng khắc phục: (1) nhãn tự gán → thêm người gán + Cohen's kappa; (2) thiếu baseline → ablation; (3) Recall &amp; Skill Gap chưa đạt → fuzzy match + lưu 3 trạng thái; (4) tập nhỏ có cặp giả lập → mở rộng; (5) PII gửi Gemini → ẩn danh, đối chiếu Nghị định 13/2023; (6) chưa load test → xử lý bất đồng bộ + kiểm thử tải. Nếu hội đồng hỏi sâu, mình có slide dự phòng.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Hướng phát triển theo 4 trục: nâng độ vững đánh giá (baseline/ablation/độ nhạy), cải thiện thuật toán (3 trạng thái, fuzzy match, bất đồng bộ), mở rộng dữ liệu (đa ngành, lương, phỏng vấn), riêng tư &amp; scale (PII, load test). Ưu tiên bám phản hồi người dùng: lương và phỏng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Giữ slide này khi hỏi đáp. Nếu bị hỏi sâu, chuyển tới các slide dự phòng phía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E7E"/>
        </a:solidFill>
      </p:bgPr>
    </p:bg>
    <p:spTree>
      <p:nvGrpSpPr>
        <p:cNvPr id="1" name=""/>
        <p:cNvGrpSpPr/>
        <p:nvPr/>
      </p:nvGrpSpPr>
      <p:grpSpPr>
        <a:xfrm>
          <a:off x="0" y="0"/>
          <a:ext cx="0" cy="0"/>
          <a:chOff x="0" y="0"/>
          <a:chExt cx="0" cy="0"/>
        </a:xfrm>
      </p:grpSpPr>
      <p:sp>
        <p:nvSpPr>
          <p:cNvPr id="2" name="Shape 0"/>
          <p:cNvSpPr/>
          <p:nvPr/>
        </p:nvSpPr>
        <p:spPr>
          <a:xfrm>
            <a:off x="9509760" y="-2011680"/>
            <a:ext cx="5486400" cy="5486400"/>
          </a:xfrm>
          <a:prstGeom prst="ellipse">
            <a:avLst/>
          </a:prstGeom>
          <a:solidFill>
            <a:srgbClr val="0A56A0"/>
          </a:solidFill>
          <a:ln/>
        </p:spPr>
      </p:sp>
      <p:sp>
        <p:nvSpPr>
          <p:cNvPr id="3" name="Shape 1"/>
          <p:cNvSpPr/>
          <p:nvPr/>
        </p:nvSpPr>
        <p:spPr>
          <a:xfrm>
            <a:off x="-1645920" y="4206240"/>
            <a:ext cx="4572000" cy="4572000"/>
          </a:xfrm>
          <a:prstGeom prst="ellipse">
            <a:avLst/>
          </a:prstGeom>
          <a:solidFill>
            <a:srgbClr val="0A56A0"/>
          </a:solidFill>
          <a:ln/>
        </p:spPr>
      </p:sp>
      <p:pic>
        <p:nvPicPr>
          <p:cNvPr id="4" name="Image 0" descr="/private/tmp/claude-501/-Users-ymytr-nova/5e161095-2610-40a0-961d-5450e47dcdec/scratchpad/build/logo-khtn-sm.png">    </p:cNvPr>
          <p:cNvPicPr>
            <a:picLocks noChangeAspect="1"/>
          </p:cNvPicPr>
          <p:nvPr/>
        </p:nvPicPr>
        <p:blipFill>
          <a:blip r:embed="rId1"/>
          <a:stretch>
            <a:fillRect/>
          </a:stretch>
        </p:blipFill>
        <p:spPr>
          <a:xfrm>
            <a:off x="548640" y="457200"/>
            <a:ext cx="868680" cy="682411"/>
          </a:xfrm>
          <a:prstGeom prst="rect">
            <a:avLst/>
          </a:prstGeom>
        </p:spPr>
      </p:pic>
      <p:sp>
        <p:nvSpPr>
          <p:cNvPr id="5" name="Text 2"/>
          <p:cNvSpPr/>
          <p:nvPr/>
        </p:nvSpPr>
        <p:spPr>
          <a:xfrm>
            <a:off x="1554480" y="548640"/>
            <a:ext cx="10058400" cy="457200"/>
          </a:xfrm>
          <a:prstGeom prst="rect">
            <a:avLst/>
          </a:prstGeom>
          <a:noFill/>
          <a:ln/>
        </p:spPr>
        <p:txBody>
          <a:bodyPr wrap="square" rtlCol="0" anchor="ctr"/>
          <a:lstStyle/>
          <a:p>
            <a:pPr indent="0" marL="0">
              <a:buNone/>
            </a:pPr>
            <a:r>
              <a:rPr lang="en-US" sz="1200" dirty="0">
                <a:solidFill>
                  <a:srgbClr val="CBDEF5"/>
                </a:solidFill>
                <a:latin typeface="Calibri" pitchFamily="34" charset="0"/>
                <a:ea typeface="Calibri" pitchFamily="34" charset="-122"/>
                <a:cs typeface="Calibri" pitchFamily="34" charset="-120"/>
              </a:rPr>
              <a:t>TRƯỜNG ĐẠI HỌC KHOA HỌC TỰ NHIÊN — KHOA CÔNG NGHỆ THÔNG TIN</a:t>
            </a:r>
            <a:endParaRPr lang="en-US" sz="1200" dirty="0"/>
          </a:p>
        </p:txBody>
      </p:sp>
      <p:sp>
        <p:nvSpPr>
          <p:cNvPr id="6" name="Text 3"/>
          <p:cNvSpPr/>
          <p:nvPr/>
        </p:nvSpPr>
        <p:spPr>
          <a:xfrm>
            <a:off x="548640" y="1874520"/>
            <a:ext cx="10972800" cy="365760"/>
          </a:xfrm>
          <a:prstGeom prst="rect">
            <a:avLst/>
          </a:prstGeom>
          <a:noFill/>
          <a:ln/>
        </p:spPr>
        <p:txBody>
          <a:bodyPr wrap="square" rtlCol="0" anchor="ctr"/>
          <a:lstStyle/>
          <a:p>
            <a:pPr indent="0" marL="0">
              <a:buNone/>
            </a:pPr>
            <a:r>
              <a:rPr lang="en-US" sz="1500" b="1" spc="300" kern="0" dirty="0">
                <a:solidFill>
                  <a:srgbClr val="CBDEF5"/>
                </a:solidFill>
                <a:latin typeface="Calibri" pitchFamily="34" charset="0"/>
                <a:ea typeface="Calibri" pitchFamily="34" charset="-122"/>
                <a:cs typeface="Calibri" pitchFamily="34" charset="-120"/>
              </a:rPr>
              <a:t>KHÓA LUẬN TỐT NGHIỆP</a:t>
            </a:r>
            <a:endParaRPr lang="en-US" sz="1500" dirty="0"/>
          </a:p>
        </p:txBody>
      </p:sp>
      <p:sp>
        <p:nvSpPr>
          <p:cNvPr id="7" name="Text 4"/>
          <p:cNvSpPr/>
          <p:nvPr/>
        </p:nvSpPr>
        <p:spPr>
          <a:xfrm>
            <a:off x="548640" y="2286000"/>
            <a:ext cx="11064240" cy="1554480"/>
          </a:xfrm>
          <a:prstGeom prst="rect">
            <a:avLst/>
          </a:prstGeom>
          <a:noFill/>
          <a:ln/>
        </p:spPr>
        <p:txBody>
          <a:bodyPr wrap="square" rtlCol="0" anchor="ctr"/>
          <a:lstStyle/>
          <a:p>
            <a:pPr indent="0" marL="0">
              <a:lnSpc>
                <a:spcPct val="102000"/>
              </a:lnSpc>
              <a:buNone/>
            </a:pPr>
            <a:r>
              <a:rPr lang="en-US" sz="4000" b="1" dirty="0">
                <a:solidFill>
                  <a:srgbClr val="FFFFFF"/>
                </a:solidFill>
                <a:latin typeface="Cambria" pitchFamily="34" charset="0"/>
                <a:ea typeface="Cambria" pitchFamily="34" charset="-122"/>
                <a:cs typeface="Cambria" pitchFamily="34" charset="-120"/>
              </a:rPr>
              <a:t>Đề xuất khung phân tích hỗ trợ sinh viên</a:t>
            </a:r>
            <a:endParaRPr lang="en-US" sz="4000" dirty="0"/>
          </a:p>
          <a:p>
            <a:pPr indent="0" marL="0">
              <a:lnSpc>
                <a:spcPct val="102000"/>
              </a:lnSpc>
              <a:buNone/>
            </a:pPr>
            <a:r>
              <a:rPr lang="en-US" sz="4000" b="1" dirty="0">
                <a:solidFill>
                  <a:srgbClr val="FFFFFF"/>
                </a:solidFill>
                <a:latin typeface="Cambria" pitchFamily="34" charset="0"/>
                <a:ea typeface="Cambria" pitchFamily="34" charset="-122"/>
                <a:cs typeface="Cambria" pitchFamily="34" charset="-120"/>
              </a:rPr>
              <a:t>phân tích dữ liệu tuyển dụng</a:t>
            </a:r>
            <a:endParaRPr lang="en-US" sz="4000" dirty="0"/>
          </a:p>
        </p:txBody>
      </p:sp>
      <p:sp>
        <p:nvSpPr>
          <p:cNvPr id="8" name="Text 5"/>
          <p:cNvSpPr/>
          <p:nvPr/>
        </p:nvSpPr>
        <p:spPr>
          <a:xfrm>
            <a:off x="566928" y="3886200"/>
            <a:ext cx="10972800" cy="457200"/>
          </a:xfrm>
          <a:prstGeom prst="rect">
            <a:avLst/>
          </a:prstGeom>
          <a:noFill/>
          <a:ln/>
        </p:spPr>
        <p:txBody>
          <a:bodyPr wrap="square" rtlCol="0" anchor="ctr"/>
          <a:lstStyle/>
          <a:p>
            <a:pPr indent="0" marL="0">
              <a:buNone/>
            </a:pPr>
            <a:r>
              <a:rPr lang="en-US" sz="1800" dirty="0">
                <a:solidFill>
                  <a:srgbClr val="CBDEF5"/>
                </a:solidFill>
                <a:latin typeface="Calibri" pitchFamily="34" charset="0"/>
                <a:ea typeface="Calibri" pitchFamily="34" charset="-122"/>
                <a:cs typeface="Calibri" pitchFamily="34" charset="-120"/>
              </a:rPr>
              <a:t>Hệ thống </a:t>
            </a:r>
            <a:pPr indent="0" marL="0">
              <a:buNone/>
            </a:pPr>
            <a:r>
              <a:rPr lang="en-US" sz="1800" b="1" dirty="0">
                <a:solidFill>
                  <a:srgbClr val="1E88D6"/>
                </a:solidFill>
                <a:latin typeface="Calibri" pitchFamily="34" charset="0"/>
                <a:ea typeface="Calibri" pitchFamily="34" charset="-122"/>
                <a:cs typeface="Calibri" pitchFamily="34" charset="-120"/>
              </a:rPr>
              <a:t>CareerNova</a:t>
            </a:r>
            <a:pPr indent="0" marL="0">
              <a:buNone/>
            </a:pPr>
            <a:r>
              <a:rPr lang="en-US" sz="1800" dirty="0">
                <a:solidFill>
                  <a:srgbClr val="CBDEF5"/>
                </a:solidFill>
                <a:latin typeface="Calibri" pitchFamily="34" charset="0"/>
                <a:ea typeface="Calibri" pitchFamily="34" charset="-122"/>
                <a:cs typeface="Calibri" pitchFamily="34" charset="-120"/>
              </a:rPr>
              <a:t>  ·  career-nova.online</a:t>
            </a:r>
            <a:endParaRPr lang="en-US" sz="1800" dirty="0"/>
          </a:p>
        </p:txBody>
      </p:sp>
      <p:sp>
        <p:nvSpPr>
          <p:cNvPr id="9" name="Text 6"/>
          <p:cNvSpPr/>
          <p:nvPr/>
        </p:nvSpPr>
        <p:spPr>
          <a:xfrm>
            <a:off x="566928" y="5029200"/>
            <a:ext cx="10972800" cy="365760"/>
          </a:xfrm>
          <a:prstGeom prst="rect">
            <a:avLst/>
          </a:prstGeom>
          <a:noFill/>
          <a:ln/>
        </p:spPr>
        <p:txBody>
          <a:bodyPr wrap="square" rtlCol="0" anchor="ctr"/>
          <a:lstStyle/>
          <a:p>
            <a:pPr indent="0" marL="0">
              <a:buNone/>
            </a:pPr>
            <a:r>
              <a:rPr lang="en-US" sz="1500" b="1" dirty="0">
                <a:solidFill>
                  <a:srgbClr val="CBDEF5"/>
                </a:solidFill>
                <a:latin typeface="Calibri" pitchFamily="34" charset="0"/>
                <a:ea typeface="Calibri" pitchFamily="34" charset="-122"/>
                <a:cs typeface="Calibri" pitchFamily="34" charset="-120"/>
              </a:rPr>
              <a:t>SVTH:  </a:t>
            </a:r>
            <a:pPr indent="0" marL="0">
              <a:buNone/>
            </a:pPr>
            <a:r>
              <a:rPr lang="en-US" sz="1500" dirty="0">
                <a:solidFill>
                  <a:srgbClr val="FFFFFF"/>
                </a:solidFill>
                <a:latin typeface="Calibri" pitchFamily="34" charset="0"/>
                <a:ea typeface="Calibri" pitchFamily="34" charset="-122"/>
                <a:cs typeface="Calibri" pitchFamily="34" charset="-120"/>
              </a:rPr>
              <a:t>Thái Thị Kim Huyền (22127169)   ·   Trần Thị Mỹ Ý (22127468)</a:t>
            </a:r>
            <a:endParaRPr lang="en-US" sz="1500" dirty="0"/>
          </a:p>
        </p:txBody>
      </p:sp>
      <p:sp>
        <p:nvSpPr>
          <p:cNvPr id="10" name="Text 7"/>
          <p:cNvSpPr/>
          <p:nvPr/>
        </p:nvSpPr>
        <p:spPr>
          <a:xfrm>
            <a:off x="566928" y="5440680"/>
            <a:ext cx="10972800" cy="365760"/>
          </a:xfrm>
          <a:prstGeom prst="rect">
            <a:avLst/>
          </a:prstGeom>
          <a:noFill/>
          <a:ln/>
        </p:spPr>
        <p:txBody>
          <a:bodyPr wrap="square" rtlCol="0" anchor="ctr"/>
          <a:lstStyle/>
          <a:p>
            <a:pPr indent="0" marL="0">
              <a:buNone/>
            </a:pPr>
            <a:r>
              <a:rPr lang="en-US" sz="1500" b="1" dirty="0">
                <a:solidFill>
                  <a:srgbClr val="CBDEF5"/>
                </a:solidFill>
                <a:latin typeface="Calibri" pitchFamily="34" charset="0"/>
                <a:ea typeface="Calibri" pitchFamily="34" charset="-122"/>
                <a:cs typeface="Calibri" pitchFamily="34" charset="-120"/>
              </a:rPr>
              <a:t>GVHD:  </a:t>
            </a:r>
            <a:pPr indent="0" marL="0">
              <a:buNone/>
            </a:pPr>
            <a:r>
              <a:rPr lang="en-US" sz="1500" dirty="0">
                <a:solidFill>
                  <a:srgbClr val="FFFFFF"/>
                </a:solidFill>
                <a:latin typeface="Calibri" pitchFamily="34" charset="0"/>
                <a:ea typeface="Calibri" pitchFamily="34" charset="-122"/>
                <a:cs typeface="Calibri" pitchFamily="34" charset="-120"/>
              </a:rPr>
              <a:t>TS. Vũ Thị Mỹ Hằng     ·     Bộ môn Hệ thống thông tin</a:t>
            </a:r>
            <a:endParaRPr lang="en-US" sz="1500" dirty="0"/>
          </a:p>
        </p:txBody>
      </p:sp>
      <p:sp>
        <p:nvSpPr>
          <p:cNvPr id="11" name="Text 8"/>
          <p:cNvSpPr/>
          <p:nvPr/>
        </p:nvSpPr>
        <p:spPr>
          <a:xfrm>
            <a:off x="566928" y="5989320"/>
            <a:ext cx="10972800" cy="320040"/>
          </a:xfrm>
          <a:prstGeom prst="rect">
            <a:avLst/>
          </a:prstGeom>
          <a:noFill/>
          <a:ln/>
        </p:spPr>
        <p:txBody>
          <a:bodyPr wrap="square" rtlCol="0" anchor="ctr"/>
          <a:lstStyle/>
          <a:p>
            <a:pPr indent="0" marL="0">
              <a:buNone/>
            </a:pPr>
            <a:r>
              <a:rPr lang="en-US" sz="1300" i="1" dirty="0">
                <a:solidFill>
                  <a:srgbClr val="9FB3C4"/>
                </a:solidFill>
                <a:latin typeface="Calibri" pitchFamily="34" charset="0"/>
                <a:ea typeface="Calibri" pitchFamily="34" charset="-122"/>
                <a:cs typeface="Calibri" pitchFamily="34" charset="-120"/>
              </a:rPr>
              <a:t>TP. Hồ Chí Minh — Tháng 8, 2026</a:t>
            </a:r>
            <a:endParaRPr lang="en-US" sz="1300" dirty="0"/>
          </a:p>
        </p:txBody>
      </p:sp>
      <p:sp>
        <p:nvSpPr>
          <p:cNvPr id="13" name="Text 9"/>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9FB3C4"/>
                </a:solidFill>
                <a:latin typeface="Calibri" pitchFamily="34" charset="0"/>
                <a:ea typeface="Calibri" pitchFamily="34" charset="-122"/>
                <a:cs typeface="Calibri" pitchFamily="34" charset="-120"/>
              </a:rPr>
              <a:t>CareerNova · KLTN 2026</a:t>
            </a:r>
            <a:endParaRPr lang="en-US" sz="900" dirty="0"/>
          </a:p>
        </p:txBody>
      </p:sp>
      <p:sp>
        <p:nvSpPr>
          <p:cNvPr id="14" name="Text 10"/>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9FB3C4"/>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NỘI DUNG TRÌNH BÀY</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Năm phần chính</a:t>
            </a:r>
            <a:endParaRPr lang="en-US" sz="3000" dirty="0"/>
          </a:p>
        </p:txBody>
      </p:sp>
      <p:sp>
        <p:nvSpPr>
          <p:cNvPr id="5" name="Shape 2"/>
          <p:cNvSpPr/>
          <p:nvPr/>
        </p:nvSpPr>
        <p:spPr>
          <a:xfrm>
            <a:off x="822960" y="1691640"/>
            <a:ext cx="10515600" cy="786384"/>
          </a:xfrm>
          <a:prstGeom prst="roundRect">
            <a:avLst>
              <a:gd name="adj" fmla="val 9302"/>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Shape 3"/>
          <p:cNvSpPr/>
          <p:nvPr/>
        </p:nvSpPr>
        <p:spPr>
          <a:xfrm>
            <a:off x="1051560" y="1892808"/>
            <a:ext cx="384048" cy="384048"/>
          </a:xfrm>
          <a:prstGeom prst="ellipse">
            <a:avLst/>
          </a:prstGeom>
          <a:solidFill>
            <a:srgbClr val="0C63B4"/>
          </a:solidFill>
          <a:ln/>
        </p:spPr>
      </p:sp>
      <p:sp>
        <p:nvSpPr>
          <p:cNvPr id="7" name="Text 4"/>
          <p:cNvSpPr/>
          <p:nvPr/>
        </p:nvSpPr>
        <p:spPr>
          <a:xfrm>
            <a:off x="1051560" y="1892808"/>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8" name="Text 5"/>
          <p:cNvSpPr/>
          <p:nvPr/>
        </p:nvSpPr>
        <p:spPr>
          <a:xfrm>
            <a:off x="1691640" y="1746504"/>
            <a:ext cx="4754880" cy="365760"/>
          </a:xfrm>
          <a:prstGeom prst="rect">
            <a:avLst/>
          </a:prstGeom>
          <a:noFill/>
          <a:ln/>
        </p:spPr>
        <p:txBody>
          <a:bodyPr wrap="square" rtlCol="0" anchor="ctr"/>
          <a:lstStyle/>
          <a:p>
            <a:pPr indent="0" marL="0">
              <a:buNone/>
            </a:pPr>
            <a:r>
              <a:rPr lang="en-US" sz="1800" b="1" dirty="0">
                <a:solidFill>
                  <a:srgbClr val="003E7E"/>
                </a:solidFill>
                <a:latin typeface="Cambria" pitchFamily="34" charset="0"/>
                <a:ea typeface="Cambria" pitchFamily="34" charset="-122"/>
                <a:cs typeface="Cambria" pitchFamily="34" charset="-120"/>
              </a:rPr>
              <a:t>Giới thiệu &amp; Động lực</a:t>
            </a:r>
            <a:endParaRPr lang="en-US" sz="1800" dirty="0"/>
          </a:p>
        </p:txBody>
      </p:sp>
      <p:sp>
        <p:nvSpPr>
          <p:cNvPr id="9" name="Text 6"/>
          <p:cNvSpPr/>
          <p:nvPr/>
        </p:nvSpPr>
        <p:spPr>
          <a:xfrm>
            <a:off x="1691640" y="2093976"/>
            <a:ext cx="5486400" cy="320040"/>
          </a:xfrm>
          <a:prstGeom prst="rect">
            <a:avLst/>
          </a:prstGeom>
          <a:noFill/>
          <a:ln/>
        </p:spPr>
        <p:txBody>
          <a:bodyPr wrap="square" rtlCol="0" anchor="ctr"/>
          <a:lstStyle/>
          <a:p>
            <a:pPr indent="0" marL="0">
              <a:buNone/>
            </a:pPr>
            <a:r>
              <a:rPr lang="en-US" sz="1250" dirty="0">
                <a:solidFill>
                  <a:srgbClr val="5C6B7A"/>
                </a:solidFill>
                <a:latin typeface="Calibri" pitchFamily="34" charset="0"/>
                <a:ea typeface="Calibri" pitchFamily="34" charset="-122"/>
                <a:cs typeface="Calibri" pitchFamily="34" charset="-120"/>
              </a:rPr>
              <a:t>Bối cảnh, vấn đề, mục tiêu</a:t>
            </a:r>
            <a:endParaRPr lang="en-US" sz="1250" dirty="0"/>
          </a:p>
        </p:txBody>
      </p:sp>
      <p:sp>
        <p:nvSpPr>
          <p:cNvPr id="10" name="Text 7"/>
          <p:cNvSpPr/>
          <p:nvPr/>
        </p:nvSpPr>
        <p:spPr>
          <a:xfrm>
            <a:off x="9966960" y="1691640"/>
            <a:ext cx="1188720" cy="786384"/>
          </a:xfrm>
          <a:prstGeom prst="rect">
            <a:avLst/>
          </a:prstGeom>
          <a:noFill/>
          <a:ln/>
        </p:spPr>
        <p:txBody>
          <a:bodyPr wrap="square" rtlCol="0" anchor="ctr"/>
          <a:lstStyle/>
          <a:p>
            <a:pPr algn="r" indent="0" marL="0">
              <a:buNone/>
            </a:pPr>
            <a:r>
              <a:rPr lang="en-US" sz="1600" b="1" dirty="0">
                <a:solidFill>
                  <a:srgbClr val="0A56A0"/>
                </a:solidFill>
                <a:latin typeface="Calibri" pitchFamily="34" charset="0"/>
                <a:ea typeface="Calibri" pitchFamily="34" charset="-122"/>
                <a:cs typeface="Calibri" pitchFamily="34" charset="-120"/>
              </a:rPr>
              <a:t>~4′</a:t>
            </a:r>
            <a:endParaRPr lang="en-US" sz="1600" dirty="0"/>
          </a:p>
        </p:txBody>
      </p:sp>
      <p:sp>
        <p:nvSpPr>
          <p:cNvPr id="11" name="Shape 8"/>
          <p:cNvSpPr/>
          <p:nvPr/>
        </p:nvSpPr>
        <p:spPr>
          <a:xfrm>
            <a:off x="822960" y="2606040"/>
            <a:ext cx="10515600" cy="786384"/>
          </a:xfrm>
          <a:prstGeom prst="roundRect">
            <a:avLst>
              <a:gd name="adj" fmla="val 9302"/>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2" name="Shape 9"/>
          <p:cNvSpPr/>
          <p:nvPr/>
        </p:nvSpPr>
        <p:spPr>
          <a:xfrm>
            <a:off x="1051560" y="2807208"/>
            <a:ext cx="384048" cy="384048"/>
          </a:xfrm>
          <a:prstGeom prst="ellipse">
            <a:avLst/>
          </a:prstGeom>
          <a:solidFill>
            <a:srgbClr val="0C63B4"/>
          </a:solidFill>
          <a:ln/>
        </p:spPr>
      </p:sp>
      <p:sp>
        <p:nvSpPr>
          <p:cNvPr id="13" name="Text 10"/>
          <p:cNvSpPr/>
          <p:nvPr/>
        </p:nvSpPr>
        <p:spPr>
          <a:xfrm>
            <a:off x="1051560" y="2807208"/>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4" name="Text 11"/>
          <p:cNvSpPr/>
          <p:nvPr/>
        </p:nvSpPr>
        <p:spPr>
          <a:xfrm>
            <a:off x="1691640" y="2660904"/>
            <a:ext cx="4754880" cy="365760"/>
          </a:xfrm>
          <a:prstGeom prst="rect">
            <a:avLst/>
          </a:prstGeom>
          <a:noFill/>
          <a:ln/>
        </p:spPr>
        <p:txBody>
          <a:bodyPr wrap="square" rtlCol="0" anchor="ctr"/>
          <a:lstStyle/>
          <a:p>
            <a:pPr indent="0" marL="0">
              <a:buNone/>
            </a:pPr>
            <a:r>
              <a:rPr lang="en-US" sz="1800" b="1" dirty="0">
                <a:solidFill>
                  <a:srgbClr val="003E7E"/>
                </a:solidFill>
                <a:latin typeface="Cambria" pitchFamily="34" charset="0"/>
                <a:ea typeface="Cambria" pitchFamily="34" charset="-122"/>
                <a:cs typeface="Cambria" pitchFamily="34" charset="-120"/>
              </a:rPr>
              <a:t>Giải pháp &amp; Phương pháp</a:t>
            </a:r>
            <a:endParaRPr lang="en-US" sz="1800" dirty="0"/>
          </a:p>
        </p:txBody>
      </p:sp>
      <p:sp>
        <p:nvSpPr>
          <p:cNvPr id="15" name="Text 12"/>
          <p:cNvSpPr/>
          <p:nvPr/>
        </p:nvSpPr>
        <p:spPr>
          <a:xfrm>
            <a:off x="1691640" y="3008376"/>
            <a:ext cx="5486400" cy="320040"/>
          </a:xfrm>
          <a:prstGeom prst="rect">
            <a:avLst/>
          </a:prstGeom>
          <a:noFill/>
          <a:ln/>
        </p:spPr>
        <p:txBody>
          <a:bodyPr wrap="square" rtlCol="0" anchor="ctr"/>
          <a:lstStyle/>
          <a:p>
            <a:pPr indent="0" marL="0">
              <a:buNone/>
            </a:pPr>
            <a:r>
              <a:rPr lang="en-US" sz="1250" dirty="0">
                <a:solidFill>
                  <a:srgbClr val="5C6B7A"/>
                </a:solidFill>
                <a:latin typeface="Calibri" pitchFamily="34" charset="0"/>
                <a:ea typeface="Calibri" pitchFamily="34" charset="-122"/>
                <a:cs typeface="Calibri" pitchFamily="34" charset="-120"/>
              </a:rPr>
              <a:t>Kiến trúc, pipeline dữ liệu, thuật toán</a:t>
            </a:r>
            <a:endParaRPr lang="en-US" sz="1250" dirty="0"/>
          </a:p>
        </p:txBody>
      </p:sp>
      <p:sp>
        <p:nvSpPr>
          <p:cNvPr id="16" name="Text 13"/>
          <p:cNvSpPr/>
          <p:nvPr/>
        </p:nvSpPr>
        <p:spPr>
          <a:xfrm>
            <a:off x="9966960" y="2606040"/>
            <a:ext cx="1188720" cy="786384"/>
          </a:xfrm>
          <a:prstGeom prst="rect">
            <a:avLst/>
          </a:prstGeom>
          <a:noFill/>
          <a:ln/>
        </p:spPr>
        <p:txBody>
          <a:bodyPr wrap="square" rtlCol="0" anchor="ctr"/>
          <a:lstStyle/>
          <a:p>
            <a:pPr algn="r" indent="0" marL="0">
              <a:buNone/>
            </a:pPr>
            <a:r>
              <a:rPr lang="en-US" sz="1600" b="1" dirty="0">
                <a:solidFill>
                  <a:srgbClr val="0A56A0"/>
                </a:solidFill>
                <a:latin typeface="Calibri" pitchFamily="34" charset="0"/>
                <a:ea typeface="Calibri" pitchFamily="34" charset="-122"/>
                <a:cs typeface="Calibri" pitchFamily="34" charset="-120"/>
              </a:rPr>
              <a:t>~8′</a:t>
            </a:r>
            <a:endParaRPr lang="en-US" sz="1600" dirty="0"/>
          </a:p>
        </p:txBody>
      </p:sp>
      <p:sp>
        <p:nvSpPr>
          <p:cNvPr id="17" name="Shape 14"/>
          <p:cNvSpPr/>
          <p:nvPr/>
        </p:nvSpPr>
        <p:spPr>
          <a:xfrm>
            <a:off x="822960" y="3520440"/>
            <a:ext cx="10515600" cy="786384"/>
          </a:xfrm>
          <a:prstGeom prst="roundRect">
            <a:avLst>
              <a:gd name="adj" fmla="val 9302"/>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8" name="Shape 15"/>
          <p:cNvSpPr/>
          <p:nvPr/>
        </p:nvSpPr>
        <p:spPr>
          <a:xfrm>
            <a:off x="1051560" y="3721608"/>
            <a:ext cx="384048" cy="384048"/>
          </a:xfrm>
          <a:prstGeom prst="ellipse">
            <a:avLst/>
          </a:prstGeom>
          <a:solidFill>
            <a:srgbClr val="0C63B4"/>
          </a:solidFill>
          <a:ln/>
        </p:spPr>
      </p:sp>
      <p:sp>
        <p:nvSpPr>
          <p:cNvPr id="19" name="Text 16"/>
          <p:cNvSpPr/>
          <p:nvPr/>
        </p:nvSpPr>
        <p:spPr>
          <a:xfrm>
            <a:off x="1051560" y="3721608"/>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20" name="Text 17"/>
          <p:cNvSpPr/>
          <p:nvPr/>
        </p:nvSpPr>
        <p:spPr>
          <a:xfrm>
            <a:off x="1691640" y="3575304"/>
            <a:ext cx="4754880" cy="365760"/>
          </a:xfrm>
          <a:prstGeom prst="rect">
            <a:avLst/>
          </a:prstGeom>
          <a:noFill/>
          <a:ln/>
        </p:spPr>
        <p:txBody>
          <a:bodyPr wrap="square" rtlCol="0" anchor="ctr"/>
          <a:lstStyle/>
          <a:p>
            <a:pPr indent="0" marL="0">
              <a:buNone/>
            </a:pPr>
            <a:r>
              <a:rPr lang="en-US" sz="1800" b="1" dirty="0">
                <a:solidFill>
                  <a:srgbClr val="003E7E"/>
                </a:solidFill>
                <a:latin typeface="Cambria" pitchFamily="34" charset="0"/>
                <a:ea typeface="Cambria" pitchFamily="34" charset="-122"/>
                <a:cs typeface="Cambria" pitchFamily="34" charset="-120"/>
              </a:rPr>
              <a:t>Kết quả &amp; Đánh giá</a:t>
            </a:r>
            <a:endParaRPr lang="en-US" sz="1800" dirty="0"/>
          </a:p>
        </p:txBody>
      </p:sp>
      <p:sp>
        <p:nvSpPr>
          <p:cNvPr id="21" name="Text 18"/>
          <p:cNvSpPr/>
          <p:nvPr/>
        </p:nvSpPr>
        <p:spPr>
          <a:xfrm>
            <a:off x="1691640" y="3922776"/>
            <a:ext cx="5486400" cy="320040"/>
          </a:xfrm>
          <a:prstGeom prst="rect">
            <a:avLst/>
          </a:prstGeom>
          <a:noFill/>
          <a:ln/>
        </p:spPr>
        <p:txBody>
          <a:bodyPr wrap="square" rtlCol="0" anchor="ctr"/>
          <a:lstStyle/>
          <a:p>
            <a:pPr indent="0" marL="0">
              <a:buNone/>
            </a:pPr>
            <a:r>
              <a:rPr lang="en-US" sz="1250" dirty="0">
                <a:solidFill>
                  <a:srgbClr val="5C6B7A"/>
                </a:solidFill>
                <a:latin typeface="Calibri" pitchFamily="34" charset="0"/>
                <a:ea typeface="Calibri" pitchFamily="34" charset="-122"/>
                <a:cs typeface="Calibri" pitchFamily="34" charset="-120"/>
              </a:rPr>
              <a:t>Hệ thống thật, kiểm thử, đo đạc</a:t>
            </a:r>
            <a:endParaRPr lang="en-US" sz="1250" dirty="0"/>
          </a:p>
        </p:txBody>
      </p:sp>
      <p:sp>
        <p:nvSpPr>
          <p:cNvPr id="22" name="Text 19"/>
          <p:cNvSpPr/>
          <p:nvPr/>
        </p:nvSpPr>
        <p:spPr>
          <a:xfrm>
            <a:off x="9966960" y="3520440"/>
            <a:ext cx="1188720" cy="786384"/>
          </a:xfrm>
          <a:prstGeom prst="rect">
            <a:avLst/>
          </a:prstGeom>
          <a:noFill/>
          <a:ln/>
        </p:spPr>
        <p:txBody>
          <a:bodyPr wrap="square" rtlCol="0" anchor="ctr"/>
          <a:lstStyle/>
          <a:p>
            <a:pPr algn="r" indent="0" marL="0">
              <a:buNone/>
            </a:pPr>
            <a:r>
              <a:rPr lang="en-US" sz="1600" b="1" dirty="0">
                <a:solidFill>
                  <a:srgbClr val="0A56A0"/>
                </a:solidFill>
                <a:latin typeface="Calibri" pitchFamily="34" charset="0"/>
                <a:ea typeface="Calibri" pitchFamily="34" charset="-122"/>
                <a:cs typeface="Calibri" pitchFamily="34" charset="-120"/>
              </a:rPr>
              <a:t>~6′</a:t>
            </a:r>
            <a:endParaRPr lang="en-US" sz="1600" dirty="0"/>
          </a:p>
        </p:txBody>
      </p:sp>
      <p:sp>
        <p:nvSpPr>
          <p:cNvPr id="23" name="Shape 20"/>
          <p:cNvSpPr/>
          <p:nvPr/>
        </p:nvSpPr>
        <p:spPr>
          <a:xfrm>
            <a:off x="822960" y="4434840"/>
            <a:ext cx="10515600" cy="786384"/>
          </a:xfrm>
          <a:prstGeom prst="roundRect">
            <a:avLst>
              <a:gd name="adj" fmla="val 9302"/>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24" name="Shape 21"/>
          <p:cNvSpPr/>
          <p:nvPr/>
        </p:nvSpPr>
        <p:spPr>
          <a:xfrm>
            <a:off x="1051560" y="4636008"/>
            <a:ext cx="384048" cy="384048"/>
          </a:xfrm>
          <a:prstGeom prst="ellipse">
            <a:avLst/>
          </a:prstGeom>
          <a:solidFill>
            <a:srgbClr val="1E88D6"/>
          </a:solidFill>
          <a:ln/>
        </p:spPr>
      </p:sp>
      <p:sp>
        <p:nvSpPr>
          <p:cNvPr id="25" name="Text 22"/>
          <p:cNvSpPr/>
          <p:nvPr/>
        </p:nvSpPr>
        <p:spPr>
          <a:xfrm>
            <a:off x="1051560" y="4636008"/>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6" name="Text 23"/>
          <p:cNvSpPr/>
          <p:nvPr/>
        </p:nvSpPr>
        <p:spPr>
          <a:xfrm>
            <a:off x="1691640" y="4489704"/>
            <a:ext cx="4754880" cy="365760"/>
          </a:xfrm>
          <a:prstGeom prst="rect">
            <a:avLst/>
          </a:prstGeom>
          <a:noFill/>
          <a:ln/>
        </p:spPr>
        <p:txBody>
          <a:bodyPr wrap="square" rtlCol="0" anchor="ctr"/>
          <a:lstStyle/>
          <a:p>
            <a:pPr indent="0" marL="0">
              <a:buNone/>
            </a:pPr>
            <a:r>
              <a:rPr lang="en-US" sz="1800" b="1" dirty="0">
                <a:solidFill>
                  <a:srgbClr val="003E7E"/>
                </a:solidFill>
                <a:latin typeface="Cambria" pitchFamily="34" charset="0"/>
                <a:ea typeface="Cambria" pitchFamily="34" charset="-122"/>
                <a:cs typeface="Cambria" pitchFamily="34" charset="-120"/>
              </a:rPr>
              <a:t>Demo</a:t>
            </a:r>
            <a:endParaRPr lang="en-US" sz="1800" dirty="0"/>
          </a:p>
        </p:txBody>
      </p:sp>
      <p:sp>
        <p:nvSpPr>
          <p:cNvPr id="27" name="Text 24"/>
          <p:cNvSpPr/>
          <p:nvPr/>
        </p:nvSpPr>
        <p:spPr>
          <a:xfrm>
            <a:off x="1691640" y="4837176"/>
            <a:ext cx="5486400" cy="320040"/>
          </a:xfrm>
          <a:prstGeom prst="rect">
            <a:avLst/>
          </a:prstGeom>
          <a:noFill/>
          <a:ln/>
        </p:spPr>
        <p:txBody>
          <a:bodyPr wrap="square" rtlCol="0" anchor="ctr"/>
          <a:lstStyle/>
          <a:p>
            <a:pPr indent="0" marL="0">
              <a:buNone/>
            </a:pPr>
            <a:r>
              <a:rPr lang="en-US" sz="1250" dirty="0">
                <a:solidFill>
                  <a:srgbClr val="5C6B7A"/>
                </a:solidFill>
                <a:latin typeface="Calibri" pitchFamily="34" charset="0"/>
                <a:ea typeface="Calibri" pitchFamily="34" charset="-122"/>
                <a:cs typeface="Calibri" pitchFamily="34" charset="-120"/>
              </a:rPr>
              <a:t>Các chức năng tốt nhất (video)</a:t>
            </a:r>
            <a:endParaRPr lang="en-US" sz="1250" dirty="0"/>
          </a:p>
        </p:txBody>
      </p:sp>
      <p:sp>
        <p:nvSpPr>
          <p:cNvPr id="28" name="Text 25"/>
          <p:cNvSpPr/>
          <p:nvPr/>
        </p:nvSpPr>
        <p:spPr>
          <a:xfrm>
            <a:off x="9966960" y="4434840"/>
            <a:ext cx="1188720" cy="786384"/>
          </a:xfrm>
          <a:prstGeom prst="rect">
            <a:avLst/>
          </a:prstGeom>
          <a:noFill/>
          <a:ln/>
        </p:spPr>
        <p:txBody>
          <a:bodyPr wrap="square" rtlCol="0" anchor="ctr"/>
          <a:lstStyle/>
          <a:p>
            <a:pPr algn="r" indent="0" marL="0">
              <a:buNone/>
            </a:pPr>
            <a:r>
              <a:rPr lang="en-US" sz="1600" b="1" dirty="0">
                <a:solidFill>
                  <a:srgbClr val="1E88D6"/>
                </a:solidFill>
                <a:latin typeface="Calibri" pitchFamily="34" charset="0"/>
                <a:ea typeface="Calibri" pitchFamily="34" charset="-122"/>
                <a:cs typeface="Calibri" pitchFamily="34" charset="-120"/>
              </a:rPr>
              <a:t>10′</a:t>
            </a:r>
            <a:endParaRPr lang="en-US" sz="1600" dirty="0"/>
          </a:p>
        </p:txBody>
      </p:sp>
      <p:sp>
        <p:nvSpPr>
          <p:cNvPr id="29" name="Shape 26"/>
          <p:cNvSpPr/>
          <p:nvPr/>
        </p:nvSpPr>
        <p:spPr>
          <a:xfrm>
            <a:off x="822960" y="5349240"/>
            <a:ext cx="10515600" cy="786384"/>
          </a:xfrm>
          <a:prstGeom prst="roundRect">
            <a:avLst>
              <a:gd name="adj" fmla="val 9302"/>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30" name="Shape 27"/>
          <p:cNvSpPr/>
          <p:nvPr/>
        </p:nvSpPr>
        <p:spPr>
          <a:xfrm>
            <a:off x="1051560" y="5550408"/>
            <a:ext cx="384048" cy="384048"/>
          </a:xfrm>
          <a:prstGeom prst="ellipse">
            <a:avLst/>
          </a:prstGeom>
          <a:solidFill>
            <a:srgbClr val="0C63B4"/>
          </a:solidFill>
          <a:ln/>
        </p:spPr>
      </p:sp>
      <p:sp>
        <p:nvSpPr>
          <p:cNvPr id="31" name="Text 28"/>
          <p:cNvSpPr/>
          <p:nvPr/>
        </p:nvSpPr>
        <p:spPr>
          <a:xfrm>
            <a:off x="1051560" y="5550408"/>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32" name="Text 29"/>
          <p:cNvSpPr/>
          <p:nvPr/>
        </p:nvSpPr>
        <p:spPr>
          <a:xfrm>
            <a:off x="1691640" y="5404104"/>
            <a:ext cx="4754880" cy="365760"/>
          </a:xfrm>
          <a:prstGeom prst="rect">
            <a:avLst/>
          </a:prstGeom>
          <a:noFill/>
          <a:ln/>
        </p:spPr>
        <p:txBody>
          <a:bodyPr wrap="square" rtlCol="0" anchor="ctr"/>
          <a:lstStyle/>
          <a:p>
            <a:pPr indent="0" marL="0">
              <a:buNone/>
            </a:pPr>
            <a:r>
              <a:rPr lang="en-US" sz="1800" b="1" dirty="0">
                <a:solidFill>
                  <a:srgbClr val="003E7E"/>
                </a:solidFill>
                <a:latin typeface="Cambria" pitchFamily="34" charset="0"/>
                <a:ea typeface="Cambria" pitchFamily="34" charset="-122"/>
                <a:cs typeface="Cambria" pitchFamily="34" charset="-120"/>
              </a:rPr>
              <a:t>Kết luận</a:t>
            </a:r>
            <a:endParaRPr lang="en-US" sz="1800" dirty="0"/>
          </a:p>
        </p:txBody>
      </p:sp>
      <p:sp>
        <p:nvSpPr>
          <p:cNvPr id="33" name="Text 30"/>
          <p:cNvSpPr/>
          <p:nvPr/>
        </p:nvSpPr>
        <p:spPr>
          <a:xfrm>
            <a:off x="1691640" y="5751576"/>
            <a:ext cx="5486400" cy="320040"/>
          </a:xfrm>
          <a:prstGeom prst="rect">
            <a:avLst/>
          </a:prstGeom>
          <a:noFill/>
          <a:ln/>
        </p:spPr>
        <p:txBody>
          <a:bodyPr wrap="square" rtlCol="0" anchor="ctr"/>
          <a:lstStyle/>
          <a:p>
            <a:pPr indent="0" marL="0">
              <a:buNone/>
            </a:pPr>
            <a:r>
              <a:rPr lang="en-US" sz="1250" dirty="0">
                <a:solidFill>
                  <a:srgbClr val="5C6B7A"/>
                </a:solidFill>
                <a:latin typeface="Calibri" pitchFamily="34" charset="0"/>
                <a:ea typeface="Calibri" pitchFamily="34" charset="-122"/>
                <a:cs typeface="Calibri" pitchFamily="34" charset="-120"/>
              </a:rPr>
              <a:t>Điều tâm đắc, hạn chế, hướng phát triển</a:t>
            </a:r>
            <a:endParaRPr lang="en-US" sz="1250" dirty="0"/>
          </a:p>
        </p:txBody>
      </p:sp>
      <p:sp>
        <p:nvSpPr>
          <p:cNvPr id="34" name="Text 31"/>
          <p:cNvSpPr/>
          <p:nvPr/>
        </p:nvSpPr>
        <p:spPr>
          <a:xfrm>
            <a:off x="9966960" y="5349240"/>
            <a:ext cx="1188720" cy="786384"/>
          </a:xfrm>
          <a:prstGeom prst="rect">
            <a:avLst/>
          </a:prstGeom>
          <a:noFill/>
          <a:ln/>
        </p:spPr>
        <p:txBody>
          <a:bodyPr wrap="square" rtlCol="0" anchor="ctr"/>
          <a:lstStyle/>
          <a:p>
            <a:pPr algn="r" indent="0" marL="0">
              <a:buNone/>
            </a:pPr>
            <a:r>
              <a:rPr lang="en-US" sz="1600" b="1" dirty="0">
                <a:solidFill>
                  <a:srgbClr val="0A56A0"/>
                </a:solidFill>
                <a:latin typeface="Calibri" pitchFamily="34" charset="0"/>
                <a:ea typeface="Calibri" pitchFamily="34" charset="-122"/>
                <a:cs typeface="Calibri" pitchFamily="34" charset="-120"/>
              </a:rPr>
              <a:t>2′</a:t>
            </a:r>
            <a:endParaRPr lang="en-US" sz="1600" dirty="0"/>
          </a:p>
        </p:txBody>
      </p:sp>
      <p:sp>
        <p:nvSpPr>
          <p:cNvPr id="36" name="Text 32"/>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37" name="Text 33"/>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E7E"/>
        </a:solidFill>
      </p:bgPr>
    </p:bg>
    <p:spTree>
      <p:nvGrpSpPr>
        <p:cNvPr id="1" name=""/>
        <p:cNvGrpSpPr/>
        <p:nvPr/>
      </p:nvGrpSpPr>
      <p:grpSpPr>
        <a:xfrm>
          <a:off x="0" y="0"/>
          <a:ext cx="0" cy="0"/>
          <a:chOff x="0" y="0"/>
          <a:chExt cx="0" cy="0"/>
        </a:xfrm>
      </p:grpSpPr>
      <p:sp>
        <p:nvSpPr>
          <p:cNvPr id="2" name="Shape 0"/>
          <p:cNvSpPr/>
          <p:nvPr/>
        </p:nvSpPr>
        <p:spPr>
          <a:xfrm>
            <a:off x="8961120" y="3108960"/>
            <a:ext cx="6400800" cy="6400800"/>
          </a:xfrm>
          <a:prstGeom prst="ellipse">
            <a:avLst/>
          </a:prstGeom>
          <a:solidFill>
            <a:srgbClr val="0A56A0"/>
          </a:solidFill>
          <a:ln/>
        </p:spPr>
      </p:sp>
      <p:sp>
        <p:nvSpPr>
          <p:cNvPr id="3" name="Text 1"/>
          <p:cNvSpPr/>
          <p:nvPr/>
        </p:nvSpPr>
        <p:spPr>
          <a:xfrm>
            <a:off x="640080" y="1554480"/>
            <a:ext cx="3657600" cy="2377440"/>
          </a:xfrm>
          <a:prstGeom prst="rect">
            <a:avLst/>
          </a:prstGeom>
          <a:noFill/>
          <a:ln/>
        </p:spPr>
        <p:txBody>
          <a:bodyPr wrap="square" rtlCol="0" anchor="ctr"/>
          <a:lstStyle/>
          <a:p>
            <a:pPr indent="0" marL="0">
              <a:buNone/>
            </a:pPr>
            <a:r>
              <a:rPr lang="en-US" sz="15000" b="1" dirty="0">
                <a:solidFill>
                  <a:srgbClr val="1E88D6"/>
                </a:solidFill>
                <a:latin typeface="Cambria" pitchFamily="34" charset="0"/>
                <a:ea typeface="Cambria" pitchFamily="34" charset="-122"/>
                <a:cs typeface="Cambria" pitchFamily="34" charset="-120"/>
              </a:rPr>
              <a:t>01</a:t>
            </a:r>
            <a:endParaRPr lang="en-US" sz="15000" dirty="0"/>
          </a:p>
        </p:txBody>
      </p:sp>
      <p:sp>
        <p:nvSpPr>
          <p:cNvPr id="4" name="Text 2"/>
          <p:cNvSpPr/>
          <p:nvPr/>
        </p:nvSpPr>
        <p:spPr>
          <a:xfrm>
            <a:off x="3200400" y="2286000"/>
            <a:ext cx="8412480" cy="109728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Giới thiệu &amp; Động lực</a:t>
            </a:r>
            <a:endParaRPr lang="en-US" sz="4000" dirty="0"/>
          </a:p>
        </p:txBody>
      </p:sp>
      <p:sp>
        <p:nvSpPr>
          <p:cNvPr id="5" name="Text 3"/>
          <p:cNvSpPr/>
          <p:nvPr/>
        </p:nvSpPr>
        <p:spPr>
          <a:xfrm>
            <a:off x="3246120" y="3383280"/>
            <a:ext cx="8229600" cy="548640"/>
          </a:xfrm>
          <a:prstGeom prst="rect">
            <a:avLst/>
          </a:prstGeom>
          <a:noFill/>
          <a:ln/>
        </p:spPr>
        <p:txBody>
          <a:bodyPr wrap="square" rtlCol="0" anchor="ctr"/>
          <a:lstStyle/>
          <a:p>
            <a:pPr indent="0" marL="0">
              <a:buNone/>
            </a:pPr>
            <a:r>
              <a:rPr lang="en-US" sz="1600" dirty="0">
                <a:solidFill>
                  <a:srgbClr val="CBDEF5"/>
                </a:solidFill>
                <a:latin typeface="Calibri" pitchFamily="34" charset="0"/>
                <a:ea typeface="Calibri" pitchFamily="34" charset="-122"/>
                <a:cs typeface="Calibri" pitchFamily="34" charset="-120"/>
              </a:rPr>
              <a:t>Vì sao sinh viên CNTT cần CareerNova?</a:t>
            </a:r>
            <a:endParaRPr lang="en-US" sz="1600" dirty="0"/>
          </a:p>
        </p:txBody>
      </p:sp>
      <p:sp>
        <p:nvSpPr>
          <p:cNvPr id="6" name="Text 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9FB3C4"/>
                </a:solidFill>
                <a:latin typeface="Calibri" pitchFamily="34" charset="0"/>
                <a:ea typeface="Calibri" pitchFamily="34" charset="-122"/>
                <a:cs typeface="Calibri" pitchFamily="34" charset="-120"/>
              </a:rPr>
              <a:t>CareerNova · KLTN 2026</a:t>
            </a:r>
            <a:endParaRPr lang="en-US" sz="900" dirty="0"/>
          </a:p>
        </p:txBody>
      </p:sp>
      <p:sp>
        <p:nvSpPr>
          <p:cNvPr id="7"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9FB3C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BỐI CẢNH &amp; VẤN ĐỀ</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Ba thách thức của sinh viên CNTT năm cuối</a:t>
            </a:r>
            <a:endParaRPr lang="en-US" sz="3000" dirty="0"/>
          </a:p>
        </p:txBody>
      </p:sp>
      <p:sp>
        <p:nvSpPr>
          <p:cNvPr id="5" name="Shape 2"/>
          <p:cNvSpPr/>
          <p:nvPr/>
        </p:nvSpPr>
        <p:spPr>
          <a:xfrm>
            <a:off x="640080" y="1783080"/>
            <a:ext cx="3611880" cy="3840480"/>
          </a:xfrm>
          <a:prstGeom prst="roundRect">
            <a:avLst>
              <a:gd name="adj" fmla="val 2025"/>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Shape 3"/>
          <p:cNvSpPr/>
          <p:nvPr/>
        </p:nvSpPr>
        <p:spPr>
          <a:xfrm>
            <a:off x="960120" y="2103120"/>
            <a:ext cx="640080" cy="640080"/>
          </a:xfrm>
          <a:prstGeom prst="roundRect">
            <a:avLst>
              <a:gd name="adj" fmla="val 17143"/>
            </a:avLst>
          </a:prstGeom>
          <a:solidFill>
            <a:srgbClr val="1E88D6"/>
          </a:solidFill>
          <a:ln/>
        </p:spPr>
      </p:sp>
      <p:sp>
        <p:nvSpPr>
          <p:cNvPr id="7" name="Text 4"/>
          <p:cNvSpPr/>
          <p:nvPr/>
        </p:nvSpPr>
        <p:spPr>
          <a:xfrm>
            <a:off x="960120" y="2103120"/>
            <a:ext cx="640080" cy="64008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8" name="Text 5"/>
          <p:cNvSpPr/>
          <p:nvPr/>
        </p:nvSpPr>
        <p:spPr>
          <a:xfrm>
            <a:off x="914400" y="2926080"/>
            <a:ext cx="3063240" cy="868680"/>
          </a:xfrm>
          <a:prstGeom prst="rect">
            <a:avLst/>
          </a:prstGeom>
          <a:noFill/>
          <a:ln/>
        </p:spPr>
        <p:txBody>
          <a:bodyPr wrap="square" rtlCol="0" anchor="t"/>
          <a:lstStyle/>
          <a:p>
            <a:pPr indent="0" marL="0">
              <a:buNone/>
            </a:pPr>
            <a:r>
              <a:rPr lang="en-US" sz="1800" b="1" dirty="0">
                <a:solidFill>
                  <a:srgbClr val="003E7E"/>
                </a:solidFill>
                <a:latin typeface="Cambria" pitchFamily="34" charset="0"/>
                <a:ea typeface="Cambria" pitchFamily="34" charset="-122"/>
                <a:cs typeface="Cambria" pitchFamily="34" charset="-120"/>
              </a:rPr>
              <a:t>Không tự lượng hóa được năng lực</a:t>
            </a:r>
            <a:endParaRPr lang="en-US" sz="1800" dirty="0"/>
          </a:p>
        </p:txBody>
      </p:sp>
      <p:sp>
        <p:nvSpPr>
          <p:cNvPr id="9" name="Text 6"/>
          <p:cNvSpPr/>
          <p:nvPr/>
        </p:nvSpPr>
        <p:spPr>
          <a:xfrm>
            <a:off x="914400" y="3840480"/>
            <a:ext cx="3108960" cy="1645920"/>
          </a:xfrm>
          <a:prstGeom prst="rect">
            <a:avLst/>
          </a:prstGeom>
          <a:noFill/>
          <a:ln/>
        </p:spPr>
        <p:txBody>
          <a:bodyPr wrap="square" rtlCol="0" anchor="t"/>
          <a:lstStyle/>
          <a:p>
            <a:pPr indent="0" marL="0">
              <a:lnSpc>
                <a:spcPct val="105000"/>
              </a:lnSpc>
              <a:buNone/>
            </a:pPr>
            <a:r>
              <a:rPr lang="en-US" sz="1350" dirty="0">
                <a:solidFill>
                  <a:srgbClr val="17334D"/>
                </a:solidFill>
                <a:latin typeface="Calibri" pitchFamily="34" charset="0"/>
                <a:ea typeface="Calibri" pitchFamily="34" charset="-122"/>
                <a:cs typeface="Calibri" pitchFamily="34" charset="-120"/>
              </a:rPr>
              <a:t>Thị trường IT biến động nhanh — SV khó biết mình đang thiếu kỹ năng gì so với yêu cầu thật.</a:t>
            </a:r>
            <a:endParaRPr lang="en-US" sz="1350" dirty="0"/>
          </a:p>
        </p:txBody>
      </p:sp>
      <p:sp>
        <p:nvSpPr>
          <p:cNvPr id="10" name="Shape 7"/>
          <p:cNvSpPr/>
          <p:nvPr/>
        </p:nvSpPr>
        <p:spPr>
          <a:xfrm>
            <a:off x="4343400" y="1783080"/>
            <a:ext cx="3611880" cy="3840480"/>
          </a:xfrm>
          <a:prstGeom prst="roundRect">
            <a:avLst>
              <a:gd name="adj" fmla="val 2025"/>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1" name="Shape 8"/>
          <p:cNvSpPr/>
          <p:nvPr/>
        </p:nvSpPr>
        <p:spPr>
          <a:xfrm>
            <a:off x="4663440" y="2103120"/>
            <a:ext cx="640080" cy="640080"/>
          </a:xfrm>
          <a:prstGeom prst="roundRect">
            <a:avLst>
              <a:gd name="adj" fmla="val 17143"/>
            </a:avLst>
          </a:prstGeom>
          <a:solidFill>
            <a:srgbClr val="0A56A0"/>
          </a:solidFill>
          <a:ln/>
        </p:spPr>
      </p:sp>
      <p:sp>
        <p:nvSpPr>
          <p:cNvPr id="12" name="Text 9"/>
          <p:cNvSpPr/>
          <p:nvPr/>
        </p:nvSpPr>
        <p:spPr>
          <a:xfrm>
            <a:off x="4663440" y="2103120"/>
            <a:ext cx="640080" cy="64008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0"/>
          <p:cNvSpPr/>
          <p:nvPr/>
        </p:nvSpPr>
        <p:spPr>
          <a:xfrm>
            <a:off x="4617720" y="2926080"/>
            <a:ext cx="3063240" cy="868680"/>
          </a:xfrm>
          <a:prstGeom prst="rect">
            <a:avLst/>
          </a:prstGeom>
          <a:noFill/>
          <a:ln/>
        </p:spPr>
        <p:txBody>
          <a:bodyPr wrap="square" rtlCol="0" anchor="t"/>
          <a:lstStyle/>
          <a:p>
            <a:pPr indent="0" marL="0">
              <a:buNone/>
            </a:pPr>
            <a:r>
              <a:rPr lang="en-US" sz="1800" b="1" dirty="0">
                <a:solidFill>
                  <a:srgbClr val="003E7E"/>
                </a:solidFill>
                <a:latin typeface="Cambria" pitchFamily="34" charset="0"/>
                <a:ea typeface="Cambria" pitchFamily="34" charset="-122"/>
                <a:cs typeface="Cambria" pitchFamily="34" charset="-120"/>
              </a:rPr>
              <a:t>Dữ liệu tuyển dụng phân mảnh</a:t>
            </a:r>
            <a:endParaRPr lang="en-US" sz="1800" dirty="0"/>
          </a:p>
        </p:txBody>
      </p:sp>
      <p:sp>
        <p:nvSpPr>
          <p:cNvPr id="14" name="Text 11"/>
          <p:cNvSpPr/>
          <p:nvPr/>
        </p:nvSpPr>
        <p:spPr>
          <a:xfrm>
            <a:off x="4617720" y="3840480"/>
            <a:ext cx="3108960" cy="1645920"/>
          </a:xfrm>
          <a:prstGeom prst="rect">
            <a:avLst/>
          </a:prstGeom>
          <a:noFill/>
          <a:ln/>
        </p:spPr>
        <p:txBody>
          <a:bodyPr wrap="square" rtlCol="0" anchor="t"/>
          <a:lstStyle/>
          <a:p>
            <a:pPr indent="0" marL="0">
              <a:lnSpc>
                <a:spcPct val="105000"/>
              </a:lnSpc>
              <a:buNone/>
            </a:pPr>
            <a:r>
              <a:rPr lang="en-US" sz="1350" dirty="0">
                <a:solidFill>
                  <a:srgbClr val="17334D"/>
                </a:solidFill>
                <a:latin typeface="Calibri" pitchFamily="34" charset="0"/>
                <a:ea typeface="Calibri" pitchFamily="34" charset="-122"/>
                <a:cs typeface="Calibri" pitchFamily="34" charset="-120"/>
              </a:rPr>
              <a:t>Tin tuyển dụng nhiều nguồn nhưng rời rạc, viết lệch, chưa chuẩn hóa để phân tích.</a:t>
            </a:r>
            <a:endParaRPr lang="en-US" sz="1350" dirty="0"/>
          </a:p>
        </p:txBody>
      </p:sp>
      <p:sp>
        <p:nvSpPr>
          <p:cNvPr id="15" name="Shape 12"/>
          <p:cNvSpPr/>
          <p:nvPr/>
        </p:nvSpPr>
        <p:spPr>
          <a:xfrm>
            <a:off x="8046720" y="1783080"/>
            <a:ext cx="3611880" cy="3840480"/>
          </a:xfrm>
          <a:prstGeom prst="roundRect">
            <a:avLst>
              <a:gd name="adj" fmla="val 2025"/>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6" name="Shape 13"/>
          <p:cNvSpPr/>
          <p:nvPr/>
        </p:nvSpPr>
        <p:spPr>
          <a:xfrm>
            <a:off x="8366760" y="2103120"/>
            <a:ext cx="640080" cy="640080"/>
          </a:xfrm>
          <a:prstGeom prst="roundRect">
            <a:avLst>
              <a:gd name="adj" fmla="val 17143"/>
            </a:avLst>
          </a:prstGeom>
          <a:solidFill>
            <a:srgbClr val="0C63B4"/>
          </a:solidFill>
          <a:ln/>
        </p:spPr>
      </p:sp>
      <p:sp>
        <p:nvSpPr>
          <p:cNvPr id="17" name="Text 14"/>
          <p:cNvSpPr/>
          <p:nvPr/>
        </p:nvSpPr>
        <p:spPr>
          <a:xfrm>
            <a:off x="8366760" y="2103120"/>
            <a:ext cx="640080" cy="64008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8" name="Text 15"/>
          <p:cNvSpPr/>
          <p:nvPr/>
        </p:nvSpPr>
        <p:spPr>
          <a:xfrm>
            <a:off x="8321040" y="2926080"/>
            <a:ext cx="3063240" cy="868680"/>
          </a:xfrm>
          <a:prstGeom prst="rect">
            <a:avLst/>
          </a:prstGeom>
          <a:noFill/>
          <a:ln/>
        </p:spPr>
        <p:txBody>
          <a:bodyPr wrap="square" rtlCol="0" anchor="t"/>
          <a:lstStyle/>
          <a:p>
            <a:pPr indent="0" marL="0">
              <a:buNone/>
            </a:pPr>
            <a:r>
              <a:rPr lang="en-US" sz="1800" b="1" dirty="0">
                <a:solidFill>
                  <a:srgbClr val="003E7E"/>
                </a:solidFill>
                <a:latin typeface="Cambria" pitchFamily="34" charset="0"/>
                <a:ea typeface="Cambria" pitchFamily="34" charset="-122"/>
                <a:cs typeface="Cambria" pitchFamily="34" charset="-120"/>
              </a:rPr>
              <a:t>Công cụ hiện tại chỉ khớp từ khóa</a:t>
            </a:r>
            <a:endParaRPr lang="en-US" sz="1800" dirty="0"/>
          </a:p>
        </p:txBody>
      </p:sp>
      <p:sp>
        <p:nvSpPr>
          <p:cNvPr id="19" name="Text 16"/>
          <p:cNvSpPr/>
          <p:nvPr/>
        </p:nvSpPr>
        <p:spPr>
          <a:xfrm>
            <a:off x="8321040" y="3840480"/>
            <a:ext cx="3108960" cy="1645920"/>
          </a:xfrm>
          <a:prstGeom prst="rect">
            <a:avLst/>
          </a:prstGeom>
          <a:noFill/>
          <a:ln/>
        </p:spPr>
        <p:txBody>
          <a:bodyPr wrap="square" rtlCol="0" anchor="t"/>
          <a:lstStyle/>
          <a:p>
            <a:pPr indent="0" marL="0">
              <a:lnSpc>
                <a:spcPct val="105000"/>
              </a:lnSpc>
              <a:buNone/>
            </a:pPr>
            <a:r>
              <a:rPr lang="en-US" sz="1350" dirty="0">
                <a:solidFill>
                  <a:srgbClr val="17334D"/>
                </a:solidFill>
                <a:latin typeface="Calibri" pitchFamily="34" charset="0"/>
                <a:ea typeface="Calibri" pitchFamily="34" charset="-122"/>
                <a:cs typeface="Calibri" pitchFamily="34" charset="-120"/>
              </a:rPr>
              <a:t>ATS/LinkedIn lọc theo keyword → không chỉ ra khoảng cách kỹ năng, bỏ sót từ đồng nghĩa.</a:t>
            </a:r>
            <a:endParaRPr lang="en-US" sz="1350" dirty="0"/>
          </a:p>
        </p:txBody>
      </p:sp>
      <p:sp>
        <p:nvSpPr>
          <p:cNvPr id="20" name="Text 17"/>
          <p:cNvSpPr/>
          <p:nvPr/>
        </p:nvSpPr>
        <p:spPr>
          <a:xfrm>
            <a:off x="640080" y="5897880"/>
            <a:ext cx="10972800" cy="365760"/>
          </a:xfrm>
          <a:prstGeom prst="rect">
            <a:avLst/>
          </a:prstGeom>
          <a:noFill/>
          <a:ln/>
        </p:spPr>
        <p:txBody>
          <a:bodyPr wrap="square" rtlCol="0" anchor="ctr"/>
          <a:lstStyle/>
          <a:p>
            <a:pPr indent="0" marL="0">
              <a:buNone/>
            </a:pPr>
            <a:r>
              <a:rPr lang="en-US" sz="1500" b="1" i="1" dirty="0">
                <a:solidFill>
                  <a:srgbClr val="003E7E"/>
                </a:solidFill>
                <a:latin typeface="Calibri" pitchFamily="34" charset="0"/>
                <a:ea typeface="Calibri" pitchFamily="34" charset="-122"/>
                <a:cs typeface="Calibri" pitchFamily="34" charset="-120"/>
              </a:rPr>
              <a:t>→ Chính chúng em từng loay hoay: “mình còn thiếu gì để đi làm được?”</a:t>
            </a:r>
            <a:endParaRPr lang="en-US" sz="1500" dirty="0"/>
          </a:p>
        </p:txBody>
      </p:sp>
      <p:sp>
        <p:nvSpPr>
          <p:cNvPr id="22" name="Text 18"/>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23" name="Text 19"/>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KHOẢNG TRỐNG &amp; Ý TƯỞNG</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Từ 'khớp từ khóa' đến 'định lượng khoảng cách kỹ năng'</a:t>
            </a:r>
            <a:endParaRPr lang="en-US" sz="3000" dirty="0"/>
          </a:p>
        </p:txBody>
      </p:sp>
      <p:sp>
        <p:nvSpPr>
          <p:cNvPr id="5" name="Shape 2"/>
          <p:cNvSpPr/>
          <p:nvPr/>
        </p:nvSpPr>
        <p:spPr>
          <a:xfrm>
            <a:off x="640080" y="1783080"/>
            <a:ext cx="5257800" cy="3977640"/>
          </a:xfrm>
          <a:prstGeom prst="roundRect">
            <a:avLst>
              <a:gd name="adj" fmla="val 1839"/>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Text 3"/>
          <p:cNvSpPr/>
          <p:nvPr/>
        </p:nvSpPr>
        <p:spPr>
          <a:xfrm>
            <a:off x="914400" y="1965960"/>
            <a:ext cx="4572000" cy="411480"/>
          </a:xfrm>
          <a:prstGeom prst="rect">
            <a:avLst/>
          </a:prstGeom>
          <a:noFill/>
          <a:ln/>
        </p:spPr>
        <p:txBody>
          <a:bodyPr wrap="square" rtlCol="0" anchor="ctr"/>
          <a:lstStyle/>
          <a:p>
            <a:pPr indent="0" marL="0">
              <a:buNone/>
            </a:pPr>
            <a:r>
              <a:rPr lang="en-US" sz="1900" b="1" dirty="0">
                <a:solidFill>
                  <a:srgbClr val="5C6B7A"/>
                </a:solidFill>
                <a:latin typeface="Cambria" pitchFamily="34" charset="0"/>
                <a:ea typeface="Cambria" pitchFamily="34" charset="-122"/>
                <a:cs typeface="Cambria" pitchFamily="34" charset="-120"/>
              </a:rPr>
              <a:t>Giải pháp hiện có</a:t>
            </a:r>
            <a:endParaRPr lang="en-US" sz="1900" dirty="0"/>
          </a:p>
        </p:txBody>
      </p:sp>
      <p:sp>
        <p:nvSpPr>
          <p:cNvPr id="7" name="Text 4"/>
          <p:cNvSpPr/>
          <p:nvPr/>
        </p:nvSpPr>
        <p:spPr>
          <a:xfrm>
            <a:off x="914400" y="2514600"/>
            <a:ext cx="365760" cy="457200"/>
          </a:xfrm>
          <a:prstGeom prst="rect">
            <a:avLst/>
          </a:prstGeom>
          <a:noFill/>
          <a:ln/>
        </p:spPr>
        <p:txBody>
          <a:bodyPr wrap="square" rtlCol="0" anchor="ctr"/>
          <a:lstStyle/>
          <a:p>
            <a:pPr indent="0" marL="0">
              <a:buNone/>
            </a:pPr>
            <a:r>
              <a:rPr lang="en-US" sz="1600" b="1" dirty="0">
                <a:solidFill>
                  <a:srgbClr val="1E88D6"/>
                </a:solidFill>
                <a:latin typeface="Calibri" pitchFamily="34" charset="0"/>
                <a:ea typeface="Calibri" pitchFamily="34" charset="-122"/>
                <a:cs typeface="Calibri" pitchFamily="34" charset="-120"/>
              </a:rPr>
              <a:t>✗</a:t>
            </a:r>
            <a:endParaRPr lang="en-US" sz="1600" dirty="0"/>
          </a:p>
        </p:txBody>
      </p:sp>
      <p:sp>
        <p:nvSpPr>
          <p:cNvPr id="8" name="Text 5"/>
          <p:cNvSpPr/>
          <p:nvPr/>
        </p:nvSpPr>
        <p:spPr>
          <a:xfrm>
            <a:off x="1325880" y="2487168"/>
            <a:ext cx="4434840" cy="731520"/>
          </a:xfrm>
          <a:prstGeom prst="rect">
            <a:avLst/>
          </a:prstGeom>
          <a:noFill/>
          <a:ln/>
        </p:spPr>
        <p:txBody>
          <a:bodyPr wrap="square" rtlCol="0" anchor="t"/>
          <a:lstStyle/>
          <a:p>
            <a:pPr indent="0" marL="0">
              <a:buNone/>
            </a:pPr>
            <a:r>
              <a:rPr lang="en-US" sz="1350" dirty="0">
                <a:solidFill>
                  <a:srgbClr val="17334D"/>
                </a:solidFill>
                <a:latin typeface="Calibri" pitchFamily="34" charset="0"/>
                <a:ea typeface="Calibri" pitchFamily="34" charset="-122"/>
                <a:cs typeface="Calibri" pitchFamily="34" charset="-120"/>
              </a:rPr>
              <a:t>Khớp từ khóa chính xác — bỏ sót từ đồng nghĩa (React ↔ ReactJS)</a:t>
            </a:r>
            <a:endParaRPr lang="en-US" sz="1350" dirty="0"/>
          </a:p>
        </p:txBody>
      </p:sp>
      <p:sp>
        <p:nvSpPr>
          <p:cNvPr id="9" name="Text 6"/>
          <p:cNvSpPr/>
          <p:nvPr/>
        </p:nvSpPr>
        <p:spPr>
          <a:xfrm>
            <a:off x="914400" y="3264408"/>
            <a:ext cx="365760" cy="457200"/>
          </a:xfrm>
          <a:prstGeom prst="rect">
            <a:avLst/>
          </a:prstGeom>
          <a:noFill/>
          <a:ln/>
        </p:spPr>
        <p:txBody>
          <a:bodyPr wrap="square" rtlCol="0" anchor="ctr"/>
          <a:lstStyle/>
          <a:p>
            <a:pPr indent="0" marL="0">
              <a:buNone/>
            </a:pPr>
            <a:r>
              <a:rPr lang="en-US" sz="1600" b="1" dirty="0">
                <a:solidFill>
                  <a:srgbClr val="1E88D6"/>
                </a:solidFill>
                <a:latin typeface="Calibri" pitchFamily="34" charset="0"/>
                <a:ea typeface="Calibri" pitchFamily="34" charset="-122"/>
                <a:cs typeface="Calibri" pitchFamily="34" charset="-120"/>
              </a:rPr>
              <a:t>✗</a:t>
            </a:r>
            <a:endParaRPr lang="en-US" sz="1600" dirty="0"/>
          </a:p>
        </p:txBody>
      </p:sp>
      <p:sp>
        <p:nvSpPr>
          <p:cNvPr id="10" name="Text 7"/>
          <p:cNvSpPr/>
          <p:nvPr/>
        </p:nvSpPr>
        <p:spPr>
          <a:xfrm>
            <a:off x="1325880" y="3236976"/>
            <a:ext cx="4434840" cy="731520"/>
          </a:xfrm>
          <a:prstGeom prst="rect">
            <a:avLst/>
          </a:prstGeom>
          <a:noFill/>
          <a:ln/>
        </p:spPr>
        <p:txBody>
          <a:bodyPr wrap="square" rtlCol="0" anchor="t"/>
          <a:lstStyle/>
          <a:p>
            <a:pPr indent="0" marL="0">
              <a:buNone/>
            </a:pPr>
            <a:r>
              <a:rPr lang="en-US" sz="1350" dirty="0">
                <a:solidFill>
                  <a:srgbClr val="17334D"/>
                </a:solidFill>
                <a:latin typeface="Calibri" pitchFamily="34" charset="0"/>
                <a:ea typeface="Calibri" pitchFamily="34" charset="-122"/>
                <a:cs typeface="Calibri" pitchFamily="34" charset="-120"/>
              </a:rPr>
              <a:t>Không định lượng được khoảng cách kỹ năng của ứng viên</a:t>
            </a:r>
            <a:endParaRPr lang="en-US" sz="1350" dirty="0"/>
          </a:p>
        </p:txBody>
      </p:sp>
      <p:sp>
        <p:nvSpPr>
          <p:cNvPr id="11" name="Text 8"/>
          <p:cNvSpPr/>
          <p:nvPr/>
        </p:nvSpPr>
        <p:spPr>
          <a:xfrm>
            <a:off x="914400" y="4014216"/>
            <a:ext cx="365760" cy="457200"/>
          </a:xfrm>
          <a:prstGeom prst="rect">
            <a:avLst/>
          </a:prstGeom>
          <a:noFill/>
          <a:ln/>
        </p:spPr>
        <p:txBody>
          <a:bodyPr wrap="square" rtlCol="0" anchor="ctr"/>
          <a:lstStyle/>
          <a:p>
            <a:pPr indent="0" marL="0">
              <a:buNone/>
            </a:pPr>
            <a:r>
              <a:rPr lang="en-US" sz="1600" b="1" dirty="0">
                <a:solidFill>
                  <a:srgbClr val="1E88D6"/>
                </a:solidFill>
                <a:latin typeface="Calibri" pitchFamily="34" charset="0"/>
                <a:ea typeface="Calibri" pitchFamily="34" charset="-122"/>
                <a:cs typeface="Calibri" pitchFamily="34" charset="-120"/>
              </a:rPr>
              <a:t>✗</a:t>
            </a:r>
            <a:endParaRPr lang="en-US" sz="1600" dirty="0"/>
          </a:p>
        </p:txBody>
      </p:sp>
      <p:sp>
        <p:nvSpPr>
          <p:cNvPr id="12" name="Text 9"/>
          <p:cNvSpPr/>
          <p:nvPr/>
        </p:nvSpPr>
        <p:spPr>
          <a:xfrm>
            <a:off x="1325880" y="3986784"/>
            <a:ext cx="4434840" cy="731520"/>
          </a:xfrm>
          <a:prstGeom prst="rect">
            <a:avLst/>
          </a:prstGeom>
          <a:noFill/>
          <a:ln/>
        </p:spPr>
        <p:txBody>
          <a:bodyPr wrap="square" rtlCol="0" anchor="t"/>
          <a:lstStyle/>
          <a:p>
            <a:pPr indent="0" marL="0">
              <a:buNone/>
            </a:pPr>
            <a:r>
              <a:rPr lang="en-US" sz="1350" dirty="0">
                <a:solidFill>
                  <a:srgbClr val="17334D"/>
                </a:solidFill>
                <a:latin typeface="Calibri" pitchFamily="34" charset="0"/>
                <a:ea typeface="Calibri" pitchFamily="34" charset="-122"/>
                <a:cs typeface="Calibri" pitchFamily="34" charset="-120"/>
              </a:rPr>
              <a:t>Dữ liệu đóng, không phục vụ phân tích xu hướng thị trường</a:t>
            </a:r>
            <a:endParaRPr lang="en-US" sz="1350" dirty="0"/>
          </a:p>
        </p:txBody>
      </p:sp>
      <p:sp>
        <p:nvSpPr>
          <p:cNvPr id="13" name="Text 10"/>
          <p:cNvSpPr/>
          <p:nvPr/>
        </p:nvSpPr>
        <p:spPr>
          <a:xfrm>
            <a:off x="914400" y="4764024"/>
            <a:ext cx="365760" cy="457200"/>
          </a:xfrm>
          <a:prstGeom prst="rect">
            <a:avLst/>
          </a:prstGeom>
          <a:noFill/>
          <a:ln/>
        </p:spPr>
        <p:txBody>
          <a:bodyPr wrap="square" rtlCol="0" anchor="ctr"/>
          <a:lstStyle/>
          <a:p>
            <a:pPr indent="0" marL="0">
              <a:buNone/>
            </a:pPr>
            <a:r>
              <a:rPr lang="en-US" sz="1600" b="1" dirty="0">
                <a:solidFill>
                  <a:srgbClr val="1E88D6"/>
                </a:solidFill>
                <a:latin typeface="Calibri" pitchFamily="34" charset="0"/>
                <a:ea typeface="Calibri" pitchFamily="34" charset="-122"/>
                <a:cs typeface="Calibri" pitchFamily="34" charset="-120"/>
              </a:rPr>
              <a:t>✗</a:t>
            </a:r>
            <a:endParaRPr lang="en-US" sz="1600" dirty="0"/>
          </a:p>
        </p:txBody>
      </p:sp>
      <p:sp>
        <p:nvSpPr>
          <p:cNvPr id="14" name="Text 11"/>
          <p:cNvSpPr/>
          <p:nvPr/>
        </p:nvSpPr>
        <p:spPr>
          <a:xfrm>
            <a:off x="1325880" y="4736592"/>
            <a:ext cx="4434840" cy="731520"/>
          </a:xfrm>
          <a:prstGeom prst="rect">
            <a:avLst/>
          </a:prstGeom>
          <a:noFill/>
          <a:ln/>
        </p:spPr>
        <p:txBody>
          <a:bodyPr wrap="square" rtlCol="0" anchor="t"/>
          <a:lstStyle/>
          <a:p>
            <a:pPr indent="0" marL="0">
              <a:buNone/>
            </a:pPr>
            <a:r>
              <a:rPr lang="en-US" sz="1350" dirty="0">
                <a:solidFill>
                  <a:srgbClr val="17334D"/>
                </a:solidFill>
                <a:latin typeface="Calibri" pitchFamily="34" charset="0"/>
                <a:ea typeface="Calibri" pitchFamily="34" charset="-122"/>
                <a:cs typeface="Calibri" pitchFamily="34" charset="-120"/>
              </a:rPr>
              <a:t>Không nói ứng viên cần học thêm gì</a:t>
            </a:r>
            <a:endParaRPr lang="en-US" sz="1350" dirty="0"/>
          </a:p>
        </p:txBody>
      </p:sp>
      <p:sp>
        <p:nvSpPr>
          <p:cNvPr id="15" name="Shape 12"/>
          <p:cNvSpPr/>
          <p:nvPr/>
        </p:nvSpPr>
        <p:spPr>
          <a:xfrm>
            <a:off x="6263640" y="1783080"/>
            <a:ext cx="5257800" cy="3977640"/>
          </a:xfrm>
          <a:prstGeom prst="roundRect">
            <a:avLst>
              <a:gd name="adj" fmla="val 1839"/>
            </a:avLst>
          </a:prstGeom>
          <a:solidFill>
            <a:srgbClr val="FFFFFF"/>
          </a:solidFill>
          <a:ln w="12700">
            <a:solidFill>
              <a:srgbClr val="0C63B4"/>
            </a:solidFill>
            <a:prstDash val="solid"/>
          </a:ln>
          <a:effectLst>
            <a:outerShdw sx="100000" sy="100000" kx="0" ky="0" algn="bl" rotWithShape="0" blurRad="76200" dist="25400" dir="5400000">
              <a:srgbClr val="9FB3C4">
                <a:alpha val="28000"/>
              </a:srgbClr>
            </a:outerShdw>
          </a:effectLst>
        </p:spPr>
      </p:sp>
      <p:sp>
        <p:nvSpPr>
          <p:cNvPr id="16" name="Text 13"/>
          <p:cNvSpPr/>
          <p:nvPr/>
        </p:nvSpPr>
        <p:spPr>
          <a:xfrm>
            <a:off x="6537960" y="1965960"/>
            <a:ext cx="4572000" cy="411480"/>
          </a:xfrm>
          <a:prstGeom prst="rect">
            <a:avLst/>
          </a:prstGeom>
          <a:noFill/>
          <a:ln/>
        </p:spPr>
        <p:txBody>
          <a:bodyPr wrap="square" rtlCol="0" anchor="ctr"/>
          <a:lstStyle/>
          <a:p>
            <a:pPr indent="0" marL="0">
              <a:buNone/>
            </a:pPr>
            <a:r>
              <a:rPr lang="en-US" sz="1900" b="1" dirty="0">
                <a:solidFill>
                  <a:srgbClr val="0C63B4"/>
                </a:solidFill>
                <a:latin typeface="Cambria" pitchFamily="34" charset="0"/>
                <a:ea typeface="Cambria" pitchFamily="34" charset="-122"/>
                <a:cs typeface="Cambria" pitchFamily="34" charset="-120"/>
              </a:rPr>
              <a:t>CareerNova</a:t>
            </a:r>
            <a:pPr indent="0" marL="0">
              <a:buNone/>
            </a:pPr>
            <a:r>
              <a:rPr lang="en-US" sz="1900" b="1" dirty="0">
                <a:solidFill>
                  <a:srgbClr val="003E7E"/>
                </a:solidFill>
                <a:latin typeface="Cambria" pitchFamily="34" charset="0"/>
                <a:ea typeface="Cambria" pitchFamily="34" charset="-122"/>
                <a:cs typeface="Cambria" pitchFamily="34" charset="-120"/>
              </a:rPr>
              <a:t> đề xuất</a:t>
            </a:r>
            <a:endParaRPr lang="en-US" sz="1900" dirty="0"/>
          </a:p>
        </p:txBody>
      </p:sp>
      <p:sp>
        <p:nvSpPr>
          <p:cNvPr id="17" name="Text 14"/>
          <p:cNvSpPr/>
          <p:nvPr/>
        </p:nvSpPr>
        <p:spPr>
          <a:xfrm>
            <a:off x="6537960" y="2514600"/>
            <a:ext cx="365760" cy="457200"/>
          </a:xfrm>
          <a:prstGeom prst="rect">
            <a:avLst/>
          </a:prstGeom>
          <a:noFill/>
          <a:ln/>
        </p:spPr>
        <p:txBody>
          <a:bodyPr wrap="square" rtlCol="0" anchor="ctr"/>
          <a:lstStyle/>
          <a:p>
            <a:pPr indent="0" marL="0">
              <a:buNone/>
            </a:pPr>
            <a:r>
              <a:rPr lang="en-US" sz="1600" b="1" dirty="0">
                <a:solidFill>
                  <a:srgbClr val="1E8E5A"/>
                </a:solidFill>
                <a:latin typeface="Calibri" pitchFamily="34" charset="0"/>
                <a:ea typeface="Calibri" pitchFamily="34" charset="-122"/>
                <a:cs typeface="Calibri" pitchFamily="34" charset="-120"/>
              </a:rPr>
              <a:t>✓</a:t>
            </a:r>
            <a:endParaRPr lang="en-US" sz="1600" dirty="0"/>
          </a:p>
        </p:txBody>
      </p:sp>
      <p:sp>
        <p:nvSpPr>
          <p:cNvPr id="18" name="Text 15"/>
          <p:cNvSpPr/>
          <p:nvPr/>
        </p:nvSpPr>
        <p:spPr>
          <a:xfrm>
            <a:off x="6949440" y="2487168"/>
            <a:ext cx="4434840" cy="731520"/>
          </a:xfrm>
          <a:prstGeom prst="rect">
            <a:avLst/>
          </a:prstGeom>
          <a:noFill/>
          <a:ln/>
        </p:spPr>
        <p:txBody>
          <a:bodyPr wrap="square" rtlCol="0" anchor="t"/>
          <a:lstStyle/>
          <a:p>
            <a:pPr indent="0" marL="0">
              <a:buNone/>
            </a:pPr>
            <a:r>
              <a:rPr lang="en-US" sz="1350" dirty="0">
                <a:solidFill>
                  <a:srgbClr val="17334D"/>
                </a:solidFill>
                <a:latin typeface="Calibri" pitchFamily="34" charset="0"/>
                <a:ea typeface="Calibri" pitchFamily="34" charset="-122"/>
                <a:cs typeface="Calibri" pitchFamily="34" charset="-120"/>
              </a:rPr>
              <a:t>LLM hiểu ngữ nghĩa + kiểm chứng bằng chứng (chống ảo giác)</a:t>
            </a:r>
            <a:endParaRPr lang="en-US" sz="1350" dirty="0"/>
          </a:p>
        </p:txBody>
      </p:sp>
      <p:sp>
        <p:nvSpPr>
          <p:cNvPr id="19" name="Text 16"/>
          <p:cNvSpPr/>
          <p:nvPr/>
        </p:nvSpPr>
        <p:spPr>
          <a:xfrm>
            <a:off x="6537960" y="3264408"/>
            <a:ext cx="365760" cy="457200"/>
          </a:xfrm>
          <a:prstGeom prst="rect">
            <a:avLst/>
          </a:prstGeom>
          <a:noFill/>
          <a:ln/>
        </p:spPr>
        <p:txBody>
          <a:bodyPr wrap="square" rtlCol="0" anchor="ctr"/>
          <a:lstStyle/>
          <a:p>
            <a:pPr indent="0" marL="0">
              <a:buNone/>
            </a:pPr>
            <a:r>
              <a:rPr lang="en-US" sz="1600" b="1" dirty="0">
                <a:solidFill>
                  <a:srgbClr val="1E8E5A"/>
                </a:solidFill>
                <a:latin typeface="Calibri" pitchFamily="34" charset="0"/>
                <a:ea typeface="Calibri" pitchFamily="34" charset="-122"/>
                <a:cs typeface="Calibri" pitchFamily="34" charset="-120"/>
              </a:rPr>
              <a:t>✓</a:t>
            </a:r>
            <a:endParaRPr lang="en-US" sz="1600" dirty="0"/>
          </a:p>
        </p:txBody>
      </p:sp>
      <p:sp>
        <p:nvSpPr>
          <p:cNvPr id="20" name="Text 17"/>
          <p:cNvSpPr/>
          <p:nvPr/>
        </p:nvSpPr>
        <p:spPr>
          <a:xfrm>
            <a:off x="6949440" y="3236976"/>
            <a:ext cx="4434840" cy="731520"/>
          </a:xfrm>
          <a:prstGeom prst="rect">
            <a:avLst/>
          </a:prstGeom>
          <a:noFill/>
          <a:ln/>
        </p:spPr>
        <p:txBody>
          <a:bodyPr wrap="square" rtlCol="0" anchor="t"/>
          <a:lstStyle/>
          <a:p>
            <a:pPr indent="0" marL="0">
              <a:buNone/>
            </a:pPr>
            <a:r>
              <a:rPr lang="en-US" sz="1350" dirty="0">
                <a:solidFill>
                  <a:srgbClr val="17334D"/>
                </a:solidFill>
                <a:latin typeface="Calibri" pitchFamily="34" charset="0"/>
                <a:ea typeface="Calibri" pitchFamily="34" charset="-122"/>
                <a:cs typeface="Calibri" pitchFamily="34" charset="-120"/>
              </a:rPr>
              <a:t>So khớp ngữ nghĩa (SBERT) có trọng số theo thị trường IT Việt Nam</a:t>
            </a:r>
            <a:endParaRPr lang="en-US" sz="1350" dirty="0"/>
          </a:p>
        </p:txBody>
      </p:sp>
      <p:sp>
        <p:nvSpPr>
          <p:cNvPr id="21" name="Text 18"/>
          <p:cNvSpPr/>
          <p:nvPr/>
        </p:nvSpPr>
        <p:spPr>
          <a:xfrm>
            <a:off x="6537960" y="4014216"/>
            <a:ext cx="365760" cy="457200"/>
          </a:xfrm>
          <a:prstGeom prst="rect">
            <a:avLst/>
          </a:prstGeom>
          <a:noFill/>
          <a:ln/>
        </p:spPr>
        <p:txBody>
          <a:bodyPr wrap="square" rtlCol="0" anchor="ctr"/>
          <a:lstStyle/>
          <a:p>
            <a:pPr indent="0" marL="0">
              <a:buNone/>
            </a:pPr>
            <a:r>
              <a:rPr lang="en-US" sz="1600" b="1" dirty="0">
                <a:solidFill>
                  <a:srgbClr val="1E8E5A"/>
                </a:solidFill>
                <a:latin typeface="Calibri" pitchFamily="34" charset="0"/>
                <a:ea typeface="Calibri" pitchFamily="34" charset="-122"/>
                <a:cs typeface="Calibri" pitchFamily="34" charset="-120"/>
              </a:rPr>
              <a:t>✓</a:t>
            </a:r>
            <a:endParaRPr lang="en-US" sz="1600" dirty="0"/>
          </a:p>
        </p:txBody>
      </p:sp>
      <p:sp>
        <p:nvSpPr>
          <p:cNvPr id="22" name="Text 19"/>
          <p:cNvSpPr/>
          <p:nvPr/>
        </p:nvSpPr>
        <p:spPr>
          <a:xfrm>
            <a:off x="6949440" y="3986784"/>
            <a:ext cx="4434840" cy="731520"/>
          </a:xfrm>
          <a:prstGeom prst="rect">
            <a:avLst/>
          </a:prstGeom>
          <a:noFill/>
          <a:ln/>
        </p:spPr>
        <p:txBody>
          <a:bodyPr wrap="square" rtlCol="0" anchor="t"/>
          <a:lstStyle/>
          <a:p>
            <a:pPr indent="0" marL="0">
              <a:buNone/>
            </a:pPr>
            <a:r>
              <a:rPr lang="en-US" sz="1350" dirty="0">
                <a:solidFill>
                  <a:srgbClr val="17334D"/>
                </a:solidFill>
                <a:latin typeface="Calibri" pitchFamily="34" charset="0"/>
                <a:ea typeface="Calibri" pitchFamily="34" charset="-122"/>
                <a:cs typeface="Calibri" pitchFamily="34" charset="-120"/>
              </a:rPr>
              <a:t>Định lượng khoảng cách &amp; liệt kê kỹ năng còn thiếu</a:t>
            </a:r>
            <a:endParaRPr lang="en-US" sz="1350" dirty="0"/>
          </a:p>
        </p:txBody>
      </p:sp>
      <p:sp>
        <p:nvSpPr>
          <p:cNvPr id="23" name="Text 20"/>
          <p:cNvSpPr/>
          <p:nvPr/>
        </p:nvSpPr>
        <p:spPr>
          <a:xfrm>
            <a:off x="6537960" y="4764024"/>
            <a:ext cx="365760" cy="457200"/>
          </a:xfrm>
          <a:prstGeom prst="rect">
            <a:avLst/>
          </a:prstGeom>
          <a:noFill/>
          <a:ln/>
        </p:spPr>
        <p:txBody>
          <a:bodyPr wrap="square" rtlCol="0" anchor="ctr"/>
          <a:lstStyle/>
          <a:p>
            <a:pPr indent="0" marL="0">
              <a:buNone/>
            </a:pPr>
            <a:r>
              <a:rPr lang="en-US" sz="1600" b="1" dirty="0">
                <a:solidFill>
                  <a:srgbClr val="1E8E5A"/>
                </a:solidFill>
                <a:latin typeface="Calibri" pitchFamily="34" charset="0"/>
                <a:ea typeface="Calibri" pitchFamily="34" charset="-122"/>
                <a:cs typeface="Calibri" pitchFamily="34" charset="-120"/>
              </a:rPr>
              <a:t>✓</a:t>
            </a:r>
            <a:endParaRPr lang="en-US" sz="1600" dirty="0"/>
          </a:p>
        </p:txBody>
      </p:sp>
      <p:sp>
        <p:nvSpPr>
          <p:cNvPr id="24" name="Text 21"/>
          <p:cNvSpPr/>
          <p:nvPr/>
        </p:nvSpPr>
        <p:spPr>
          <a:xfrm>
            <a:off x="6949440" y="4736592"/>
            <a:ext cx="4434840" cy="731520"/>
          </a:xfrm>
          <a:prstGeom prst="rect">
            <a:avLst/>
          </a:prstGeom>
          <a:noFill/>
          <a:ln/>
        </p:spPr>
        <p:txBody>
          <a:bodyPr wrap="square" rtlCol="0" anchor="t"/>
          <a:lstStyle/>
          <a:p>
            <a:pPr indent="0" marL="0">
              <a:buNone/>
            </a:pPr>
            <a:r>
              <a:rPr lang="en-US" sz="1350" dirty="0">
                <a:solidFill>
                  <a:srgbClr val="17334D"/>
                </a:solidFill>
                <a:latin typeface="Calibri" pitchFamily="34" charset="0"/>
                <a:ea typeface="Calibri" pitchFamily="34" charset="-122"/>
                <a:cs typeface="Calibri" pitchFamily="34" charset="-120"/>
              </a:rPr>
              <a:t>Dashboard trực quan xu hướng tuyển dụng</a:t>
            </a:r>
            <a:endParaRPr lang="en-US" sz="1350" dirty="0"/>
          </a:p>
        </p:txBody>
      </p:sp>
      <p:sp>
        <p:nvSpPr>
          <p:cNvPr id="26" name="Text 22"/>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27" name="Text 23"/>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MỤC TIÊU · PHẠM VI · ĐÓNG GÓP</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Ba mục tiêu — ba đóng góp tương ứng</a:t>
            </a:r>
            <a:endParaRPr lang="en-US" sz="3000" dirty="0"/>
          </a:p>
        </p:txBody>
      </p:sp>
      <p:sp>
        <p:nvSpPr>
          <p:cNvPr id="5" name="Shape 2"/>
          <p:cNvSpPr/>
          <p:nvPr/>
        </p:nvSpPr>
        <p:spPr>
          <a:xfrm>
            <a:off x="731520" y="2057400"/>
            <a:ext cx="457200" cy="457200"/>
          </a:xfrm>
          <a:prstGeom prst="ellipse">
            <a:avLst/>
          </a:prstGeom>
          <a:solidFill>
            <a:srgbClr val="0C63B4"/>
          </a:solidFill>
          <a:ln/>
        </p:spPr>
      </p:sp>
      <p:sp>
        <p:nvSpPr>
          <p:cNvPr id="6" name="Text 3"/>
          <p:cNvSpPr/>
          <p:nvPr/>
        </p:nvSpPr>
        <p:spPr>
          <a:xfrm>
            <a:off x="731520" y="2057400"/>
            <a:ext cx="45720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Shape 4"/>
          <p:cNvSpPr/>
          <p:nvPr/>
        </p:nvSpPr>
        <p:spPr>
          <a:xfrm>
            <a:off x="1463040" y="1828800"/>
            <a:ext cx="4663440" cy="1234440"/>
          </a:xfrm>
          <a:prstGeom prst="roundRect">
            <a:avLst>
              <a:gd name="adj" fmla="val 5926"/>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8" name="Text 5"/>
          <p:cNvSpPr/>
          <p:nvPr/>
        </p:nvSpPr>
        <p:spPr>
          <a:xfrm>
            <a:off x="1691640" y="1938528"/>
            <a:ext cx="4297680" cy="1005840"/>
          </a:xfrm>
          <a:prstGeom prst="rect">
            <a:avLst/>
          </a:prstGeom>
          <a:noFill/>
          <a:ln/>
        </p:spPr>
        <p:txBody>
          <a:bodyPr wrap="square" rtlCol="0" anchor="ctr"/>
          <a:lstStyle/>
          <a:p>
            <a:pPr indent="0" marL="0">
              <a:lnSpc>
                <a:spcPct val="103000"/>
              </a:lnSpc>
              <a:buNone/>
            </a:pPr>
            <a:r>
              <a:rPr lang="en-US" sz="1400" b="1" dirty="0">
                <a:solidFill>
                  <a:srgbClr val="003E7E"/>
                </a:solidFill>
                <a:latin typeface="Calibri" pitchFamily="34" charset="0"/>
                <a:ea typeface="Calibri" pitchFamily="34" charset="-122"/>
                <a:cs typeface="Calibri" pitchFamily="34" charset="-120"/>
              </a:rPr>
              <a:t>Thu thập &amp; chuẩn hóa  </a:t>
            </a:r>
            <a:pPr indent="0" marL="0">
              <a:lnSpc>
                <a:spcPct val="103000"/>
              </a:lnSpc>
              <a:buNone/>
            </a:pPr>
            <a:r>
              <a:rPr lang="en-US" sz="1400" dirty="0">
                <a:solidFill>
                  <a:srgbClr val="17334D"/>
                </a:solidFill>
                <a:latin typeface="Calibri" pitchFamily="34" charset="0"/>
                <a:ea typeface="Calibri" pitchFamily="34" charset="-122"/>
                <a:cs typeface="Calibri" pitchFamily="34" charset="-120"/>
              </a:rPr>
              <a:t>dữ liệu tuyển dụng đa nguồn</a:t>
            </a:r>
            <a:endParaRPr lang="en-US" sz="1400" dirty="0"/>
          </a:p>
        </p:txBody>
      </p:sp>
      <p:sp>
        <p:nvSpPr>
          <p:cNvPr id="9" name="Shape 6"/>
          <p:cNvSpPr/>
          <p:nvPr/>
        </p:nvSpPr>
        <p:spPr>
          <a:xfrm>
            <a:off x="6355080" y="2286000"/>
            <a:ext cx="502920" cy="320040"/>
          </a:xfrm>
          <a:prstGeom prst="rightArrow">
            <a:avLst/>
          </a:prstGeom>
          <a:solidFill>
            <a:srgbClr val="0C63B4"/>
          </a:solidFill>
          <a:ln/>
        </p:spPr>
      </p:sp>
      <p:sp>
        <p:nvSpPr>
          <p:cNvPr id="10" name="Shape 7"/>
          <p:cNvSpPr/>
          <p:nvPr/>
        </p:nvSpPr>
        <p:spPr>
          <a:xfrm>
            <a:off x="7040880" y="1828800"/>
            <a:ext cx="4480560" cy="1234440"/>
          </a:xfrm>
          <a:prstGeom prst="roundRect">
            <a:avLst>
              <a:gd name="adj" fmla="val 5926"/>
            </a:avLst>
          </a:prstGeom>
          <a:solidFill>
            <a:srgbClr val="FFFFFF"/>
          </a:solidFill>
          <a:ln w="12700">
            <a:solidFill>
              <a:srgbClr val="0C63B4"/>
            </a:solidFill>
            <a:prstDash val="solid"/>
          </a:ln>
          <a:effectLst>
            <a:outerShdw sx="100000" sy="100000" kx="0" ky="0" algn="bl" rotWithShape="0" blurRad="76200" dist="25400" dir="5400000">
              <a:srgbClr val="9FB3C4">
                <a:alpha val="28000"/>
              </a:srgbClr>
            </a:outerShdw>
          </a:effectLst>
        </p:spPr>
      </p:sp>
      <p:sp>
        <p:nvSpPr>
          <p:cNvPr id="11" name="Text 8"/>
          <p:cNvSpPr/>
          <p:nvPr/>
        </p:nvSpPr>
        <p:spPr>
          <a:xfrm>
            <a:off x="7269480" y="1938528"/>
            <a:ext cx="4114800" cy="1005840"/>
          </a:xfrm>
          <a:prstGeom prst="rect">
            <a:avLst/>
          </a:prstGeom>
          <a:noFill/>
          <a:ln/>
        </p:spPr>
        <p:txBody>
          <a:bodyPr wrap="square" rtlCol="0" anchor="ctr"/>
          <a:lstStyle/>
          <a:p>
            <a:pPr indent="0" marL="0">
              <a:lnSpc>
                <a:spcPct val="103000"/>
              </a:lnSpc>
              <a:buNone/>
            </a:pPr>
            <a:r>
              <a:rPr lang="en-US" sz="1400" b="1" dirty="0">
                <a:solidFill>
                  <a:srgbClr val="0C63B4"/>
                </a:solidFill>
                <a:latin typeface="Calibri" pitchFamily="34" charset="0"/>
                <a:ea typeface="Calibri" pitchFamily="34" charset="-122"/>
                <a:cs typeface="Calibri" pitchFamily="34" charset="-120"/>
              </a:rPr>
              <a:t>Kết quả 1: </a:t>
            </a:r>
            <a:pPr indent="0" marL="0">
              <a:lnSpc>
                <a:spcPct val="103000"/>
              </a:lnSpc>
              <a:buNone/>
            </a:pPr>
            <a:r>
              <a:rPr lang="en-US" sz="1400" b="1" dirty="0">
                <a:solidFill>
                  <a:srgbClr val="003E7E"/>
                </a:solidFill>
                <a:latin typeface="Calibri" pitchFamily="34" charset="0"/>
                <a:ea typeface="Calibri" pitchFamily="34" charset="-122"/>
                <a:cs typeface="Calibri" pitchFamily="34" charset="-120"/>
              </a:rPr>
              <a:t>Kho dữ liệu sạch + pipeline ETL/chuẩn hóa</a:t>
            </a:r>
            <a:endParaRPr lang="en-US" sz="1400" dirty="0"/>
          </a:p>
        </p:txBody>
      </p:sp>
      <p:sp>
        <p:nvSpPr>
          <p:cNvPr id="12" name="Shape 9"/>
          <p:cNvSpPr/>
          <p:nvPr/>
        </p:nvSpPr>
        <p:spPr>
          <a:xfrm>
            <a:off x="731520" y="3520440"/>
            <a:ext cx="457200" cy="457200"/>
          </a:xfrm>
          <a:prstGeom prst="ellipse">
            <a:avLst/>
          </a:prstGeom>
          <a:solidFill>
            <a:srgbClr val="0C63B4"/>
          </a:solidFill>
          <a:ln/>
        </p:spPr>
      </p:sp>
      <p:sp>
        <p:nvSpPr>
          <p:cNvPr id="13" name="Text 10"/>
          <p:cNvSpPr/>
          <p:nvPr/>
        </p:nvSpPr>
        <p:spPr>
          <a:xfrm>
            <a:off x="731520" y="3520440"/>
            <a:ext cx="45720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Shape 11"/>
          <p:cNvSpPr/>
          <p:nvPr/>
        </p:nvSpPr>
        <p:spPr>
          <a:xfrm>
            <a:off x="1463040" y="3291840"/>
            <a:ext cx="4663440" cy="1234440"/>
          </a:xfrm>
          <a:prstGeom prst="roundRect">
            <a:avLst>
              <a:gd name="adj" fmla="val 5926"/>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5" name="Text 12"/>
          <p:cNvSpPr/>
          <p:nvPr/>
        </p:nvSpPr>
        <p:spPr>
          <a:xfrm>
            <a:off x="1691640" y="3401568"/>
            <a:ext cx="4297680" cy="1005840"/>
          </a:xfrm>
          <a:prstGeom prst="rect">
            <a:avLst/>
          </a:prstGeom>
          <a:noFill/>
          <a:ln/>
        </p:spPr>
        <p:txBody>
          <a:bodyPr wrap="square" rtlCol="0" anchor="ctr"/>
          <a:lstStyle/>
          <a:p>
            <a:pPr indent="0" marL="0">
              <a:lnSpc>
                <a:spcPct val="103000"/>
              </a:lnSpc>
              <a:buNone/>
            </a:pPr>
            <a:r>
              <a:rPr lang="en-US" sz="1400" b="1" dirty="0">
                <a:solidFill>
                  <a:srgbClr val="003E7E"/>
                </a:solidFill>
                <a:latin typeface="Calibri" pitchFamily="34" charset="0"/>
                <a:ea typeface="Calibri" pitchFamily="34" charset="-122"/>
                <a:cs typeface="Calibri" pitchFamily="34" charset="-120"/>
              </a:rPr>
              <a:t>Trích xuất &amp; định lượng  </a:t>
            </a:r>
            <a:pPr indent="0" marL="0">
              <a:lnSpc>
                <a:spcPct val="103000"/>
              </a:lnSpc>
              <a:buNone/>
            </a:pPr>
            <a:r>
              <a:rPr lang="en-US" sz="1400" dirty="0">
                <a:solidFill>
                  <a:srgbClr val="17334D"/>
                </a:solidFill>
                <a:latin typeface="Calibri" pitchFamily="34" charset="0"/>
                <a:ea typeface="Calibri" pitchFamily="34" charset="-122"/>
                <a:cs typeface="Calibri" pitchFamily="34" charset="-120"/>
              </a:rPr>
              <a:t>khoảng cách kỹ năng CV ↔ JD bằng NLP/AI</a:t>
            </a:r>
            <a:endParaRPr lang="en-US" sz="1400" dirty="0"/>
          </a:p>
        </p:txBody>
      </p:sp>
      <p:sp>
        <p:nvSpPr>
          <p:cNvPr id="16" name="Shape 13"/>
          <p:cNvSpPr/>
          <p:nvPr/>
        </p:nvSpPr>
        <p:spPr>
          <a:xfrm>
            <a:off x="6355080" y="3749040"/>
            <a:ext cx="502920" cy="320040"/>
          </a:xfrm>
          <a:prstGeom prst="rightArrow">
            <a:avLst/>
          </a:prstGeom>
          <a:solidFill>
            <a:srgbClr val="0C63B4"/>
          </a:solidFill>
          <a:ln/>
        </p:spPr>
      </p:sp>
      <p:sp>
        <p:nvSpPr>
          <p:cNvPr id="17" name="Shape 14"/>
          <p:cNvSpPr/>
          <p:nvPr/>
        </p:nvSpPr>
        <p:spPr>
          <a:xfrm>
            <a:off x="7040880" y="3291840"/>
            <a:ext cx="4480560" cy="1234440"/>
          </a:xfrm>
          <a:prstGeom prst="roundRect">
            <a:avLst>
              <a:gd name="adj" fmla="val 5926"/>
            </a:avLst>
          </a:prstGeom>
          <a:solidFill>
            <a:srgbClr val="FFFFFF"/>
          </a:solidFill>
          <a:ln w="12700">
            <a:solidFill>
              <a:srgbClr val="0C63B4"/>
            </a:solidFill>
            <a:prstDash val="solid"/>
          </a:ln>
          <a:effectLst>
            <a:outerShdw sx="100000" sy="100000" kx="0" ky="0" algn="bl" rotWithShape="0" blurRad="76200" dist="25400" dir="5400000">
              <a:srgbClr val="9FB3C4">
                <a:alpha val="28000"/>
              </a:srgbClr>
            </a:outerShdw>
          </a:effectLst>
        </p:spPr>
      </p:sp>
      <p:sp>
        <p:nvSpPr>
          <p:cNvPr id="18" name="Text 15"/>
          <p:cNvSpPr/>
          <p:nvPr/>
        </p:nvSpPr>
        <p:spPr>
          <a:xfrm>
            <a:off x="7269480" y="3401568"/>
            <a:ext cx="4114800" cy="1005840"/>
          </a:xfrm>
          <a:prstGeom prst="rect">
            <a:avLst/>
          </a:prstGeom>
          <a:noFill/>
          <a:ln/>
        </p:spPr>
        <p:txBody>
          <a:bodyPr wrap="square" rtlCol="0" anchor="ctr"/>
          <a:lstStyle/>
          <a:p>
            <a:pPr indent="0" marL="0">
              <a:lnSpc>
                <a:spcPct val="103000"/>
              </a:lnSpc>
              <a:buNone/>
            </a:pPr>
            <a:r>
              <a:rPr lang="en-US" sz="1400" b="1" dirty="0">
                <a:solidFill>
                  <a:srgbClr val="0C63B4"/>
                </a:solidFill>
                <a:latin typeface="Calibri" pitchFamily="34" charset="0"/>
                <a:ea typeface="Calibri" pitchFamily="34" charset="-122"/>
                <a:cs typeface="Calibri" pitchFamily="34" charset="-120"/>
              </a:rPr>
              <a:t>Kết quả 2: </a:t>
            </a:r>
            <a:pPr indent="0" marL="0">
              <a:lnSpc>
                <a:spcPct val="103000"/>
              </a:lnSpc>
              <a:buNone/>
            </a:pPr>
            <a:r>
              <a:rPr lang="en-US" sz="1400" b="1" dirty="0">
                <a:solidFill>
                  <a:srgbClr val="003E7E"/>
                </a:solidFill>
                <a:latin typeface="Calibri" pitchFamily="34" charset="0"/>
                <a:ea typeface="Calibri" pitchFamily="34" charset="-122"/>
                <a:cs typeface="Calibri" pitchFamily="34" charset="-120"/>
              </a:rPr>
              <a:t>Pipeline trích xuất + công cụ đo Skill Gap</a:t>
            </a:r>
            <a:endParaRPr lang="en-US" sz="1400" dirty="0"/>
          </a:p>
        </p:txBody>
      </p:sp>
      <p:sp>
        <p:nvSpPr>
          <p:cNvPr id="19" name="Shape 16"/>
          <p:cNvSpPr/>
          <p:nvPr/>
        </p:nvSpPr>
        <p:spPr>
          <a:xfrm>
            <a:off x="731520" y="4983480"/>
            <a:ext cx="457200" cy="457200"/>
          </a:xfrm>
          <a:prstGeom prst="ellipse">
            <a:avLst/>
          </a:prstGeom>
          <a:solidFill>
            <a:srgbClr val="0C63B4"/>
          </a:solidFill>
          <a:ln/>
        </p:spPr>
      </p:sp>
      <p:sp>
        <p:nvSpPr>
          <p:cNvPr id="20" name="Text 17"/>
          <p:cNvSpPr/>
          <p:nvPr/>
        </p:nvSpPr>
        <p:spPr>
          <a:xfrm>
            <a:off x="731520" y="4983480"/>
            <a:ext cx="45720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Shape 18"/>
          <p:cNvSpPr/>
          <p:nvPr/>
        </p:nvSpPr>
        <p:spPr>
          <a:xfrm>
            <a:off x="1463040" y="4754880"/>
            <a:ext cx="4663440" cy="1234440"/>
          </a:xfrm>
          <a:prstGeom prst="roundRect">
            <a:avLst>
              <a:gd name="adj" fmla="val 5926"/>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22" name="Text 19"/>
          <p:cNvSpPr/>
          <p:nvPr/>
        </p:nvSpPr>
        <p:spPr>
          <a:xfrm>
            <a:off x="1691640" y="4864608"/>
            <a:ext cx="4297680" cy="1005840"/>
          </a:xfrm>
          <a:prstGeom prst="rect">
            <a:avLst/>
          </a:prstGeom>
          <a:noFill/>
          <a:ln/>
        </p:spPr>
        <p:txBody>
          <a:bodyPr wrap="square" rtlCol="0" anchor="ctr"/>
          <a:lstStyle/>
          <a:p>
            <a:pPr indent="0" marL="0">
              <a:lnSpc>
                <a:spcPct val="103000"/>
              </a:lnSpc>
              <a:buNone/>
            </a:pPr>
            <a:r>
              <a:rPr lang="en-US" sz="1400" b="1" dirty="0">
                <a:solidFill>
                  <a:srgbClr val="003E7E"/>
                </a:solidFill>
                <a:latin typeface="Calibri" pitchFamily="34" charset="0"/>
                <a:ea typeface="Calibri" pitchFamily="34" charset="-122"/>
                <a:cs typeface="Calibri" pitchFamily="34" charset="-120"/>
              </a:rPr>
              <a:t>Trực quan hóa  </a:t>
            </a:r>
            <a:pPr indent="0" marL="0">
              <a:lnSpc>
                <a:spcPct val="103000"/>
              </a:lnSpc>
              <a:buNone/>
            </a:pPr>
            <a:r>
              <a:rPr lang="en-US" sz="1400" dirty="0">
                <a:solidFill>
                  <a:srgbClr val="17334D"/>
                </a:solidFill>
                <a:latin typeface="Calibri" pitchFamily="34" charset="0"/>
                <a:ea typeface="Calibri" pitchFamily="34" charset="-122"/>
                <a:cs typeface="Calibri" pitchFamily="34" charset="-120"/>
              </a:rPr>
              <a:t>xu hướng thị trường hỗ trợ ra quyết định</a:t>
            </a:r>
            <a:endParaRPr lang="en-US" sz="1400" dirty="0"/>
          </a:p>
        </p:txBody>
      </p:sp>
      <p:sp>
        <p:nvSpPr>
          <p:cNvPr id="23" name="Shape 20"/>
          <p:cNvSpPr/>
          <p:nvPr/>
        </p:nvSpPr>
        <p:spPr>
          <a:xfrm>
            <a:off x="6355080" y="5212080"/>
            <a:ext cx="502920" cy="320040"/>
          </a:xfrm>
          <a:prstGeom prst="rightArrow">
            <a:avLst/>
          </a:prstGeom>
          <a:solidFill>
            <a:srgbClr val="0C63B4"/>
          </a:solidFill>
          <a:ln/>
        </p:spPr>
      </p:sp>
      <p:sp>
        <p:nvSpPr>
          <p:cNvPr id="24" name="Shape 21"/>
          <p:cNvSpPr/>
          <p:nvPr/>
        </p:nvSpPr>
        <p:spPr>
          <a:xfrm>
            <a:off x="7040880" y="4754880"/>
            <a:ext cx="4480560" cy="1234440"/>
          </a:xfrm>
          <a:prstGeom prst="roundRect">
            <a:avLst>
              <a:gd name="adj" fmla="val 5926"/>
            </a:avLst>
          </a:prstGeom>
          <a:solidFill>
            <a:srgbClr val="FFFFFF"/>
          </a:solidFill>
          <a:ln w="12700">
            <a:solidFill>
              <a:srgbClr val="0C63B4"/>
            </a:solidFill>
            <a:prstDash val="solid"/>
          </a:ln>
          <a:effectLst>
            <a:outerShdw sx="100000" sy="100000" kx="0" ky="0" algn="bl" rotWithShape="0" blurRad="76200" dist="25400" dir="5400000">
              <a:srgbClr val="9FB3C4">
                <a:alpha val="28000"/>
              </a:srgbClr>
            </a:outerShdw>
          </a:effectLst>
        </p:spPr>
      </p:sp>
      <p:sp>
        <p:nvSpPr>
          <p:cNvPr id="25" name="Text 22"/>
          <p:cNvSpPr/>
          <p:nvPr/>
        </p:nvSpPr>
        <p:spPr>
          <a:xfrm>
            <a:off x="7269480" y="4864608"/>
            <a:ext cx="4114800" cy="1005840"/>
          </a:xfrm>
          <a:prstGeom prst="rect">
            <a:avLst/>
          </a:prstGeom>
          <a:noFill/>
          <a:ln/>
        </p:spPr>
        <p:txBody>
          <a:bodyPr wrap="square" rtlCol="0" anchor="ctr"/>
          <a:lstStyle/>
          <a:p>
            <a:pPr indent="0" marL="0">
              <a:lnSpc>
                <a:spcPct val="103000"/>
              </a:lnSpc>
              <a:buNone/>
            </a:pPr>
            <a:r>
              <a:rPr lang="en-US" sz="1400" b="1" dirty="0">
                <a:solidFill>
                  <a:srgbClr val="0C63B4"/>
                </a:solidFill>
                <a:latin typeface="Calibri" pitchFamily="34" charset="0"/>
                <a:ea typeface="Calibri" pitchFamily="34" charset="-122"/>
                <a:cs typeface="Calibri" pitchFamily="34" charset="-120"/>
              </a:rPr>
              <a:t>Kết quả 3: </a:t>
            </a:r>
            <a:pPr indent="0" marL="0">
              <a:lnSpc>
                <a:spcPct val="103000"/>
              </a:lnSpc>
              <a:buNone/>
            </a:pPr>
            <a:r>
              <a:rPr lang="en-US" sz="1400" b="1" dirty="0">
                <a:solidFill>
                  <a:srgbClr val="003E7E"/>
                </a:solidFill>
                <a:latin typeface="Calibri" pitchFamily="34" charset="0"/>
                <a:ea typeface="Calibri" pitchFamily="34" charset="-122"/>
                <a:cs typeface="Calibri" pitchFamily="34" charset="-120"/>
              </a:rPr>
              <a:t>Web CareerNova + Dashboard đã triển khai thật</a:t>
            </a:r>
            <a:endParaRPr lang="en-US" sz="1400" dirty="0"/>
          </a:p>
        </p:txBody>
      </p:sp>
      <p:sp>
        <p:nvSpPr>
          <p:cNvPr id="26" name="Text 23"/>
          <p:cNvSpPr/>
          <p:nvPr/>
        </p:nvSpPr>
        <p:spPr>
          <a:xfrm>
            <a:off x="731520" y="6309360"/>
            <a:ext cx="10972800" cy="320040"/>
          </a:xfrm>
          <a:prstGeom prst="rect">
            <a:avLst/>
          </a:prstGeom>
          <a:noFill/>
          <a:ln/>
        </p:spPr>
        <p:txBody>
          <a:bodyPr wrap="square" rtlCol="0" anchor="ctr"/>
          <a:lstStyle/>
          <a:p>
            <a:pPr indent="0" marL="0">
              <a:buNone/>
            </a:pPr>
            <a:r>
              <a:rPr lang="en-US" sz="1250" i="1" dirty="0">
                <a:solidFill>
                  <a:srgbClr val="5C6B7A"/>
                </a:solidFill>
                <a:latin typeface="Calibri" pitchFamily="34" charset="0"/>
                <a:ea typeface="Calibri" pitchFamily="34" charset="-122"/>
                <a:cs typeface="Calibri" pitchFamily="34" charset="-120"/>
              </a:rPr>
              <a:t>Phạm vi: ngành CNTT, thị trường Việt Nam · Đối tượng: sinh viên năm cuối / mới ra trường</a:t>
            </a:r>
            <a:endParaRPr lang="en-US" sz="1250" dirty="0"/>
          </a:p>
        </p:txBody>
      </p:sp>
      <p:sp>
        <p:nvSpPr>
          <p:cNvPr id="28" name="Text 2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29" name="Text 2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E7E"/>
        </a:solidFill>
      </p:bgPr>
    </p:bg>
    <p:spTree>
      <p:nvGrpSpPr>
        <p:cNvPr id="1" name=""/>
        <p:cNvGrpSpPr/>
        <p:nvPr/>
      </p:nvGrpSpPr>
      <p:grpSpPr>
        <a:xfrm>
          <a:off x="0" y="0"/>
          <a:ext cx="0" cy="0"/>
          <a:chOff x="0" y="0"/>
          <a:chExt cx="0" cy="0"/>
        </a:xfrm>
      </p:grpSpPr>
      <p:sp>
        <p:nvSpPr>
          <p:cNvPr id="2" name="Shape 0"/>
          <p:cNvSpPr/>
          <p:nvPr/>
        </p:nvSpPr>
        <p:spPr>
          <a:xfrm>
            <a:off x="8961120" y="3108960"/>
            <a:ext cx="6400800" cy="6400800"/>
          </a:xfrm>
          <a:prstGeom prst="ellipse">
            <a:avLst/>
          </a:prstGeom>
          <a:solidFill>
            <a:srgbClr val="0A56A0"/>
          </a:solidFill>
          <a:ln/>
        </p:spPr>
      </p:sp>
      <p:sp>
        <p:nvSpPr>
          <p:cNvPr id="3" name="Text 1"/>
          <p:cNvSpPr/>
          <p:nvPr/>
        </p:nvSpPr>
        <p:spPr>
          <a:xfrm>
            <a:off x="640080" y="1554480"/>
            <a:ext cx="3657600" cy="2377440"/>
          </a:xfrm>
          <a:prstGeom prst="rect">
            <a:avLst/>
          </a:prstGeom>
          <a:noFill/>
          <a:ln/>
        </p:spPr>
        <p:txBody>
          <a:bodyPr wrap="square" rtlCol="0" anchor="ctr"/>
          <a:lstStyle/>
          <a:p>
            <a:pPr indent="0" marL="0">
              <a:buNone/>
            </a:pPr>
            <a:r>
              <a:rPr lang="en-US" sz="15000" b="1" dirty="0">
                <a:solidFill>
                  <a:srgbClr val="1E88D6"/>
                </a:solidFill>
                <a:latin typeface="Cambria" pitchFamily="34" charset="0"/>
                <a:ea typeface="Cambria" pitchFamily="34" charset="-122"/>
                <a:cs typeface="Cambria" pitchFamily="34" charset="-120"/>
              </a:rPr>
              <a:t>02</a:t>
            </a:r>
            <a:endParaRPr lang="en-US" sz="15000" dirty="0"/>
          </a:p>
        </p:txBody>
      </p:sp>
      <p:sp>
        <p:nvSpPr>
          <p:cNvPr id="4" name="Text 2"/>
          <p:cNvSpPr/>
          <p:nvPr/>
        </p:nvSpPr>
        <p:spPr>
          <a:xfrm>
            <a:off x="3200400" y="2286000"/>
            <a:ext cx="8412480" cy="109728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Giải pháp &amp; Phương pháp</a:t>
            </a:r>
            <a:endParaRPr lang="en-US" sz="4000" dirty="0"/>
          </a:p>
        </p:txBody>
      </p:sp>
      <p:sp>
        <p:nvSpPr>
          <p:cNvPr id="5" name="Text 3"/>
          <p:cNvSpPr/>
          <p:nvPr/>
        </p:nvSpPr>
        <p:spPr>
          <a:xfrm>
            <a:off x="3246120" y="3383280"/>
            <a:ext cx="8229600" cy="548640"/>
          </a:xfrm>
          <a:prstGeom prst="rect">
            <a:avLst/>
          </a:prstGeom>
          <a:noFill/>
          <a:ln/>
        </p:spPr>
        <p:txBody>
          <a:bodyPr wrap="square" rtlCol="0" anchor="ctr"/>
          <a:lstStyle/>
          <a:p>
            <a:pPr indent="0" marL="0">
              <a:buNone/>
            </a:pPr>
            <a:r>
              <a:rPr lang="en-US" sz="1600" dirty="0">
                <a:solidFill>
                  <a:srgbClr val="CBDEF5"/>
                </a:solidFill>
                <a:latin typeface="Calibri" pitchFamily="34" charset="0"/>
                <a:ea typeface="Calibri" pitchFamily="34" charset="-122"/>
                <a:cs typeface="Calibri" pitchFamily="34" charset="-120"/>
              </a:rPr>
              <a:t>Chuỗi kỹ thuật: thu thập → trích xuất → so khớp → trực quan</a:t>
            </a:r>
            <a:endParaRPr lang="en-US" sz="1600" dirty="0"/>
          </a:p>
        </p:txBody>
      </p:sp>
      <p:sp>
        <p:nvSpPr>
          <p:cNvPr id="6" name="Text 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9FB3C4"/>
                </a:solidFill>
                <a:latin typeface="Calibri" pitchFamily="34" charset="0"/>
                <a:ea typeface="Calibri" pitchFamily="34" charset="-122"/>
                <a:cs typeface="Calibri" pitchFamily="34" charset="-120"/>
              </a:rPr>
              <a:t>CareerNova · KLTN 2026</a:t>
            </a:r>
            <a:endParaRPr lang="en-US" sz="900" dirty="0"/>
          </a:p>
        </p:txBody>
      </p:sp>
      <p:sp>
        <p:nvSpPr>
          <p:cNvPr id="7"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9FB3C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KIẾN TRÚC HỆ THỐNG</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Kiến trúc tổng thể của CareerNova</a:t>
            </a:r>
            <a:endParaRPr lang="en-US" sz="3000" dirty="0"/>
          </a:p>
        </p:txBody>
      </p:sp>
      <p:sp>
        <p:nvSpPr>
          <p:cNvPr id="5" name="Shape 2"/>
          <p:cNvSpPr/>
          <p:nvPr/>
        </p:nvSpPr>
        <p:spPr>
          <a:xfrm>
            <a:off x="731520" y="1737360"/>
            <a:ext cx="10698480" cy="3246120"/>
          </a:xfrm>
          <a:prstGeom prst="roundRect">
            <a:avLst>
              <a:gd name="adj" fmla="val 1690"/>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6" name="Image 1" descr="/private/tmp/claude-501/-Users-ymytr-nova/5e161095-2610-40a0-961d-5450e47dcdec/scratchpad/build/system_architecture.png">    </p:cNvPr>
          <p:cNvPicPr>
            <a:picLocks noChangeAspect="1"/>
          </p:cNvPicPr>
          <p:nvPr/>
        </p:nvPicPr>
        <p:blipFill>
          <a:blip r:embed="rId2"/>
          <a:stretch>
            <a:fillRect/>
          </a:stretch>
        </p:blipFill>
        <p:spPr>
          <a:xfrm>
            <a:off x="1845462" y="1847088"/>
            <a:ext cx="8470597" cy="3026664"/>
          </a:xfrm>
          <a:prstGeom prst="rect">
            <a:avLst/>
          </a:prstGeom>
        </p:spPr>
      </p:pic>
      <p:sp>
        <p:nvSpPr>
          <p:cNvPr id="7" name="Text 3"/>
          <p:cNvSpPr/>
          <p:nvPr/>
        </p:nvSpPr>
        <p:spPr>
          <a:xfrm>
            <a:off x="731520" y="5212080"/>
            <a:ext cx="10789920" cy="914400"/>
          </a:xfrm>
          <a:prstGeom prst="rect">
            <a:avLst/>
          </a:prstGeom>
          <a:noFill/>
          <a:ln/>
        </p:spPr>
        <p:txBody>
          <a:bodyPr wrap="square" rtlCol="0" anchor="t"/>
          <a:lstStyle/>
          <a:p>
            <a:pPr indent="0" marL="0">
              <a:lnSpc>
                <a:spcPct val="105000"/>
              </a:lnSpc>
              <a:buNone/>
            </a:pPr>
            <a:r>
              <a:rPr lang="en-US" sz="1400" b="1" dirty="0">
                <a:solidFill>
                  <a:srgbClr val="0C63B4"/>
                </a:solidFill>
                <a:latin typeface="Calibri" pitchFamily="34" charset="0"/>
                <a:ea typeface="Calibri" pitchFamily="34" charset="-122"/>
                <a:cs typeface="Calibri" pitchFamily="34" charset="-120"/>
              </a:rPr>
              <a:t>Đóng góp thiết kế:  </a:t>
            </a:r>
            <a:pPr indent="0" marL="0">
              <a:lnSpc>
                <a:spcPct val="105000"/>
              </a:lnSpc>
              <a:buNone/>
            </a:pPr>
            <a:r>
              <a:rPr lang="en-US" sz="1400" dirty="0">
                <a:solidFill>
                  <a:srgbClr val="17334D"/>
                </a:solidFill>
                <a:latin typeface="Calibri" pitchFamily="34" charset="0"/>
                <a:ea typeface="Calibri" pitchFamily="34" charset="-122"/>
                <a:cs typeface="Calibri" pitchFamily="34" charset="-120"/>
              </a:rPr>
              <a:t>tách riêng </a:t>
            </a:r>
            <a:pPr indent="0" marL="0">
              <a:lnSpc>
                <a:spcPct val="105000"/>
              </a:lnSpc>
              <a:buNone/>
            </a:pPr>
            <a:r>
              <a:rPr lang="en-US" sz="1400" b="1" dirty="0">
                <a:solidFill>
                  <a:srgbClr val="003E7E"/>
                </a:solidFill>
                <a:latin typeface="Calibri" pitchFamily="34" charset="0"/>
                <a:ea typeface="Calibri" pitchFamily="34" charset="-122"/>
                <a:cs typeface="Calibri" pitchFamily="34" charset="-120"/>
              </a:rPr>
              <a:t>nova-algo-api</a:t>
            </a:r>
            <a:pPr indent="0" marL="0">
              <a:lnSpc>
                <a:spcPct val="105000"/>
              </a:lnSpc>
              <a:buNone/>
            </a:pPr>
            <a:r>
              <a:rPr lang="en-US" sz="1400" dirty="0">
                <a:solidFill>
                  <a:srgbClr val="17334D"/>
                </a:solidFill>
                <a:latin typeface="Calibri" pitchFamily="34" charset="0"/>
                <a:ea typeface="Calibri" pitchFamily="34" charset="-122"/>
                <a:cs typeface="Calibri" pitchFamily="34" charset="-120"/>
              </a:rPr>
              <a:t> để xử lý AI nặng (trích xuất + so khớp) và áp cache — Frontend/Backend luôn phản hồi nhanh.</a:t>
            </a:r>
            <a:endParaRPr lang="en-US" sz="1400" dirty="0"/>
          </a:p>
        </p:txBody>
      </p:sp>
      <p:sp>
        <p:nvSpPr>
          <p:cNvPr id="9" name="Text 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10"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QUY TRÌNH DỮ LIỆU (ETL)</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Thu thập → làm sạch → chuẩn hóa → khử trùng lặp</a:t>
            </a:r>
            <a:endParaRPr lang="en-US" sz="3000" dirty="0"/>
          </a:p>
        </p:txBody>
      </p:sp>
      <p:sp>
        <p:nvSpPr>
          <p:cNvPr id="5" name="Shape 2"/>
          <p:cNvSpPr/>
          <p:nvPr/>
        </p:nvSpPr>
        <p:spPr>
          <a:xfrm>
            <a:off x="731520" y="1691640"/>
            <a:ext cx="6903720" cy="3383280"/>
          </a:xfrm>
          <a:prstGeom prst="roundRect">
            <a:avLst>
              <a:gd name="adj" fmla="val 1622"/>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6" name="Image 1" descr="/private/tmp/claude-501/-Users-ymytr-nova/5e161095-2610-40a0-961d-5450e47dcdec/scratchpad/build/sequence_etl_process.png">    </p:cNvPr>
          <p:cNvPicPr>
            <a:picLocks noChangeAspect="1"/>
          </p:cNvPicPr>
          <p:nvPr/>
        </p:nvPicPr>
        <p:blipFill>
          <a:blip r:embed="rId2"/>
          <a:stretch>
            <a:fillRect/>
          </a:stretch>
        </p:blipFill>
        <p:spPr>
          <a:xfrm>
            <a:off x="841248" y="1846349"/>
            <a:ext cx="6684264" cy="3073861"/>
          </a:xfrm>
          <a:prstGeom prst="rect">
            <a:avLst/>
          </a:prstGeom>
        </p:spPr>
      </p:pic>
      <p:sp>
        <p:nvSpPr>
          <p:cNvPr id="7" name="Shape 3"/>
          <p:cNvSpPr/>
          <p:nvPr/>
        </p:nvSpPr>
        <p:spPr>
          <a:xfrm>
            <a:off x="7818120" y="1691640"/>
            <a:ext cx="3703320" cy="3383280"/>
          </a:xfrm>
          <a:prstGeom prst="roundRect">
            <a:avLst>
              <a:gd name="adj" fmla="val 2162"/>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8" name="Text 4"/>
          <p:cNvSpPr/>
          <p:nvPr/>
        </p:nvSpPr>
        <p:spPr>
          <a:xfrm>
            <a:off x="8046720" y="1874520"/>
            <a:ext cx="3291840" cy="365760"/>
          </a:xfrm>
          <a:prstGeom prst="rect">
            <a:avLst/>
          </a:prstGeom>
          <a:noFill/>
          <a:ln/>
        </p:spPr>
        <p:txBody>
          <a:bodyPr wrap="square" rtlCol="0" anchor="ctr"/>
          <a:lstStyle/>
          <a:p>
            <a:pPr indent="0" marL="0">
              <a:buNone/>
            </a:pPr>
            <a:r>
              <a:rPr lang="en-US" sz="1500" b="1" dirty="0">
                <a:solidFill>
                  <a:srgbClr val="003E7E"/>
                </a:solidFill>
                <a:latin typeface="Cambria" pitchFamily="34" charset="0"/>
                <a:ea typeface="Cambria" pitchFamily="34" charset="-122"/>
                <a:cs typeface="Cambria" pitchFamily="34" charset="-120"/>
              </a:rPr>
              <a:t>Dữ liệu thật (14/07/2026)</a:t>
            </a:r>
            <a:endParaRPr lang="en-US" sz="1500" dirty="0"/>
          </a:p>
        </p:txBody>
      </p:sp>
      <p:sp>
        <p:nvSpPr>
          <p:cNvPr id="9" name="Text 5"/>
          <p:cNvSpPr/>
          <p:nvPr/>
        </p:nvSpPr>
        <p:spPr>
          <a:xfrm>
            <a:off x="8046720" y="2286000"/>
            <a:ext cx="3200400" cy="502920"/>
          </a:xfrm>
          <a:prstGeom prst="rect">
            <a:avLst/>
          </a:prstGeom>
          <a:noFill/>
          <a:ln/>
        </p:spPr>
        <p:txBody>
          <a:bodyPr wrap="square" rtlCol="0" anchor="ctr"/>
          <a:lstStyle/>
          <a:p>
            <a:pPr indent="0" marL="0">
              <a:buNone/>
            </a:pPr>
            <a:r>
              <a:rPr lang="en-US" sz="3200" b="1" dirty="0">
                <a:solidFill>
                  <a:srgbClr val="0C63B4"/>
                </a:solidFill>
                <a:latin typeface="Cambria" pitchFamily="34" charset="0"/>
                <a:ea typeface="Cambria" pitchFamily="34" charset="-122"/>
                <a:cs typeface="Cambria" pitchFamily="34" charset="-120"/>
              </a:rPr>
              <a:t>7.245</a:t>
            </a:r>
            <a:endParaRPr lang="en-US" sz="3200" dirty="0"/>
          </a:p>
        </p:txBody>
      </p:sp>
      <p:sp>
        <p:nvSpPr>
          <p:cNvPr id="10" name="Text 6"/>
          <p:cNvSpPr/>
          <p:nvPr/>
        </p:nvSpPr>
        <p:spPr>
          <a:xfrm>
            <a:off x="8046720" y="2788920"/>
            <a:ext cx="3200400" cy="320040"/>
          </a:xfrm>
          <a:prstGeom prst="rect">
            <a:avLst/>
          </a:prstGeom>
          <a:noFill/>
          <a:ln/>
        </p:spPr>
        <p:txBody>
          <a:bodyPr wrap="square" rtlCol="0" anchor="ctr"/>
          <a:lstStyle/>
          <a:p>
            <a:pPr indent="0" marL="0">
              <a:buNone/>
            </a:pPr>
            <a:r>
              <a:rPr lang="en-US" sz="1200" dirty="0">
                <a:solidFill>
                  <a:srgbClr val="5C6B7A"/>
                </a:solidFill>
                <a:latin typeface="Calibri" pitchFamily="34" charset="0"/>
                <a:ea typeface="Calibri" pitchFamily="34" charset="-122"/>
                <a:cs typeface="Calibri" pitchFamily="34" charset="-120"/>
              </a:rPr>
              <a:t>tin tuyển dụng đã lưu</a:t>
            </a:r>
            <a:endParaRPr lang="en-US" sz="1200" dirty="0"/>
          </a:p>
        </p:txBody>
      </p:sp>
      <p:sp>
        <p:nvSpPr>
          <p:cNvPr id="11" name="Text 7"/>
          <p:cNvSpPr/>
          <p:nvPr/>
        </p:nvSpPr>
        <p:spPr>
          <a:xfrm>
            <a:off x="8046720" y="3182112"/>
            <a:ext cx="3200400" cy="502920"/>
          </a:xfrm>
          <a:prstGeom prst="rect">
            <a:avLst/>
          </a:prstGeom>
          <a:noFill/>
          <a:ln/>
        </p:spPr>
        <p:txBody>
          <a:bodyPr wrap="square" rtlCol="0" anchor="ctr"/>
          <a:lstStyle/>
          <a:p>
            <a:pPr indent="0" marL="0">
              <a:buNone/>
            </a:pPr>
            <a:r>
              <a:rPr lang="en-US" sz="3200" b="1" dirty="0">
                <a:solidFill>
                  <a:srgbClr val="0C63B4"/>
                </a:solidFill>
                <a:latin typeface="Cambria" pitchFamily="34" charset="0"/>
                <a:ea typeface="Cambria" pitchFamily="34" charset="-122"/>
                <a:cs typeface="Cambria" pitchFamily="34" charset="-120"/>
              </a:rPr>
              <a:t>3.511</a:t>
            </a:r>
            <a:endParaRPr lang="en-US" sz="3200" dirty="0"/>
          </a:p>
        </p:txBody>
      </p:sp>
      <p:sp>
        <p:nvSpPr>
          <p:cNvPr id="12" name="Text 8"/>
          <p:cNvSpPr/>
          <p:nvPr/>
        </p:nvSpPr>
        <p:spPr>
          <a:xfrm>
            <a:off x="8046720" y="3685032"/>
            <a:ext cx="3200400" cy="320040"/>
          </a:xfrm>
          <a:prstGeom prst="rect">
            <a:avLst/>
          </a:prstGeom>
          <a:noFill/>
          <a:ln/>
        </p:spPr>
        <p:txBody>
          <a:bodyPr wrap="square" rtlCol="0" anchor="ctr"/>
          <a:lstStyle/>
          <a:p>
            <a:pPr indent="0" marL="0">
              <a:buNone/>
            </a:pPr>
            <a:r>
              <a:rPr lang="en-US" sz="1200" dirty="0">
                <a:solidFill>
                  <a:srgbClr val="5C6B7A"/>
                </a:solidFill>
                <a:latin typeface="Calibri" pitchFamily="34" charset="0"/>
                <a:ea typeface="Calibri" pitchFamily="34" charset="-122"/>
                <a:cs typeface="Calibri" pitchFamily="34" charset="-120"/>
              </a:rPr>
              <a:t>công ty (đã gộp nhóm)</a:t>
            </a:r>
            <a:endParaRPr lang="en-US" sz="1200" dirty="0"/>
          </a:p>
        </p:txBody>
      </p:sp>
      <p:sp>
        <p:nvSpPr>
          <p:cNvPr id="13" name="Text 9"/>
          <p:cNvSpPr/>
          <p:nvPr/>
        </p:nvSpPr>
        <p:spPr>
          <a:xfrm>
            <a:off x="8046720" y="4078224"/>
            <a:ext cx="3200400" cy="502920"/>
          </a:xfrm>
          <a:prstGeom prst="rect">
            <a:avLst/>
          </a:prstGeom>
          <a:noFill/>
          <a:ln/>
        </p:spPr>
        <p:txBody>
          <a:bodyPr wrap="square" rtlCol="0" anchor="ctr"/>
          <a:lstStyle/>
          <a:p>
            <a:pPr indent="0" marL="0">
              <a:buNone/>
            </a:pPr>
            <a:r>
              <a:rPr lang="en-US" sz="3200" b="1" dirty="0">
                <a:solidFill>
                  <a:srgbClr val="0C63B4"/>
                </a:solidFill>
                <a:latin typeface="Cambria" pitchFamily="34" charset="0"/>
                <a:ea typeface="Cambria" pitchFamily="34" charset="-122"/>
                <a:cs typeface="Cambria" pitchFamily="34" charset="-120"/>
              </a:rPr>
              <a:t>6.048</a:t>
            </a:r>
            <a:endParaRPr lang="en-US" sz="3200" dirty="0"/>
          </a:p>
        </p:txBody>
      </p:sp>
      <p:sp>
        <p:nvSpPr>
          <p:cNvPr id="14" name="Text 10"/>
          <p:cNvSpPr/>
          <p:nvPr/>
        </p:nvSpPr>
        <p:spPr>
          <a:xfrm>
            <a:off x="8046720" y="4581144"/>
            <a:ext cx="3200400" cy="320040"/>
          </a:xfrm>
          <a:prstGeom prst="rect">
            <a:avLst/>
          </a:prstGeom>
          <a:noFill/>
          <a:ln/>
        </p:spPr>
        <p:txBody>
          <a:bodyPr wrap="square" rtlCol="0" anchor="ctr"/>
          <a:lstStyle/>
          <a:p>
            <a:pPr indent="0" marL="0">
              <a:buNone/>
            </a:pPr>
            <a:r>
              <a:rPr lang="en-US" sz="1200" dirty="0">
                <a:solidFill>
                  <a:srgbClr val="5C6B7A"/>
                </a:solidFill>
                <a:latin typeface="Calibri" pitchFamily="34" charset="0"/>
                <a:ea typeface="Calibri" pitchFamily="34" charset="-122"/>
                <a:cs typeface="Calibri" pitchFamily="34" charset="-120"/>
              </a:rPr>
              <a:t>kỹ năng chuẩn hóa</a:t>
            </a:r>
            <a:endParaRPr lang="en-US" sz="1200" dirty="0"/>
          </a:p>
        </p:txBody>
      </p:sp>
      <p:sp>
        <p:nvSpPr>
          <p:cNvPr id="15" name="Text 11"/>
          <p:cNvSpPr/>
          <p:nvPr/>
        </p:nvSpPr>
        <p:spPr>
          <a:xfrm>
            <a:off x="731520" y="5257800"/>
            <a:ext cx="10789920" cy="914400"/>
          </a:xfrm>
          <a:prstGeom prst="rect">
            <a:avLst/>
          </a:prstGeom>
          <a:noFill/>
          <a:ln/>
        </p:spPr>
        <p:txBody>
          <a:bodyPr wrap="square" rtlCol="0" anchor="t"/>
          <a:lstStyle/>
          <a:p>
            <a:pPr indent="0" marL="0">
              <a:lnSpc>
                <a:spcPct val="105000"/>
              </a:lnSpc>
              <a:buNone/>
            </a:pPr>
            <a:r>
              <a:rPr lang="en-US" sz="1400" b="1" dirty="0">
                <a:solidFill>
                  <a:srgbClr val="0C63B4"/>
                </a:solidFill>
                <a:latin typeface="Calibri" pitchFamily="34" charset="0"/>
                <a:ea typeface="Calibri" pitchFamily="34" charset="-122"/>
                <a:cs typeface="Calibri" pitchFamily="34" charset="-120"/>
              </a:rPr>
              <a:t>Vì sao cần chuẩn hóa?  </a:t>
            </a:r>
            <a:pPr indent="0" marL="0">
              <a:lnSpc>
                <a:spcPct val="105000"/>
              </a:lnSpc>
              <a:buNone/>
            </a:pPr>
            <a:r>
              <a:rPr lang="en-US" sz="1400" dirty="0">
                <a:solidFill>
                  <a:srgbClr val="17334D"/>
                </a:solidFill>
                <a:latin typeface="Calibri" pitchFamily="34" charset="0"/>
                <a:ea typeface="Calibri" pitchFamily="34" charset="-122"/>
                <a:cs typeface="Calibri" pitchFamily="34" charset="-120"/>
              </a:rPr>
              <a:t>“React.js / ReactJS / react” phải quy về một thực thể thì thống kê thị trường mới đúng. Khử trùng lặp bằng TF-IDF + Cosine (θ=0,8).</a:t>
            </a:r>
            <a:endParaRPr lang="en-US" sz="1400" dirty="0"/>
          </a:p>
        </p:txBody>
      </p:sp>
      <p:sp>
        <p:nvSpPr>
          <p:cNvPr id="17" name="Text 12"/>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18" name="Text 13"/>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TRÍCH XUẤT KỸ NĂNG</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Kết hợp LLM và hậu kiểm bằng chứng để chống “ảo giác”</a:t>
            </a:r>
            <a:endParaRPr lang="en-US" sz="3000" dirty="0"/>
          </a:p>
        </p:txBody>
      </p:sp>
      <p:sp>
        <p:nvSpPr>
          <p:cNvPr id="5" name="Shape 2"/>
          <p:cNvSpPr/>
          <p:nvPr/>
        </p:nvSpPr>
        <p:spPr>
          <a:xfrm>
            <a:off x="731520" y="1828800"/>
            <a:ext cx="2514600" cy="2286000"/>
          </a:xfrm>
          <a:prstGeom prst="roundRect">
            <a:avLst>
              <a:gd name="adj" fmla="val 3200"/>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Shape 3"/>
          <p:cNvSpPr/>
          <p:nvPr/>
        </p:nvSpPr>
        <p:spPr>
          <a:xfrm>
            <a:off x="960120" y="2057400"/>
            <a:ext cx="402336" cy="402336"/>
          </a:xfrm>
          <a:prstGeom prst="ellipse">
            <a:avLst/>
          </a:prstGeom>
          <a:solidFill>
            <a:srgbClr val="0C63B4"/>
          </a:solidFill>
          <a:ln/>
        </p:spPr>
      </p:sp>
      <p:sp>
        <p:nvSpPr>
          <p:cNvPr id="7" name="Text 4"/>
          <p:cNvSpPr/>
          <p:nvPr/>
        </p:nvSpPr>
        <p:spPr>
          <a:xfrm>
            <a:off x="960120"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932688" y="2606040"/>
            <a:ext cx="2148840" cy="731520"/>
          </a:xfrm>
          <a:prstGeom prst="rect">
            <a:avLst/>
          </a:prstGeom>
          <a:noFill/>
          <a:ln/>
        </p:spPr>
        <p:txBody>
          <a:bodyPr wrap="square" rtlCol="0" anchor="t"/>
          <a:lstStyle/>
          <a:p>
            <a:pPr indent="0" marL="0">
              <a:buNone/>
            </a:pPr>
            <a:r>
              <a:rPr lang="en-US" sz="1450" b="1" dirty="0">
                <a:solidFill>
                  <a:srgbClr val="003E7E"/>
                </a:solidFill>
                <a:latin typeface="Cambria" pitchFamily="34" charset="0"/>
                <a:ea typeface="Cambria" pitchFamily="34" charset="-122"/>
                <a:cs typeface="Cambria" pitchFamily="34" charset="-120"/>
              </a:rPr>
              <a:t>Văn bản CV / JD</a:t>
            </a:r>
            <a:endParaRPr lang="en-US" sz="1450" dirty="0"/>
          </a:p>
        </p:txBody>
      </p:sp>
      <p:sp>
        <p:nvSpPr>
          <p:cNvPr id="9" name="Text 6"/>
          <p:cNvSpPr/>
          <p:nvPr/>
        </p:nvSpPr>
        <p:spPr>
          <a:xfrm>
            <a:off x="932688" y="3337560"/>
            <a:ext cx="2148840" cy="685800"/>
          </a:xfrm>
          <a:prstGeom prst="rect">
            <a:avLst/>
          </a:prstGeom>
          <a:noFill/>
          <a:ln/>
        </p:spPr>
        <p:txBody>
          <a:bodyPr wrap="square" rtlCol="0" anchor="t"/>
          <a:lstStyle/>
          <a:p>
            <a:pPr indent="0" marL="0">
              <a:lnSpc>
                <a:spcPct val="103000"/>
              </a:lnSpc>
              <a:buNone/>
            </a:pPr>
            <a:r>
              <a:rPr lang="en-US" sz="1200" dirty="0">
                <a:solidFill>
                  <a:srgbClr val="17334D"/>
                </a:solidFill>
                <a:latin typeface="Calibri" pitchFamily="34" charset="0"/>
                <a:ea typeface="Calibri" pitchFamily="34" charset="-122"/>
                <a:cs typeface="Calibri" pitchFamily="34" charset="-120"/>
              </a:rPr>
              <a:t>OCR (nếu ảnh) → văn bản thô</a:t>
            </a:r>
            <a:endParaRPr lang="en-US" sz="1200" dirty="0"/>
          </a:p>
        </p:txBody>
      </p:sp>
      <p:sp>
        <p:nvSpPr>
          <p:cNvPr id="10" name="Shape 7"/>
          <p:cNvSpPr/>
          <p:nvPr/>
        </p:nvSpPr>
        <p:spPr>
          <a:xfrm>
            <a:off x="3273552" y="2788920"/>
            <a:ext cx="292608" cy="292608"/>
          </a:xfrm>
          <a:prstGeom prst="rightArrow">
            <a:avLst/>
          </a:prstGeom>
          <a:solidFill>
            <a:srgbClr val="0C63B4"/>
          </a:solidFill>
          <a:ln/>
        </p:spPr>
      </p:sp>
      <p:sp>
        <p:nvSpPr>
          <p:cNvPr id="11" name="Shape 8"/>
          <p:cNvSpPr/>
          <p:nvPr/>
        </p:nvSpPr>
        <p:spPr>
          <a:xfrm>
            <a:off x="3538728" y="1828800"/>
            <a:ext cx="2514600" cy="2286000"/>
          </a:xfrm>
          <a:prstGeom prst="roundRect">
            <a:avLst>
              <a:gd name="adj" fmla="val 3200"/>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2" name="Shape 9"/>
          <p:cNvSpPr/>
          <p:nvPr/>
        </p:nvSpPr>
        <p:spPr>
          <a:xfrm>
            <a:off x="3767328" y="2057400"/>
            <a:ext cx="402336" cy="402336"/>
          </a:xfrm>
          <a:prstGeom prst="ellipse">
            <a:avLst/>
          </a:prstGeom>
          <a:solidFill>
            <a:srgbClr val="0C63B4"/>
          </a:solidFill>
          <a:ln/>
        </p:spPr>
      </p:sp>
      <p:sp>
        <p:nvSpPr>
          <p:cNvPr id="13" name="Text 10"/>
          <p:cNvSpPr/>
          <p:nvPr/>
        </p:nvSpPr>
        <p:spPr>
          <a:xfrm>
            <a:off x="3767328"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3739896" y="2606040"/>
            <a:ext cx="2148840" cy="731520"/>
          </a:xfrm>
          <a:prstGeom prst="rect">
            <a:avLst/>
          </a:prstGeom>
          <a:noFill/>
          <a:ln/>
        </p:spPr>
        <p:txBody>
          <a:bodyPr wrap="square" rtlCol="0" anchor="t"/>
          <a:lstStyle/>
          <a:p>
            <a:pPr indent="0" marL="0">
              <a:buNone/>
            </a:pPr>
            <a:r>
              <a:rPr lang="en-US" sz="1450" b="1" dirty="0">
                <a:solidFill>
                  <a:srgbClr val="003E7E"/>
                </a:solidFill>
                <a:latin typeface="Cambria" pitchFamily="34" charset="0"/>
                <a:ea typeface="Cambria" pitchFamily="34" charset="-122"/>
                <a:cs typeface="Cambria" pitchFamily="34" charset="-120"/>
              </a:rPr>
              <a:t>Gemini · Structured Output</a:t>
            </a:r>
            <a:endParaRPr lang="en-US" sz="1450" dirty="0"/>
          </a:p>
        </p:txBody>
      </p:sp>
      <p:sp>
        <p:nvSpPr>
          <p:cNvPr id="15" name="Text 12"/>
          <p:cNvSpPr/>
          <p:nvPr/>
        </p:nvSpPr>
        <p:spPr>
          <a:xfrm>
            <a:off x="3739896" y="3337560"/>
            <a:ext cx="2148840" cy="685800"/>
          </a:xfrm>
          <a:prstGeom prst="rect">
            <a:avLst/>
          </a:prstGeom>
          <a:noFill/>
          <a:ln/>
        </p:spPr>
        <p:txBody>
          <a:bodyPr wrap="square" rtlCol="0" anchor="t"/>
          <a:lstStyle/>
          <a:p>
            <a:pPr indent="0" marL="0">
              <a:lnSpc>
                <a:spcPct val="103000"/>
              </a:lnSpc>
              <a:buNone/>
            </a:pPr>
            <a:r>
              <a:rPr lang="en-US" sz="1200" dirty="0">
                <a:solidFill>
                  <a:srgbClr val="17334D"/>
                </a:solidFill>
                <a:latin typeface="Calibri" pitchFamily="34" charset="0"/>
                <a:ea typeface="Calibri" pitchFamily="34" charset="-122"/>
                <a:cs typeface="Calibri" pitchFamily="34" charset="-120"/>
              </a:rPr>
              <a:t>JSON schema, temperature = 0 → kỹ năng + evidence</a:t>
            </a:r>
            <a:endParaRPr lang="en-US" sz="1200" dirty="0"/>
          </a:p>
        </p:txBody>
      </p:sp>
      <p:sp>
        <p:nvSpPr>
          <p:cNvPr id="16" name="Shape 13"/>
          <p:cNvSpPr/>
          <p:nvPr/>
        </p:nvSpPr>
        <p:spPr>
          <a:xfrm>
            <a:off x="6080760" y="2788920"/>
            <a:ext cx="292608" cy="292608"/>
          </a:xfrm>
          <a:prstGeom prst="rightArrow">
            <a:avLst/>
          </a:prstGeom>
          <a:solidFill>
            <a:srgbClr val="0C63B4"/>
          </a:solidFill>
          <a:ln/>
        </p:spPr>
      </p:sp>
      <p:sp>
        <p:nvSpPr>
          <p:cNvPr id="17" name="Shape 14"/>
          <p:cNvSpPr/>
          <p:nvPr/>
        </p:nvSpPr>
        <p:spPr>
          <a:xfrm>
            <a:off x="6345936" y="1828800"/>
            <a:ext cx="2514600" cy="2286000"/>
          </a:xfrm>
          <a:prstGeom prst="roundRect">
            <a:avLst>
              <a:gd name="adj" fmla="val 3200"/>
            </a:avLst>
          </a:prstGeom>
          <a:solidFill>
            <a:srgbClr val="FFFFFF"/>
          </a:solidFill>
          <a:ln w="12700">
            <a:solidFill>
              <a:srgbClr val="1E88D6"/>
            </a:solidFill>
            <a:prstDash val="solid"/>
          </a:ln>
          <a:effectLst>
            <a:outerShdw sx="100000" sy="100000" kx="0" ky="0" algn="bl" rotWithShape="0" blurRad="76200" dist="25400" dir="5400000">
              <a:srgbClr val="9FB3C4">
                <a:alpha val="28000"/>
              </a:srgbClr>
            </a:outerShdw>
          </a:effectLst>
        </p:spPr>
      </p:sp>
      <p:sp>
        <p:nvSpPr>
          <p:cNvPr id="18" name="Shape 15"/>
          <p:cNvSpPr/>
          <p:nvPr/>
        </p:nvSpPr>
        <p:spPr>
          <a:xfrm>
            <a:off x="6574536" y="2057400"/>
            <a:ext cx="402336" cy="402336"/>
          </a:xfrm>
          <a:prstGeom prst="ellipse">
            <a:avLst/>
          </a:prstGeom>
          <a:solidFill>
            <a:srgbClr val="1E88D6"/>
          </a:solidFill>
          <a:ln/>
        </p:spPr>
      </p:sp>
      <p:sp>
        <p:nvSpPr>
          <p:cNvPr id="19" name="Text 16"/>
          <p:cNvSpPr/>
          <p:nvPr/>
        </p:nvSpPr>
        <p:spPr>
          <a:xfrm>
            <a:off x="6574536"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6547104" y="2606040"/>
            <a:ext cx="2148840" cy="731520"/>
          </a:xfrm>
          <a:prstGeom prst="rect">
            <a:avLst/>
          </a:prstGeom>
          <a:noFill/>
          <a:ln/>
        </p:spPr>
        <p:txBody>
          <a:bodyPr wrap="square" rtlCol="0" anchor="t"/>
          <a:lstStyle/>
          <a:p>
            <a:pPr indent="0" marL="0">
              <a:buNone/>
            </a:pPr>
            <a:r>
              <a:rPr lang="en-US" sz="1450" b="1" dirty="0">
                <a:solidFill>
                  <a:srgbClr val="003E7E"/>
                </a:solidFill>
                <a:latin typeface="Cambria" pitchFamily="34" charset="0"/>
                <a:ea typeface="Cambria" pitchFamily="34" charset="-122"/>
                <a:cs typeface="Cambria" pitchFamily="34" charset="-120"/>
              </a:rPr>
              <a:t>Hậu kiểm bằng chứng</a:t>
            </a:r>
            <a:endParaRPr lang="en-US" sz="1450" dirty="0"/>
          </a:p>
        </p:txBody>
      </p:sp>
      <p:sp>
        <p:nvSpPr>
          <p:cNvPr id="21" name="Text 18"/>
          <p:cNvSpPr/>
          <p:nvPr/>
        </p:nvSpPr>
        <p:spPr>
          <a:xfrm>
            <a:off x="6547104" y="3337560"/>
            <a:ext cx="2148840" cy="685800"/>
          </a:xfrm>
          <a:prstGeom prst="rect">
            <a:avLst/>
          </a:prstGeom>
          <a:noFill/>
          <a:ln/>
        </p:spPr>
        <p:txBody>
          <a:bodyPr wrap="square" rtlCol="0" anchor="t"/>
          <a:lstStyle/>
          <a:p>
            <a:pPr indent="0" marL="0">
              <a:lnSpc>
                <a:spcPct val="103000"/>
              </a:lnSpc>
              <a:buNone/>
            </a:pPr>
            <a:r>
              <a:rPr lang="en-US" sz="1200" dirty="0">
                <a:solidFill>
                  <a:srgbClr val="17334D"/>
                </a:solidFill>
                <a:latin typeface="Calibri" pitchFamily="34" charset="0"/>
                <a:ea typeface="Calibri" pitchFamily="34" charset="-122"/>
                <a:cs typeface="Calibri" pitchFamily="34" charset="-120"/>
              </a:rPr>
              <a:t>Loại kỹ năng KHÔNG có dẫn chứng trong văn bản gốc</a:t>
            </a:r>
            <a:endParaRPr lang="en-US" sz="1200" dirty="0"/>
          </a:p>
        </p:txBody>
      </p:sp>
      <p:sp>
        <p:nvSpPr>
          <p:cNvPr id="22" name="Shape 19"/>
          <p:cNvSpPr/>
          <p:nvPr/>
        </p:nvSpPr>
        <p:spPr>
          <a:xfrm>
            <a:off x="8887968" y="2788920"/>
            <a:ext cx="292608" cy="292608"/>
          </a:xfrm>
          <a:prstGeom prst="rightArrow">
            <a:avLst/>
          </a:prstGeom>
          <a:solidFill>
            <a:srgbClr val="0C63B4"/>
          </a:solidFill>
          <a:ln/>
        </p:spPr>
      </p:sp>
      <p:sp>
        <p:nvSpPr>
          <p:cNvPr id="23" name="Shape 20"/>
          <p:cNvSpPr/>
          <p:nvPr/>
        </p:nvSpPr>
        <p:spPr>
          <a:xfrm>
            <a:off x="9153144" y="1828800"/>
            <a:ext cx="2514600" cy="2286000"/>
          </a:xfrm>
          <a:prstGeom prst="roundRect">
            <a:avLst>
              <a:gd name="adj" fmla="val 3200"/>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24" name="Shape 21"/>
          <p:cNvSpPr/>
          <p:nvPr/>
        </p:nvSpPr>
        <p:spPr>
          <a:xfrm>
            <a:off x="9381744" y="2057400"/>
            <a:ext cx="402336" cy="402336"/>
          </a:xfrm>
          <a:prstGeom prst="ellipse">
            <a:avLst/>
          </a:prstGeom>
          <a:solidFill>
            <a:srgbClr val="0C63B4"/>
          </a:solidFill>
          <a:ln/>
        </p:spPr>
      </p:sp>
      <p:sp>
        <p:nvSpPr>
          <p:cNvPr id="25" name="Text 22"/>
          <p:cNvSpPr/>
          <p:nvPr/>
        </p:nvSpPr>
        <p:spPr>
          <a:xfrm>
            <a:off x="9381744"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3"/>
          <p:cNvSpPr/>
          <p:nvPr/>
        </p:nvSpPr>
        <p:spPr>
          <a:xfrm>
            <a:off x="9354312" y="2606040"/>
            <a:ext cx="2148840" cy="731520"/>
          </a:xfrm>
          <a:prstGeom prst="rect">
            <a:avLst/>
          </a:prstGeom>
          <a:noFill/>
          <a:ln/>
        </p:spPr>
        <p:txBody>
          <a:bodyPr wrap="square" rtlCol="0" anchor="t"/>
          <a:lstStyle/>
          <a:p>
            <a:pPr indent="0" marL="0">
              <a:buNone/>
            </a:pPr>
            <a:r>
              <a:rPr lang="en-US" sz="1450" b="1" dirty="0">
                <a:solidFill>
                  <a:srgbClr val="003E7E"/>
                </a:solidFill>
                <a:latin typeface="Cambria" pitchFamily="34" charset="0"/>
                <a:ea typeface="Cambria" pitchFamily="34" charset="-122"/>
                <a:cs typeface="Cambria" pitchFamily="34" charset="-120"/>
              </a:rPr>
              <a:t>Kỹ năng đã xác thực</a:t>
            </a:r>
            <a:endParaRPr lang="en-US" sz="1450" dirty="0"/>
          </a:p>
        </p:txBody>
      </p:sp>
      <p:sp>
        <p:nvSpPr>
          <p:cNvPr id="27" name="Text 24"/>
          <p:cNvSpPr/>
          <p:nvPr/>
        </p:nvSpPr>
        <p:spPr>
          <a:xfrm>
            <a:off x="9354312" y="3337560"/>
            <a:ext cx="2148840" cy="685800"/>
          </a:xfrm>
          <a:prstGeom prst="rect">
            <a:avLst/>
          </a:prstGeom>
          <a:noFill/>
          <a:ln/>
        </p:spPr>
        <p:txBody>
          <a:bodyPr wrap="square" rtlCol="0" anchor="t"/>
          <a:lstStyle/>
          <a:p>
            <a:pPr indent="0" marL="0">
              <a:lnSpc>
                <a:spcPct val="103000"/>
              </a:lnSpc>
              <a:buNone/>
            </a:pPr>
            <a:r>
              <a:rPr lang="en-US" sz="1200" dirty="0">
                <a:solidFill>
                  <a:srgbClr val="17334D"/>
                </a:solidFill>
                <a:latin typeface="Calibri" pitchFamily="34" charset="0"/>
                <a:ea typeface="Calibri" pitchFamily="34" charset="-122"/>
                <a:cs typeface="Calibri" pitchFamily="34" charset="-120"/>
              </a:rPr>
              <a:t>Đưa vào chuẩn hóa &amp; so khớp</a:t>
            </a:r>
            <a:endParaRPr lang="en-US" sz="1200" dirty="0"/>
          </a:p>
        </p:txBody>
      </p:sp>
      <p:sp>
        <p:nvSpPr>
          <p:cNvPr id="28" name="Shape 25"/>
          <p:cNvSpPr/>
          <p:nvPr/>
        </p:nvSpPr>
        <p:spPr>
          <a:xfrm>
            <a:off x="731520" y="4343400"/>
            <a:ext cx="10789920" cy="1554480"/>
          </a:xfrm>
          <a:prstGeom prst="roundRect">
            <a:avLst>
              <a:gd name="adj" fmla="val 4706"/>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29" name="Text 26"/>
          <p:cNvSpPr/>
          <p:nvPr/>
        </p:nvSpPr>
        <p:spPr>
          <a:xfrm>
            <a:off x="960120" y="4526280"/>
            <a:ext cx="10332720" cy="1188720"/>
          </a:xfrm>
          <a:prstGeom prst="rect">
            <a:avLst/>
          </a:prstGeom>
          <a:noFill/>
          <a:ln/>
        </p:spPr>
        <p:txBody>
          <a:bodyPr wrap="square" rtlCol="0" anchor="ctr"/>
          <a:lstStyle/>
          <a:p>
            <a:pPr indent="0" marL="0">
              <a:lnSpc>
                <a:spcPct val="108000"/>
              </a:lnSpc>
              <a:buNone/>
            </a:pPr>
            <a:r>
              <a:rPr lang="en-US" sz="1400" b="1" dirty="0">
                <a:solidFill>
                  <a:srgbClr val="0C63B4"/>
                </a:solidFill>
                <a:latin typeface="Calibri" pitchFamily="34" charset="0"/>
                <a:ea typeface="Calibri" pitchFamily="34" charset="-122"/>
                <a:cs typeface="Calibri" pitchFamily="34" charset="-120"/>
              </a:rPr>
              <a:t>Đóng góp #1 — </a:t>
            </a:r>
            <a:pPr indent="0" marL="0">
              <a:lnSpc>
                <a:spcPct val="108000"/>
              </a:lnSpc>
              <a:buNone/>
            </a:pPr>
            <a:r>
              <a:rPr lang="en-US" sz="1400" b="1" dirty="0">
                <a:solidFill>
                  <a:srgbClr val="003E7E"/>
                </a:solidFill>
                <a:latin typeface="Calibri" pitchFamily="34" charset="0"/>
                <a:ea typeface="Calibri" pitchFamily="34" charset="-122"/>
                <a:cs typeface="Calibri" pitchFamily="34" charset="-120"/>
              </a:rPr>
              <a:t>cơ chế hậu kiểm evidence-based</a:t>
            </a:r>
            <a:pPr indent="0" marL="0">
              <a:lnSpc>
                <a:spcPct val="108000"/>
              </a:lnSpc>
              <a:buNone/>
            </a:pPr>
            <a:r>
              <a:rPr lang="en-US" sz="1400" dirty="0">
                <a:solidFill>
                  <a:srgbClr val="17334D"/>
                </a:solidFill>
                <a:latin typeface="Calibri" pitchFamily="34" charset="0"/>
                <a:ea typeface="Calibri" pitchFamily="34" charset="-122"/>
                <a:cs typeface="Calibri" pitchFamily="34" charset="-120"/>
              </a:rPr>
              <a:t>:  LLM có thể “bịa” kỹ năng không có trong tài liệu; tầng hậu kiểm đối chiếu từng kỹ năng với bằng chứng chuỗi trong văn bản gốc và loại bỏ kỹ năng ảo giác. Nhờ đó độ chính xác (Precision) trích xuất đạt 98,9%.</a:t>
            </a:r>
            <a:endParaRPr lang="en-US" sz="1400" dirty="0"/>
          </a:p>
        </p:txBody>
      </p:sp>
      <p:sp>
        <p:nvSpPr>
          <p:cNvPr id="31" name="Text 27"/>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32" name="Text 28"/>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THUẬT TOÁN SO KHỚP NĂNG LỰC</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So khớp ngữ nghĩa có trọng số thị trường lao động</a:t>
            </a:r>
            <a:endParaRPr lang="en-US" sz="3000" dirty="0"/>
          </a:p>
        </p:txBody>
      </p:sp>
      <p:sp>
        <p:nvSpPr>
          <p:cNvPr id="5" name="Shape 2"/>
          <p:cNvSpPr/>
          <p:nvPr/>
        </p:nvSpPr>
        <p:spPr>
          <a:xfrm>
            <a:off x="731520" y="1783080"/>
            <a:ext cx="2487168" cy="1371600"/>
          </a:xfrm>
          <a:prstGeom prst="roundRect">
            <a:avLst>
              <a:gd name="adj" fmla="val 533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Text 3"/>
          <p:cNvSpPr/>
          <p:nvPr/>
        </p:nvSpPr>
        <p:spPr>
          <a:xfrm>
            <a:off x="914400" y="1901952"/>
            <a:ext cx="2148840" cy="365760"/>
          </a:xfrm>
          <a:prstGeom prst="rect">
            <a:avLst/>
          </a:prstGeom>
          <a:noFill/>
          <a:ln/>
        </p:spPr>
        <p:txBody>
          <a:bodyPr wrap="square" rtlCol="0" anchor="ctr"/>
          <a:lstStyle/>
          <a:p>
            <a:pPr indent="0" marL="0">
              <a:buNone/>
            </a:pPr>
            <a:r>
              <a:rPr lang="en-US" sz="1600" b="1" dirty="0">
                <a:solidFill>
                  <a:srgbClr val="0C63B4"/>
                </a:solidFill>
                <a:latin typeface="Cambria" pitchFamily="34" charset="0"/>
                <a:ea typeface="Cambria" pitchFamily="34" charset="-122"/>
                <a:cs typeface="Cambria" pitchFamily="34" charset="-120"/>
              </a:rPr>
              <a:t>SBERT</a:t>
            </a:r>
            <a:endParaRPr lang="en-US" sz="1600" dirty="0"/>
          </a:p>
        </p:txBody>
      </p:sp>
      <p:sp>
        <p:nvSpPr>
          <p:cNvPr id="7" name="Text 4"/>
          <p:cNvSpPr/>
          <p:nvPr/>
        </p:nvSpPr>
        <p:spPr>
          <a:xfrm>
            <a:off x="914400" y="2286000"/>
            <a:ext cx="2194560" cy="777240"/>
          </a:xfrm>
          <a:prstGeom prst="rect">
            <a:avLst/>
          </a:prstGeom>
          <a:noFill/>
          <a:ln/>
        </p:spPr>
        <p:txBody>
          <a:bodyPr wrap="square" rtlCol="0" anchor="t"/>
          <a:lstStyle/>
          <a:p>
            <a:pPr indent="0" marL="0">
              <a:lnSpc>
                <a:spcPct val="103000"/>
              </a:lnSpc>
              <a:buNone/>
            </a:pPr>
            <a:r>
              <a:rPr lang="en-US" sz="1150" dirty="0">
                <a:solidFill>
                  <a:srgbClr val="17334D"/>
                </a:solidFill>
                <a:latin typeface="Calibri" pitchFamily="34" charset="0"/>
                <a:ea typeface="Calibri" pitchFamily="34" charset="-122"/>
                <a:cs typeface="Calibri" pitchFamily="34" charset="-120"/>
              </a:rPr>
              <a:t>vector nhúng 384 chiều (all-MiniLM-L6-v2)</a:t>
            </a:r>
            <a:endParaRPr lang="en-US" sz="1150" dirty="0"/>
          </a:p>
        </p:txBody>
      </p:sp>
      <p:sp>
        <p:nvSpPr>
          <p:cNvPr id="8" name="Text 5"/>
          <p:cNvSpPr/>
          <p:nvPr/>
        </p:nvSpPr>
        <p:spPr>
          <a:xfrm>
            <a:off x="3035808" y="2194560"/>
            <a:ext cx="274320" cy="457200"/>
          </a:xfrm>
          <a:prstGeom prst="rect">
            <a:avLst/>
          </a:prstGeom>
          <a:noFill/>
          <a:ln/>
        </p:spPr>
        <p:txBody>
          <a:bodyPr wrap="square" rtlCol="0" anchor="ctr"/>
          <a:lstStyle/>
          <a:p>
            <a:pPr algn="ctr" indent="0" marL="0">
              <a:buNone/>
            </a:pPr>
            <a:r>
              <a:rPr lang="en-US" sz="2000" b="1" dirty="0">
                <a:solidFill>
                  <a:srgbClr val="0C63B4"/>
                </a:solidFill>
                <a:latin typeface="Calibri" pitchFamily="34" charset="0"/>
                <a:ea typeface="Calibri" pitchFamily="34" charset="-122"/>
                <a:cs typeface="Calibri" pitchFamily="34" charset="-120"/>
              </a:rPr>
              <a:t>→</a:t>
            </a:r>
            <a:endParaRPr lang="en-US" sz="2000" dirty="0"/>
          </a:p>
        </p:txBody>
      </p:sp>
      <p:sp>
        <p:nvSpPr>
          <p:cNvPr id="9" name="Shape 6"/>
          <p:cNvSpPr/>
          <p:nvPr/>
        </p:nvSpPr>
        <p:spPr>
          <a:xfrm>
            <a:off x="3520440" y="1783080"/>
            <a:ext cx="2487168" cy="1371600"/>
          </a:xfrm>
          <a:prstGeom prst="roundRect">
            <a:avLst>
              <a:gd name="adj" fmla="val 533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0" name="Text 7"/>
          <p:cNvSpPr/>
          <p:nvPr/>
        </p:nvSpPr>
        <p:spPr>
          <a:xfrm>
            <a:off x="3703320" y="1901952"/>
            <a:ext cx="2148840" cy="365760"/>
          </a:xfrm>
          <a:prstGeom prst="rect">
            <a:avLst/>
          </a:prstGeom>
          <a:noFill/>
          <a:ln/>
        </p:spPr>
        <p:txBody>
          <a:bodyPr wrap="square" rtlCol="0" anchor="ctr"/>
          <a:lstStyle/>
          <a:p>
            <a:pPr indent="0" marL="0">
              <a:buNone/>
            </a:pPr>
            <a:r>
              <a:rPr lang="en-US" sz="1600" b="1" dirty="0">
                <a:solidFill>
                  <a:srgbClr val="0C63B4"/>
                </a:solidFill>
                <a:latin typeface="Cambria" pitchFamily="34" charset="0"/>
                <a:ea typeface="Cambria" pitchFamily="34" charset="-122"/>
                <a:cs typeface="Cambria" pitchFamily="34" charset="-120"/>
              </a:rPr>
              <a:t>Cosine</a:t>
            </a:r>
            <a:endParaRPr lang="en-US" sz="1600" dirty="0"/>
          </a:p>
        </p:txBody>
      </p:sp>
      <p:sp>
        <p:nvSpPr>
          <p:cNvPr id="11" name="Text 8"/>
          <p:cNvSpPr/>
          <p:nvPr/>
        </p:nvSpPr>
        <p:spPr>
          <a:xfrm>
            <a:off x="3703320" y="2286000"/>
            <a:ext cx="2194560" cy="777240"/>
          </a:xfrm>
          <a:prstGeom prst="rect">
            <a:avLst/>
          </a:prstGeom>
          <a:noFill/>
          <a:ln/>
        </p:spPr>
        <p:txBody>
          <a:bodyPr wrap="square" rtlCol="0" anchor="t"/>
          <a:lstStyle/>
          <a:p>
            <a:pPr indent="0" marL="0">
              <a:lnSpc>
                <a:spcPct val="103000"/>
              </a:lnSpc>
              <a:buNone/>
            </a:pPr>
            <a:r>
              <a:rPr lang="en-US" sz="1150" dirty="0">
                <a:solidFill>
                  <a:srgbClr val="17334D"/>
                </a:solidFill>
                <a:latin typeface="Calibri" pitchFamily="34" charset="0"/>
                <a:ea typeface="Calibri" pitchFamily="34" charset="-122"/>
                <a:cs typeface="Calibri" pitchFamily="34" charset="-120"/>
              </a:rPr>
              <a:t>đo tương đồng ngữ nghĩa CV ↔ JD</a:t>
            </a:r>
            <a:endParaRPr lang="en-US" sz="1150" dirty="0"/>
          </a:p>
        </p:txBody>
      </p:sp>
      <p:sp>
        <p:nvSpPr>
          <p:cNvPr id="12" name="Text 9"/>
          <p:cNvSpPr/>
          <p:nvPr/>
        </p:nvSpPr>
        <p:spPr>
          <a:xfrm>
            <a:off x="5824728" y="2194560"/>
            <a:ext cx="274320" cy="457200"/>
          </a:xfrm>
          <a:prstGeom prst="rect">
            <a:avLst/>
          </a:prstGeom>
          <a:noFill/>
          <a:ln/>
        </p:spPr>
        <p:txBody>
          <a:bodyPr wrap="square" rtlCol="0" anchor="ctr"/>
          <a:lstStyle/>
          <a:p>
            <a:pPr algn="ctr" indent="0" marL="0">
              <a:buNone/>
            </a:pPr>
            <a:r>
              <a:rPr lang="en-US" sz="2000" b="1" dirty="0">
                <a:solidFill>
                  <a:srgbClr val="0C63B4"/>
                </a:solidFill>
                <a:latin typeface="Calibri" pitchFamily="34" charset="0"/>
                <a:ea typeface="Calibri" pitchFamily="34" charset="-122"/>
                <a:cs typeface="Calibri" pitchFamily="34" charset="-120"/>
              </a:rPr>
              <a:t>→</a:t>
            </a:r>
            <a:endParaRPr lang="en-US" sz="2000" dirty="0"/>
          </a:p>
        </p:txBody>
      </p:sp>
      <p:sp>
        <p:nvSpPr>
          <p:cNvPr id="13" name="Shape 10"/>
          <p:cNvSpPr/>
          <p:nvPr/>
        </p:nvSpPr>
        <p:spPr>
          <a:xfrm>
            <a:off x="6309360" y="1783080"/>
            <a:ext cx="2487168" cy="1371600"/>
          </a:xfrm>
          <a:prstGeom prst="roundRect">
            <a:avLst>
              <a:gd name="adj" fmla="val 533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4" name="Text 11"/>
          <p:cNvSpPr/>
          <p:nvPr/>
        </p:nvSpPr>
        <p:spPr>
          <a:xfrm>
            <a:off x="6492240" y="1901952"/>
            <a:ext cx="2148840" cy="365760"/>
          </a:xfrm>
          <a:prstGeom prst="rect">
            <a:avLst/>
          </a:prstGeom>
          <a:noFill/>
          <a:ln/>
        </p:spPr>
        <p:txBody>
          <a:bodyPr wrap="square" rtlCol="0" anchor="ctr"/>
          <a:lstStyle/>
          <a:p>
            <a:pPr indent="0" marL="0">
              <a:buNone/>
            </a:pPr>
            <a:r>
              <a:rPr lang="en-US" sz="1600" b="1" dirty="0">
                <a:solidFill>
                  <a:srgbClr val="0C63B4"/>
                </a:solidFill>
                <a:latin typeface="Cambria" pitchFamily="34" charset="0"/>
                <a:ea typeface="Cambria" pitchFamily="34" charset="-122"/>
                <a:cs typeface="Cambria" pitchFamily="34" charset="-120"/>
              </a:rPr>
              <a:t>Trọng số IDF</a:t>
            </a:r>
            <a:endParaRPr lang="en-US" sz="1600" dirty="0"/>
          </a:p>
        </p:txBody>
      </p:sp>
      <p:sp>
        <p:nvSpPr>
          <p:cNvPr id="15" name="Text 12"/>
          <p:cNvSpPr/>
          <p:nvPr/>
        </p:nvSpPr>
        <p:spPr>
          <a:xfrm>
            <a:off x="6492240" y="2286000"/>
            <a:ext cx="2194560" cy="777240"/>
          </a:xfrm>
          <a:prstGeom prst="rect">
            <a:avLst/>
          </a:prstGeom>
          <a:noFill/>
          <a:ln/>
        </p:spPr>
        <p:txBody>
          <a:bodyPr wrap="square" rtlCol="0" anchor="t"/>
          <a:lstStyle/>
          <a:p>
            <a:pPr indent="0" marL="0">
              <a:lnSpc>
                <a:spcPct val="103000"/>
              </a:lnSpc>
              <a:buNone/>
            </a:pPr>
            <a:r>
              <a:rPr lang="en-US" sz="1150" dirty="0">
                <a:solidFill>
                  <a:srgbClr val="17334D"/>
                </a:solidFill>
                <a:latin typeface="Calibri" pitchFamily="34" charset="0"/>
                <a:ea typeface="Calibri" pitchFamily="34" charset="-122"/>
                <a:cs typeface="Calibri" pitchFamily="34" charset="-120"/>
              </a:rPr>
              <a:t>kỹ năng hiếm/cầu cao tính nặng hơn</a:t>
            </a:r>
            <a:endParaRPr lang="en-US" sz="1150" dirty="0"/>
          </a:p>
        </p:txBody>
      </p:sp>
      <p:sp>
        <p:nvSpPr>
          <p:cNvPr id="16" name="Text 13"/>
          <p:cNvSpPr/>
          <p:nvPr/>
        </p:nvSpPr>
        <p:spPr>
          <a:xfrm>
            <a:off x="8613648" y="2194560"/>
            <a:ext cx="274320" cy="457200"/>
          </a:xfrm>
          <a:prstGeom prst="rect">
            <a:avLst/>
          </a:prstGeom>
          <a:noFill/>
          <a:ln/>
        </p:spPr>
        <p:txBody>
          <a:bodyPr wrap="square" rtlCol="0" anchor="ctr"/>
          <a:lstStyle/>
          <a:p>
            <a:pPr algn="ctr" indent="0" marL="0">
              <a:buNone/>
            </a:pPr>
            <a:r>
              <a:rPr lang="en-US" sz="2000" b="1" dirty="0">
                <a:solidFill>
                  <a:srgbClr val="0C63B4"/>
                </a:solidFill>
                <a:latin typeface="Calibri" pitchFamily="34" charset="0"/>
                <a:ea typeface="Calibri" pitchFamily="34" charset="-122"/>
                <a:cs typeface="Calibri" pitchFamily="34" charset="-120"/>
              </a:rPr>
              <a:t>→</a:t>
            </a:r>
            <a:endParaRPr lang="en-US" sz="2000" dirty="0"/>
          </a:p>
        </p:txBody>
      </p:sp>
      <p:sp>
        <p:nvSpPr>
          <p:cNvPr id="17" name="Shape 14"/>
          <p:cNvSpPr/>
          <p:nvPr/>
        </p:nvSpPr>
        <p:spPr>
          <a:xfrm>
            <a:off x="9098280" y="1783080"/>
            <a:ext cx="2487168" cy="1371600"/>
          </a:xfrm>
          <a:prstGeom prst="roundRect">
            <a:avLst>
              <a:gd name="adj" fmla="val 533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8" name="Text 15"/>
          <p:cNvSpPr/>
          <p:nvPr/>
        </p:nvSpPr>
        <p:spPr>
          <a:xfrm>
            <a:off x="9281160" y="1901952"/>
            <a:ext cx="2148840" cy="365760"/>
          </a:xfrm>
          <a:prstGeom prst="rect">
            <a:avLst/>
          </a:prstGeom>
          <a:noFill/>
          <a:ln/>
        </p:spPr>
        <p:txBody>
          <a:bodyPr wrap="square" rtlCol="0" anchor="ctr"/>
          <a:lstStyle/>
          <a:p>
            <a:pPr indent="0" marL="0">
              <a:buNone/>
            </a:pPr>
            <a:r>
              <a:rPr lang="en-US" sz="1600" b="1" dirty="0">
                <a:solidFill>
                  <a:srgbClr val="0C63B4"/>
                </a:solidFill>
                <a:latin typeface="Cambria" pitchFamily="34" charset="0"/>
                <a:ea typeface="Cambria" pitchFamily="34" charset="-122"/>
                <a:cs typeface="Cambria" pitchFamily="34" charset="-120"/>
              </a:rPr>
              <a:t>6 luật lọc</a:t>
            </a:r>
            <a:endParaRPr lang="en-US" sz="1600" dirty="0"/>
          </a:p>
        </p:txBody>
      </p:sp>
      <p:sp>
        <p:nvSpPr>
          <p:cNvPr id="19" name="Text 16"/>
          <p:cNvSpPr/>
          <p:nvPr/>
        </p:nvSpPr>
        <p:spPr>
          <a:xfrm>
            <a:off x="9281160" y="2286000"/>
            <a:ext cx="2194560" cy="777240"/>
          </a:xfrm>
          <a:prstGeom prst="rect">
            <a:avLst/>
          </a:prstGeom>
          <a:noFill/>
          <a:ln/>
        </p:spPr>
        <p:txBody>
          <a:bodyPr wrap="square" rtlCol="0" anchor="t"/>
          <a:lstStyle/>
          <a:p>
            <a:pPr indent="0" marL="0">
              <a:lnSpc>
                <a:spcPct val="103000"/>
              </a:lnSpc>
              <a:buNone/>
            </a:pPr>
            <a:r>
              <a:rPr lang="en-US" sz="1150" dirty="0">
                <a:solidFill>
                  <a:srgbClr val="17334D"/>
                </a:solidFill>
                <a:latin typeface="Calibri" pitchFamily="34" charset="0"/>
                <a:ea typeface="Calibri" pitchFamily="34" charset="-122"/>
                <a:cs typeface="Calibri" pitchFamily="34" charset="-120"/>
              </a:rPr>
              <a:t>hiệu chỉnh theo nhóm kỹ năng</a:t>
            </a:r>
            <a:endParaRPr lang="en-US" sz="1150" dirty="0"/>
          </a:p>
        </p:txBody>
      </p:sp>
      <p:sp>
        <p:nvSpPr>
          <p:cNvPr id="20" name="Shape 17"/>
          <p:cNvSpPr/>
          <p:nvPr/>
        </p:nvSpPr>
        <p:spPr>
          <a:xfrm>
            <a:off x="731520" y="3383280"/>
            <a:ext cx="5120640" cy="731520"/>
          </a:xfrm>
          <a:prstGeom prst="roundRect">
            <a:avLst>
              <a:gd name="adj" fmla="val 10000"/>
            </a:avLst>
          </a:prstGeom>
          <a:solidFill>
            <a:srgbClr val="003E7E"/>
          </a:solidFill>
          <a:ln/>
        </p:spPr>
      </p:sp>
      <p:sp>
        <p:nvSpPr>
          <p:cNvPr id="21" name="Text 18"/>
          <p:cNvSpPr/>
          <p:nvPr/>
        </p:nvSpPr>
        <p:spPr>
          <a:xfrm>
            <a:off x="822960" y="3383280"/>
            <a:ext cx="4937760" cy="731520"/>
          </a:xfrm>
          <a:prstGeom prst="rect">
            <a:avLst/>
          </a:prstGeom>
          <a:noFill/>
          <a:ln/>
        </p:spPr>
        <p:txBody>
          <a:bodyPr wrap="square"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Match Score  =  % phù hợp  +  danh sách kỹ năng còn thiếu</a:t>
            </a:r>
            <a:endParaRPr lang="en-US" sz="1450" dirty="0"/>
          </a:p>
        </p:txBody>
      </p:sp>
      <p:sp>
        <p:nvSpPr>
          <p:cNvPr id="22" name="Shape 19"/>
          <p:cNvSpPr/>
          <p:nvPr/>
        </p:nvSpPr>
        <p:spPr>
          <a:xfrm>
            <a:off x="6126480" y="3310128"/>
            <a:ext cx="5394960" cy="2331720"/>
          </a:xfrm>
          <a:prstGeom prst="roundRect">
            <a:avLst>
              <a:gd name="adj" fmla="val 2353"/>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23" name="Image 1" descr="/private/tmp/claude-501/-Users-ymytr-nova/5e161095-2610-40a0-961d-5450e47dcdec/scratchpad/build/sequence_matching_cv.png">    </p:cNvPr>
          <p:cNvPicPr>
            <a:picLocks noChangeAspect="1"/>
          </p:cNvPicPr>
          <p:nvPr/>
        </p:nvPicPr>
        <p:blipFill>
          <a:blip r:embed="rId2"/>
          <a:stretch>
            <a:fillRect/>
          </a:stretch>
        </p:blipFill>
        <p:spPr>
          <a:xfrm>
            <a:off x="6306174" y="3419856"/>
            <a:ext cx="5035573" cy="2112264"/>
          </a:xfrm>
          <a:prstGeom prst="rect">
            <a:avLst/>
          </a:prstGeom>
        </p:spPr>
      </p:pic>
      <p:sp>
        <p:nvSpPr>
          <p:cNvPr id="24" name="Shape 20"/>
          <p:cNvSpPr/>
          <p:nvPr/>
        </p:nvSpPr>
        <p:spPr>
          <a:xfrm>
            <a:off x="731520" y="4297680"/>
            <a:ext cx="5120640" cy="1371600"/>
          </a:xfrm>
          <a:prstGeom prst="roundRect">
            <a:avLst>
              <a:gd name="adj" fmla="val 533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25" name="Text 21"/>
          <p:cNvSpPr/>
          <p:nvPr/>
        </p:nvSpPr>
        <p:spPr>
          <a:xfrm>
            <a:off x="914400" y="4434840"/>
            <a:ext cx="4754880" cy="1097280"/>
          </a:xfrm>
          <a:prstGeom prst="rect">
            <a:avLst/>
          </a:prstGeom>
          <a:noFill/>
          <a:ln/>
        </p:spPr>
        <p:txBody>
          <a:bodyPr wrap="square" rtlCol="0" anchor="ctr"/>
          <a:lstStyle/>
          <a:p>
            <a:pPr indent="0" marL="0">
              <a:lnSpc>
                <a:spcPct val="105000"/>
              </a:lnSpc>
              <a:buNone/>
            </a:pPr>
            <a:r>
              <a:rPr lang="en-US" sz="1250" b="1" dirty="0">
                <a:solidFill>
                  <a:srgbClr val="0C63B4"/>
                </a:solidFill>
                <a:latin typeface="Calibri" pitchFamily="34" charset="0"/>
                <a:ea typeface="Calibri" pitchFamily="34" charset="-122"/>
                <a:cs typeface="Calibri" pitchFamily="34" charset="-120"/>
              </a:rPr>
              <a:t>Đóng góp #2 &amp; #3:  </a:t>
            </a:r>
            <a:pPr indent="0" marL="0">
              <a:lnSpc>
                <a:spcPct val="105000"/>
              </a:lnSpc>
              <a:buNone/>
            </a:pPr>
            <a:r>
              <a:rPr lang="en-US" sz="1250" dirty="0">
                <a:solidFill>
                  <a:srgbClr val="17334D"/>
                </a:solidFill>
                <a:latin typeface="Calibri" pitchFamily="34" charset="0"/>
                <a:ea typeface="Calibri" pitchFamily="34" charset="-122"/>
                <a:cs typeface="Calibri" pitchFamily="34" charset="-120"/>
              </a:rPr>
              <a:t>trọng số IDF động từ thị trường IT Việt Nam + bộ 6 luật lọc ngữ nghĩa theo phân loại kỹ năng. </a:t>
            </a:r>
            <a:pPr indent="0" marL="0">
              <a:lnSpc>
                <a:spcPct val="105000"/>
              </a:lnSpc>
              <a:buNone/>
            </a:pPr>
            <a:r>
              <a:rPr lang="en-US" sz="1250" b="1" dirty="0">
                <a:solidFill>
                  <a:srgbClr val="003E7E"/>
                </a:solidFill>
                <a:latin typeface="Calibri" pitchFamily="34" charset="0"/>
                <a:ea typeface="Calibri" pitchFamily="34" charset="-122"/>
                <a:cs typeface="Calibri" pitchFamily="34" charset="-120"/>
              </a:rPr>
              <a:t>Vì sao có trọng số? </a:t>
            </a:r>
            <a:pPr indent="0" marL="0">
              <a:lnSpc>
                <a:spcPct val="105000"/>
              </a:lnSpc>
              <a:buNone/>
            </a:pPr>
            <a:r>
              <a:rPr lang="en-US" sz="1250" dirty="0">
                <a:solidFill>
                  <a:srgbClr val="17334D"/>
                </a:solidFill>
                <a:latin typeface="Calibri" pitchFamily="34" charset="0"/>
                <a:ea typeface="Calibri" pitchFamily="34" charset="-122"/>
                <a:cs typeface="Calibri" pitchFamily="34" charset="-120"/>
              </a:rPr>
              <a:t>kỹ năng hiếm phản ánh đúng giá trị thị trường hơn.</a:t>
            </a:r>
            <a:endParaRPr lang="en-US" sz="1250" dirty="0"/>
          </a:p>
        </p:txBody>
      </p:sp>
      <p:sp>
        <p:nvSpPr>
          <p:cNvPr id="27" name="Text 22"/>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28" name="Text 23"/>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TRỰC QUAN HÓA</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Dashboard thị trường và phân tích khoảng cách kỹ năng</a:t>
            </a:r>
            <a:endParaRPr lang="en-US" sz="3000" dirty="0"/>
          </a:p>
        </p:txBody>
      </p:sp>
      <p:sp>
        <p:nvSpPr>
          <p:cNvPr id="5" name="Shape 2"/>
          <p:cNvSpPr/>
          <p:nvPr/>
        </p:nvSpPr>
        <p:spPr>
          <a:xfrm>
            <a:off x="731520" y="1783080"/>
            <a:ext cx="5394960" cy="3200400"/>
          </a:xfrm>
          <a:prstGeom prst="roundRect">
            <a:avLst>
              <a:gd name="adj" fmla="val 1714"/>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6" name="Image 1" descr="/private/tmp/claude-501/-Users-ymytr-nova/5e161095-2610-40a0-961d-5450e47dcdec/scratchpad/build/ui_market_skills.png">    </p:cNvPr>
          <p:cNvPicPr>
            <a:picLocks noChangeAspect="1"/>
          </p:cNvPicPr>
          <p:nvPr/>
        </p:nvPicPr>
        <p:blipFill>
          <a:blip r:embed="rId2"/>
          <a:stretch>
            <a:fillRect/>
          </a:stretch>
        </p:blipFill>
        <p:spPr>
          <a:xfrm>
            <a:off x="918102" y="1892808"/>
            <a:ext cx="5021797" cy="2980944"/>
          </a:xfrm>
          <a:prstGeom prst="rect">
            <a:avLst/>
          </a:prstGeom>
        </p:spPr>
      </p:pic>
      <p:sp>
        <p:nvSpPr>
          <p:cNvPr id="7" name="Text 3"/>
          <p:cNvSpPr/>
          <p:nvPr/>
        </p:nvSpPr>
        <p:spPr>
          <a:xfrm>
            <a:off x="731520" y="5029200"/>
            <a:ext cx="5394960" cy="457200"/>
          </a:xfrm>
          <a:prstGeom prst="rect">
            <a:avLst/>
          </a:prstGeom>
          <a:noFill/>
          <a:ln/>
        </p:spPr>
        <p:txBody>
          <a:bodyPr wrap="square" rtlCol="0" anchor="ctr"/>
          <a:lstStyle/>
          <a:p>
            <a:pPr algn="ctr" indent="0" marL="0">
              <a:buNone/>
            </a:pPr>
            <a:r>
              <a:rPr lang="en-US" sz="1200" i="1" dirty="0">
                <a:solidFill>
                  <a:srgbClr val="5C6B7A"/>
                </a:solidFill>
                <a:latin typeface="Calibri" pitchFamily="34" charset="0"/>
                <a:ea typeface="Calibri" pitchFamily="34" charset="-122"/>
                <a:cs typeface="Calibri" pitchFamily="34" charset="-120"/>
              </a:rPr>
              <a:t>Dashboard thị trường — kỹ năng cầu cao, việc làm hot, xu hướng</a:t>
            </a:r>
            <a:endParaRPr lang="en-US" sz="1200" dirty="0"/>
          </a:p>
        </p:txBody>
      </p:sp>
      <p:sp>
        <p:nvSpPr>
          <p:cNvPr id="8" name="Shape 4"/>
          <p:cNvSpPr/>
          <p:nvPr/>
        </p:nvSpPr>
        <p:spPr>
          <a:xfrm>
            <a:off x="6355080" y="1783080"/>
            <a:ext cx="5166360" cy="3200400"/>
          </a:xfrm>
          <a:prstGeom prst="roundRect">
            <a:avLst>
              <a:gd name="adj" fmla="val 1714"/>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9" name="Image 2" descr="/private/tmp/claude-501/-Users-ymytr-nova/5e161095-2610-40a0-961d-5450e47dcdec/scratchpad/build/ui_skill_gap_details.png">    </p:cNvPr>
          <p:cNvPicPr>
            <a:picLocks noChangeAspect="1"/>
          </p:cNvPicPr>
          <p:nvPr/>
        </p:nvPicPr>
        <p:blipFill>
          <a:blip r:embed="rId3"/>
          <a:stretch>
            <a:fillRect/>
          </a:stretch>
        </p:blipFill>
        <p:spPr>
          <a:xfrm>
            <a:off x="6464808" y="1921158"/>
            <a:ext cx="4946904" cy="2924245"/>
          </a:xfrm>
          <a:prstGeom prst="rect">
            <a:avLst/>
          </a:prstGeom>
        </p:spPr>
      </p:pic>
      <p:sp>
        <p:nvSpPr>
          <p:cNvPr id="10" name="Text 5"/>
          <p:cNvSpPr/>
          <p:nvPr/>
        </p:nvSpPr>
        <p:spPr>
          <a:xfrm>
            <a:off x="6355080" y="5029200"/>
            <a:ext cx="5166360" cy="457200"/>
          </a:xfrm>
          <a:prstGeom prst="rect">
            <a:avLst/>
          </a:prstGeom>
          <a:noFill/>
          <a:ln/>
        </p:spPr>
        <p:txBody>
          <a:bodyPr wrap="square" rtlCol="0" anchor="ctr"/>
          <a:lstStyle/>
          <a:p>
            <a:pPr algn="ctr" indent="0" marL="0">
              <a:buNone/>
            </a:pPr>
            <a:r>
              <a:rPr lang="en-US" sz="1200" i="1" dirty="0">
                <a:solidFill>
                  <a:srgbClr val="5C6B7A"/>
                </a:solidFill>
                <a:latin typeface="Calibri" pitchFamily="34" charset="0"/>
                <a:ea typeface="Calibri" pitchFamily="34" charset="-122"/>
                <a:cs typeface="Calibri" pitchFamily="34" charset="-120"/>
              </a:rPr>
              <a:t>Skill Gap — kỹ năng đã đạt vs còn thiếu + gợi ý lộ trình</a:t>
            </a:r>
            <a:endParaRPr lang="en-US" sz="1200" dirty="0"/>
          </a:p>
        </p:txBody>
      </p:sp>
      <p:sp>
        <p:nvSpPr>
          <p:cNvPr id="11" name="Text 6"/>
          <p:cNvSpPr/>
          <p:nvPr/>
        </p:nvSpPr>
        <p:spPr>
          <a:xfrm>
            <a:off x="731520" y="5623560"/>
            <a:ext cx="10789920" cy="548640"/>
          </a:xfrm>
          <a:prstGeom prst="rect">
            <a:avLst/>
          </a:prstGeom>
          <a:noFill/>
          <a:ln/>
        </p:spPr>
        <p:txBody>
          <a:bodyPr wrap="square" rtlCol="0" anchor="t"/>
          <a:lstStyle/>
          <a:p>
            <a:pPr indent="0" marL="0">
              <a:buNone/>
            </a:pPr>
            <a:r>
              <a:rPr lang="en-US" sz="1400" b="1" dirty="0">
                <a:solidFill>
                  <a:srgbClr val="0C63B4"/>
                </a:solidFill>
                <a:latin typeface="Calibri" pitchFamily="34" charset="0"/>
                <a:ea typeface="Calibri" pitchFamily="34" charset="-122"/>
                <a:cs typeface="Calibri" pitchFamily="34" charset="-120"/>
              </a:rPr>
              <a:t>Nguyên lý DIKW:  </a:t>
            </a:r>
            <a:pPr indent="0" marL="0">
              <a:buNone/>
            </a:pPr>
            <a:r>
              <a:rPr lang="en-US" sz="1400" dirty="0">
                <a:solidFill>
                  <a:srgbClr val="17334D"/>
                </a:solidFill>
                <a:latin typeface="Calibri" pitchFamily="34" charset="0"/>
                <a:ea typeface="Calibri" pitchFamily="34" charset="-122"/>
                <a:cs typeface="Calibri" pitchFamily="34" charset="-120"/>
              </a:rPr>
              <a:t>Dữ liệu → Thông tin → Tri thức → hành động cụ thể cho sinh viên (học gì, ứng tuyển vị trí nào).</a:t>
            </a:r>
            <a:endParaRPr lang="en-US" sz="1400" dirty="0"/>
          </a:p>
        </p:txBody>
      </p:sp>
      <p:sp>
        <p:nvSpPr>
          <p:cNvPr id="13" name="Text 7"/>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14" name="Text 8"/>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3E7E"/>
        </a:solidFill>
      </p:bgPr>
    </p:bg>
    <p:spTree>
      <p:nvGrpSpPr>
        <p:cNvPr id="1" name=""/>
        <p:cNvGrpSpPr/>
        <p:nvPr/>
      </p:nvGrpSpPr>
      <p:grpSpPr>
        <a:xfrm>
          <a:off x="0" y="0"/>
          <a:ext cx="0" cy="0"/>
          <a:chOff x="0" y="0"/>
          <a:chExt cx="0" cy="0"/>
        </a:xfrm>
      </p:grpSpPr>
      <p:sp>
        <p:nvSpPr>
          <p:cNvPr id="2" name="Shape 0"/>
          <p:cNvSpPr/>
          <p:nvPr/>
        </p:nvSpPr>
        <p:spPr>
          <a:xfrm>
            <a:off x="8961120" y="3108960"/>
            <a:ext cx="6400800" cy="6400800"/>
          </a:xfrm>
          <a:prstGeom prst="ellipse">
            <a:avLst/>
          </a:prstGeom>
          <a:solidFill>
            <a:srgbClr val="0A56A0"/>
          </a:solidFill>
          <a:ln/>
        </p:spPr>
      </p:sp>
      <p:sp>
        <p:nvSpPr>
          <p:cNvPr id="3" name="Text 1"/>
          <p:cNvSpPr/>
          <p:nvPr/>
        </p:nvSpPr>
        <p:spPr>
          <a:xfrm>
            <a:off x="640080" y="1554480"/>
            <a:ext cx="3657600" cy="2377440"/>
          </a:xfrm>
          <a:prstGeom prst="rect">
            <a:avLst/>
          </a:prstGeom>
          <a:noFill/>
          <a:ln/>
        </p:spPr>
        <p:txBody>
          <a:bodyPr wrap="square" rtlCol="0" anchor="ctr"/>
          <a:lstStyle/>
          <a:p>
            <a:pPr indent="0" marL="0">
              <a:buNone/>
            </a:pPr>
            <a:r>
              <a:rPr lang="en-US" sz="15000" b="1" dirty="0">
                <a:solidFill>
                  <a:srgbClr val="1E88D6"/>
                </a:solidFill>
                <a:latin typeface="Cambria" pitchFamily="34" charset="0"/>
                <a:ea typeface="Cambria" pitchFamily="34" charset="-122"/>
                <a:cs typeface="Cambria" pitchFamily="34" charset="-120"/>
              </a:rPr>
              <a:t>03</a:t>
            </a:r>
            <a:endParaRPr lang="en-US" sz="15000" dirty="0"/>
          </a:p>
        </p:txBody>
      </p:sp>
      <p:sp>
        <p:nvSpPr>
          <p:cNvPr id="4" name="Text 2"/>
          <p:cNvSpPr/>
          <p:nvPr/>
        </p:nvSpPr>
        <p:spPr>
          <a:xfrm>
            <a:off x="3200400" y="2286000"/>
            <a:ext cx="8412480" cy="109728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Kết quả &amp; Đánh giá</a:t>
            </a:r>
            <a:endParaRPr lang="en-US" sz="4000" dirty="0"/>
          </a:p>
        </p:txBody>
      </p:sp>
      <p:sp>
        <p:nvSpPr>
          <p:cNvPr id="5" name="Text 3"/>
          <p:cNvSpPr/>
          <p:nvPr/>
        </p:nvSpPr>
        <p:spPr>
          <a:xfrm>
            <a:off x="3246120" y="3383280"/>
            <a:ext cx="8229600" cy="548640"/>
          </a:xfrm>
          <a:prstGeom prst="rect">
            <a:avLst/>
          </a:prstGeom>
          <a:noFill/>
          <a:ln/>
        </p:spPr>
        <p:txBody>
          <a:bodyPr wrap="square" rtlCol="0" anchor="ctr"/>
          <a:lstStyle/>
          <a:p>
            <a:pPr indent="0" marL="0">
              <a:buNone/>
            </a:pPr>
            <a:r>
              <a:rPr lang="en-US" sz="1600" dirty="0">
                <a:solidFill>
                  <a:srgbClr val="CBDEF5"/>
                </a:solidFill>
                <a:latin typeface="Calibri" pitchFamily="34" charset="0"/>
                <a:ea typeface="Calibri" pitchFamily="34" charset="-122"/>
                <a:cs typeface="Calibri" pitchFamily="34" charset="-120"/>
              </a:rPr>
              <a:t>Hệ thống chạy thật — đo đạc có bằng chứng, trình bày trung thực</a:t>
            </a:r>
            <a:endParaRPr lang="en-US" sz="1600" dirty="0"/>
          </a:p>
        </p:txBody>
      </p:sp>
      <p:sp>
        <p:nvSpPr>
          <p:cNvPr id="6" name="Text 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9FB3C4"/>
                </a:solidFill>
                <a:latin typeface="Calibri" pitchFamily="34" charset="0"/>
                <a:ea typeface="Calibri" pitchFamily="34" charset="-122"/>
                <a:cs typeface="Calibri" pitchFamily="34" charset="-120"/>
              </a:rPr>
              <a:t>CareerNova · KLTN 2026</a:t>
            </a:r>
            <a:endParaRPr lang="en-US" sz="900" dirty="0"/>
          </a:p>
        </p:txBody>
      </p:sp>
      <p:sp>
        <p:nvSpPr>
          <p:cNvPr id="7"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9FB3C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HỆ THỐNG ĐÃ XÂY DỰNG</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Triển khai công khai, dữ liệu thật — không phải bản mẫu (prototype)</a:t>
            </a:r>
            <a:endParaRPr lang="en-US" sz="3000" dirty="0"/>
          </a:p>
        </p:txBody>
      </p:sp>
      <p:sp>
        <p:nvSpPr>
          <p:cNvPr id="5" name="Shape 2"/>
          <p:cNvSpPr/>
          <p:nvPr/>
        </p:nvSpPr>
        <p:spPr>
          <a:xfrm>
            <a:off x="731520" y="1783080"/>
            <a:ext cx="6766560" cy="3977640"/>
          </a:xfrm>
          <a:prstGeom prst="roundRect">
            <a:avLst>
              <a:gd name="adj" fmla="val 1379"/>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6" name="Image 1" descr="/private/tmp/claude-501/-Users-ymytr-nova/5e161095-2610-40a0-961d-5450e47dcdec/scratchpad/build/ui_cv_matching_radar.png">    </p:cNvPr>
          <p:cNvPicPr>
            <a:picLocks noChangeAspect="1"/>
          </p:cNvPicPr>
          <p:nvPr/>
        </p:nvPicPr>
        <p:blipFill>
          <a:blip r:embed="rId2"/>
          <a:stretch>
            <a:fillRect/>
          </a:stretch>
        </p:blipFill>
        <p:spPr>
          <a:xfrm>
            <a:off x="964368" y="1892808"/>
            <a:ext cx="6300864" cy="3758184"/>
          </a:xfrm>
          <a:prstGeom prst="rect">
            <a:avLst/>
          </a:prstGeom>
        </p:spPr>
      </p:pic>
      <p:sp>
        <p:nvSpPr>
          <p:cNvPr id="7" name="Shape 3"/>
          <p:cNvSpPr/>
          <p:nvPr/>
        </p:nvSpPr>
        <p:spPr>
          <a:xfrm>
            <a:off x="7726680" y="1783080"/>
            <a:ext cx="3794760" cy="896112"/>
          </a:xfrm>
          <a:prstGeom prst="roundRect">
            <a:avLst>
              <a:gd name="adj" fmla="val 816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8" name="Text 4"/>
          <p:cNvSpPr/>
          <p:nvPr/>
        </p:nvSpPr>
        <p:spPr>
          <a:xfrm>
            <a:off x="7955280" y="1856232"/>
            <a:ext cx="3383280" cy="457200"/>
          </a:xfrm>
          <a:prstGeom prst="rect">
            <a:avLst/>
          </a:prstGeom>
          <a:noFill/>
          <a:ln/>
        </p:spPr>
        <p:txBody>
          <a:bodyPr wrap="square" rtlCol="0" anchor="ctr"/>
          <a:lstStyle/>
          <a:p>
            <a:pPr indent="0" marL="0">
              <a:buNone/>
            </a:pPr>
            <a:r>
              <a:rPr lang="en-US" sz="2200" b="1" dirty="0">
                <a:solidFill>
                  <a:srgbClr val="0C63B4"/>
                </a:solidFill>
                <a:latin typeface="Cambria" pitchFamily="34" charset="0"/>
                <a:ea typeface="Cambria" pitchFamily="34" charset="-122"/>
                <a:cs typeface="Cambria" pitchFamily="34" charset="-120"/>
              </a:rPr>
              <a:t>career-nova.online</a:t>
            </a:r>
            <a:endParaRPr lang="en-US" sz="2200" dirty="0"/>
          </a:p>
        </p:txBody>
      </p:sp>
      <p:sp>
        <p:nvSpPr>
          <p:cNvPr id="9" name="Text 5"/>
          <p:cNvSpPr/>
          <p:nvPr/>
        </p:nvSpPr>
        <p:spPr>
          <a:xfrm>
            <a:off x="7955280" y="2313432"/>
            <a:ext cx="3383280" cy="320040"/>
          </a:xfrm>
          <a:prstGeom prst="rect">
            <a:avLst/>
          </a:prstGeom>
          <a:noFill/>
          <a:ln/>
        </p:spPr>
        <p:txBody>
          <a:bodyPr wrap="square" rtlCol="0" anchor="ctr"/>
          <a:lstStyle/>
          <a:p>
            <a:pPr indent="0" marL="0">
              <a:buNone/>
            </a:pPr>
            <a:r>
              <a:rPr lang="en-US" sz="1150" dirty="0">
                <a:solidFill>
                  <a:srgbClr val="5C6B7A"/>
                </a:solidFill>
                <a:latin typeface="Calibri" pitchFamily="34" charset="0"/>
                <a:ea typeface="Calibri" pitchFamily="34" charset="-122"/>
                <a:cs typeface="Calibri" pitchFamily="34" charset="-120"/>
              </a:rPr>
              <a:t>Triển khai công khai (DigitalOcean)</a:t>
            </a:r>
            <a:endParaRPr lang="en-US" sz="1150" dirty="0"/>
          </a:p>
        </p:txBody>
      </p:sp>
      <p:sp>
        <p:nvSpPr>
          <p:cNvPr id="10" name="Shape 6"/>
          <p:cNvSpPr/>
          <p:nvPr/>
        </p:nvSpPr>
        <p:spPr>
          <a:xfrm>
            <a:off x="7726680" y="2798064"/>
            <a:ext cx="3794760" cy="896112"/>
          </a:xfrm>
          <a:prstGeom prst="roundRect">
            <a:avLst>
              <a:gd name="adj" fmla="val 816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1" name="Text 7"/>
          <p:cNvSpPr/>
          <p:nvPr/>
        </p:nvSpPr>
        <p:spPr>
          <a:xfrm>
            <a:off x="7955280" y="2871216"/>
            <a:ext cx="3383280" cy="457200"/>
          </a:xfrm>
          <a:prstGeom prst="rect">
            <a:avLst/>
          </a:prstGeom>
          <a:noFill/>
          <a:ln/>
        </p:spPr>
        <p:txBody>
          <a:bodyPr wrap="square" rtlCol="0" anchor="ctr"/>
          <a:lstStyle/>
          <a:p>
            <a:pPr indent="0" marL="0">
              <a:buNone/>
            </a:pPr>
            <a:r>
              <a:rPr lang="en-US" sz="2200" b="1" dirty="0">
                <a:solidFill>
                  <a:srgbClr val="0C63B4"/>
                </a:solidFill>
                <a:latin typeface="Cambria" pitchFamily="34" charset="0"/>
                <a:ea typeface="Cambria" pitchFamily="34" charset="-122"/>
                <a:cs typeface="Cambria" pitchFamily="34" charset="-120"/>
              </a:rPr>
              <a:t>5 phân hệ</a:t>
            </a:r>
            <a:endParaRPr lang="en-US" sz="2200" dirty="0"/>
          </a:p>
        </p:txBody>
      </p:sp>
      <p:sp>
        <p:nvSpPr>
          <p:cNvPr id="12" name="Text 8"/>
          <p:cNvSpPr/>
          <p:nvPr/>
        </p:nvSpPr>
        <p:spPr>
          <a:xfrm>
            <a:off x="7955280" y="3328416"/>
            <a:ext cx="3383280" cy="320040"/>
          </a:xfrm>
          <a:prstGeom prst="rect">
            <a:avLst/>
          </a:prstGeom>
          <a:noFill/>
          <a:ln/>
        </p:spPr>
        <p:txBody>
          <a:bodyPr wrap="square" rtlCol="0" anchor="ctr"/>
          <a:lstStyle/>
          <a:p>
            <a:pPr indent="0" marL="0">
              <a:buNone/>
            </a:pPr>
            <a:r>
              <a:rPr lang="en-US" sz="1150" dirty="0">
                <a:solidFill>
                  <a:srgbClr val="5C6B7A"/>
                </a:solidFill>
                <a:latin typeface="Calibri" pitchFamily="34" charset="0"/>
                <a:ea typeface="Calibri" pitchFamily="34" charset="-122"/>
                <a:cs typeface="Calibri" pitchFamily="34" charset="-120"/>
              </a:rPr>
              <a:t>Auth · Dashboard · Job · CV · So khớp</a:t>
            </a:r>
            <a:endParaRPr lang="en-US" sz="1150" dirty="0"/>
          </a:p>
        </p:txBody>
      </p:sp>
      <p:sp>
        <p:nvSpPr>
          <p:cNvPr id="13" name="Shape 9"/>
          <p:cNvSpPr/>
          <p:nvPr/>
        </p:nvSpPr>
        <p:spPr>
          <a:xfrm>
            <a:off x="7726680" y="3813048"/>
            <a:ext cx="3794760" cy="896112"/>
          </a:xfrm>
          <a:prstGeom prst="roundRect">
            <a:avLst>
              <a:gd name="adj" fmla="val 816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4" name="Text 10"/>
          <p:cNvSpPr/>
          <p:nvPr/>
        </p:nvSpPr>
        <p:spPr>
          <a:xfrm>
            <a:off x="7955280" y="3886200"/>
            <a:ext cx="3383280" cy="457200"/>
          </a:xfrm>
          <a:prstGeom prst="rect">
            <a:avLst/>
          </a:prstGeom>
          <a:noFill/>
          <a:ln/>
        </p:spPr>
        <p:txBody>
          <a:bodyPr wrap="square" rtlCol="0" anchor="ctr"/>
          <a:lstStyle/>
          <a:p>
            <a:pPr indent="0" marL="0">
              <a:buNone/>
            </a:pPr>
            <a:r>
              <a:rPr lang="en-US" sz="2200" b="1" dirty="0">
                <a:solidFill>
                  <a:srgbClr val="0C63B4"/>
                </a:solidFill>
                <a:latin typeface="Cambria" pitchFamily="34" charset="0"/>
                <a:ea typeface="Cambria" pitchFamily="34" charset="-122"/>
                <a:cs typeface="Cambria" pitchFamily="34" charset="-120"/>
              </a:rPr>
              <a:t>11/11</a:t>
            </a:r>
            <a:endParaRPr lang="en-US" sz="2200" dirty="0"/>
          </a:p>
        </p:txBody>
      </p:sp>
      <p:sp>
        <p:nvSpPr>
          <p:cNvPr id="15" name="Text 11"/>
          <p:cNvSpPr/>
          <p:nvPr/>
        </p:nvSpPr>
        <p:spPr>
          <a:xfrm>
            <a:off x="7955280" y="4343400"/>
            <a:ext cx="3383280" cy="320040"/>
          </a:xfrm>
          <a:prstGeom prst="rect">
            <a:avLst/>
          </a:prstGeom>
          <a:noFill/>
          <a:ln/>
        </p:spPr>
        <p:txBody>
          <a:bodyPr wrap="square" rtlCol="0" anchor="ctr"/>
          <a:lstStyle/>
          <a:p>
            <a:pPr indent="0" marL="0">
              <a:buNone/>
            </a:pPr>
            <a:r>
              <a:rPr lang="en-US" sz="1150" dirty="0">
                <a:solidFill>
                  <a:srgbClr val="5C6B7A"/>
                </a:solidFill>
                <a:latin typeface="Calibri" pitchFamily="34" charset="0"/>
                <a:ea typeface="Calibri" pitchFamily="34" charset="-122"/>
                <a:cs typeface="Calibri" pitchFamily="34" charset="-120"/>
              </a:rPr>
              <a:t>ca kiểm thử chức năng ĐẠT</a:t>
            </a:r>
            <a:endParaRPr lang="en-US" sz="1150" dirty="0"/>
          </a:p>
        </p:txBody>
      </p:sp>
      <p:sp>
        <p:nvSpPr>
          <p:cNvPr id="16" name="Shape 12"/>
          <p:cNvSpPr/>
          <p:nvPr/>
        </p:nvSpPr>
        <p:spPr>
          <a:xfrm>
            <a:off x="7726680" y="4828032"/>
            <a:ext cx="3794760" cy="896112"/>
          </a:xfrm>
          <a:prstGeom prst="roundRect">
            <a:avLst>
              <a:gd name="adj" fmla="val 8163"/>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7" name="Text 13"/>
          <p:cNvSpPr/>
          <p:nvPr/>
        </p:nvSpPr>
        <p:spPr>
          <a:xfrm>
            <a:off x="7955280" y="4901184"/>
            <a:ext cx="3383280" cy="457200"/>
          </a:xfrm>
          <a:prstGeom prst="rect">
            <a:avLst/>
          </a:prstGeom>
          <a:noFill/>
          <a:ln/>
        </p:spPr>
        <p:txBody>
          <a:bodyPr wrap="square" rtlCol="0" anchor="ctr"/>
          <a:lstStyle/>
          <a:p>
            <a:pPr indent="0" marL="0">
              <a:buNone/>
            </a:pPr>
            <a:r>
              <a:rPr lang="en-US" sz="2200" b="1" dirty="0">
                <a:solidFill>
                  <a:srgbClr val="0C63B4"/>
                </a:solidFill>
                <a:latin typeface="Cambria" pitchFamily="34" charset="0"/>
                <a:ea typeface="Cambria" pitchFamily="34" charset="-122"/>
                <a:cs typeface="Cambria" pitchFamily="34" charset="-120"/>
              </a:rPr>
              <a:t>8,56/10</a:t>
            </a:r>
            <a:endParaRPr lang="en-US" sz="2200" dirty="0"/>
          </a:p>
        </p:txBody>
      </p:sp>
      <p:sp>
        <p:nvSpPr>
          <p:cNvPr id="18" name="Text 14"/>
          <p:cNvSpPr/>
          <p:nvPr/>
        </p:nvSpPr>
        <p:spPr>
          <a:xfrm>
            <a:off x="7955280" y="5358384"/>
            <a:ext cx="3383280" cy="320040"/>
          </a:xfrm>
          <a:prstGeom prst="rect">
            <a:avLst/>
          </a:prstGeom>
          <a:noFill/>
          <a:ln/>
        </p:spPr>
        <p:txBody>
          <a:bodyPr wrap="square" rtlCol="0" anchor="ctr"/>
          <a:lstStyle/>
          <a:p>
            <a:pPr indent="0" marL="0">
              <a:buNone/>
            </a:pPr>
            <a:r>
              <a:rPr lang="en-US" sz="1150" dirty="0">
                <a:solidFill>
                  <a:srgbClr val="5C6B7A"/>
                </a:solidFill>
                <a:latin typeface="Calibri" pitchFamily="34" charset="0"/>
                <a:ea typeface="Calibri" pitchFamily="34" charset="-122"/>
                <a:cs typeface="Calibri" pitchFamily="34" charset="-120"/>
              </a:rPr>
              <a:t>điểm thiện cảm người dùng (n=9)</a:t>
            </a:r>
            <a:endParaRPr lang="en-US" sz="1150" dirty="0"/>
          </a:p>
        </p:txBody>
      </p:sp>
      <p:sp>
        <p:nvSpPr>
          <p:cNvPr id="20" name="Text 15"/>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21" name="Text 16"/>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KIỂM THỬ CHỨC NĂNG</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11/11 ca ĐẠT · có ma trận truy vết yêu cầu → kiểm thử</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1828800"/>
          <a:ext cx="10744200" cy="914400"/>
        </p:xfrm>
        <a:graphic>
          <a:graphicData uri="http://schemas.openxmlformats.org/drawingml/2006/table">
            <a:tbl>
              <a:tblPr/>
              <a:tblGrid>
                <a:gridCol w="1051560"/>
                <a:gridCol w="2286000"/>
                <a:gridCol w="3200400"/>
                <a:gridCol w="3108960"/>
                <a:gridCol w="1097280"/>
              </a:tblGrid>
              <a:tr h="56692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ID</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Chức năng</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Đầu vào / Điều kiện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Kết quả mong đợi</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KQ</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TC-06</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Từ chối file sai</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DOCX/TXT hoặc ảnh &gt; 5 MB</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Báo lỗi, không lưu file</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ĐẠT</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TC-08</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Đối soát CV + Skill Gap</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Chọn CV + nhóm nghề</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 phù hợp, radar, kỹ năng thiếu</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ĐẠT</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TC-09</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Dashboard thị trường</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Chọn bộ lọc khu vực/thời gian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Biểu đồ xu hướng đúng bộ lọc</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ĐẠT</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TC-10</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Tìm kiếm việc làm</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Từ khóa + bộ lọc</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Danh sách đúng tiêu chí</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ĐẠT</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TC-11</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Lưu / hủy lưu job</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Bấm lưu rồi hủy</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Danh sách đã lưu cập nhật đúng</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ĐẠT</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FFFFFF"/>
                    </a:solidFill>
                  </a:tcPr>
                </a:tc>
              </a:tr>
            </a:tbl>
          </a:graphicData>
        </a:graphic>
      </p:graphicFrame>
      <p:sp>
        <p:nvSpPr>
          <p:cNvPr id="6" name="Text 2"/>
          <p:cNvSpPr/>
          <p:nvPr/>
        </p:nvSpPr>
        <p:spPr>
          <a:xfrm>
            <a:off x="731520" y="5806440"/>
            <a:ext cx="10789920" cy="457200"/>
          </a:xfrm>
          <a:prstGeom prst="rect">
            <a:avLst/>
          </a:prstGeom>
          <a:noFill/>
          <a:ln/>
        </p:spPr>
        <p:txBody>
          <a:bodyPr wrap="square" rtlCol="0" anchor="ctr"/>
          <a:lstStyle/>
          <a:p>
            <a:pPr indent="0" marL="0">
              <a:buNone/>
            </a:pPr>
            <a:r>
              <a:rPr lang="en-US" sz="1300" i="1" dirty="0">
                <a:solidFill>
                  <a:srgbClr val="5C6B7A"/>
                </a:solidFill>
                <a:latin typeface="Calibri" pitchFamily="34" charset="0"/>
                <a:ea typeface="Calibri" pitchFamily="34" charset="-122"/>
                <a:cs typeface="Calibri" pitchFamily="34" charset="-120"/>
              </a:rPr>
              <a:t>Tiêu biểu 5/11 ca. TC-06 (biên từ chối) và TC-08 (chuỗi AI đầu–cuối) là hai ca rủi ro nhất — đều ĐẠT.</a:t>
            </a:r>
            <a:endParaRPr lang="en-US" sz="1300" dirty="0"/>
          </a:p>
        </p:txBody>
      </p:sp>
      <p:sp>
        <p:nvSpPr>
          <p:cNvPr id="8"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9"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ĐÁNH GIÁ THUẬT TOÁN</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Trình bày trung thực: đạt gì, chưa đạt gì</a:t>
            </a:r>
            <a:endParaRPr lang="en-US" sz="3000" dirty="0"/>
          </a:p>
        </p:txBody>
      </p:sp>
      <p:sp>
        <p:nvSpPr>
          <p:cNvPr id="5" name="Shape 2"/>
          <p:cNvSpPr/>
          <p:nvPr/>
        </p:nvSpPr>
        <p:spPr>
          <a:xfrm>
            <a:off x="731520" y="1783080"/>
            <a:ext cx="10789920" cy="932688"/>
          </a:xfrm>
          <a:prstGeom prst="roundRect">
            <a:avLst>
              <a:gd name="adj" fmla="val 7843"/>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Shape 3"/>
          <p:cNvSpPr/>
          <p:nvPr/>
        </p:nvSpPr>
        <p:spPr>
          <a:xfrm>
            <a:off x="960120" y="2130552"/>
            <a:ext cx="237744" cy="237744"/>
          </a:xfrm>
          <a:prstGeom prst="ellipse">
            <a:avLst/>
          </a:prstGeom>
          <a:solidFill>
            <a:srgbClr val="C08A1E"/>
          </a:solidFill>
          <a:ln/>
        </p:spPr>
      </p:sp>
      <p:sp>
        <p:nvSpPr>
          <p:cNvPr id="7" name="Text 4"/>
          <p:cNvSpPr/>
          <p:nvPr/>
        </p:nvSpPr>
        <p:spPr>
          <a:xfrm>
            <a:off x="1371600" y="1865376"/>
            <a:ext cx="4206240" cy="384048"/>
          </a:xfrm>
          <a:prstGeom prst="rect">
            <a:avLst/>
          </a:prstGeom>
          <a:noFill/>
          <a:ln/>
        </p:spPr>
        <p:txBody>
          <a:bodyPr wrap="square" rtlCol="0" anchor="ctr"/>
          <a:lstStyle/>
          <a:p>
            <a:pPr indent="0" marL="0">
              <a:buNone/>
            </a:pPr>
            <a:r>
              <a:rPr lang="en-US" sz="1350" b="1" dirty="0">
                <a:solidFill>
                  <a:srgbClr val="003E7E"/>
                </a:solidFill>
                <a:latin typeface="Cambria" pitchFamily="34" charset="0"/>
                <a:ea typeface="Cambria" pitchFamily="34" charset="-122"/>
                <a:cs typeface="Cambria" pitchFamily="34" charset="-120"/>
              </a:rPr>
              <a:t>Trích xuất kỹ năng (NER) · 40 tài liệu</a:t>
            </a:r>
            <a:endParaRPr lang="en-US" sz="1350" dirty="0"/>
          </a:p>
        </p:txBody>
      </p:sp>
      <p:sp>
        <p:nvSpPr>
          <p:cNvPr id="8" name="Text 5"/>
          <p:cNvSpPr/>
          <p:nvPr/>
        </p:nvSpPr>
        <p:spPr>
          <a:xfrm>
            <a:off x="1371600" y="2240280"/>
            <a:ext cx="4206240" cy="365760"/>
          </a:xfrm>
          <a:prstGeom prst="rect">
            <a:avLst/>
          </a:prstGeom>
          <a:noFill/>
          <a:ln/>
        </p:spPr>
        <p:txBody>
          <a:bodyPr wrap="square" rtlCol="0" anchor="ctr"/>
          <a:lstStyle/>
          <a:p>
            <a:pPr indent="0" marL="0">
              <a:buNone/>
            </a:pPr>
            <a:r>
              <a:rPr lang="en-US" sz="1050" i="1" dirty="0">
                <a:solidFill>
                  <a:srgbClr val="5C6B7A"/>
                </a:solidFill>
                <a:latin typeface="Calibri" pitchFamily="34" charset="0"/>
                <a:ea typeface="Calibri" pitchFamily="34" charset="-122"/>
                <a:cs typeface="Calibri" pitchFamily="34" charset="-120"/>
              </a:rPr>
              <a:t>→ Chứng minh: tính tin cậy của trích xuất</a:t>
            </a:r>
            <a:endParaRPr lang="en-US" sz="1050" dirty="0"/>
          </a:p>
        </p:txBody>
      </p:sp>
      <p:sp>
        <p:nvSpPr>
          <p:cNvPr id="9" name="Text 6"/>
          <p:cNvSpPr/>
          <p:nvPr/>
        </p:nvSpPr>
        <p:spPr>
          <a:xfrm>
            <a:off x="5669280" y="1856232"/>
            <a:ext cx="3566160" cy="777240"/>
          </a:xfrm>
          <a:prstGeom prst="rect">
            <a:avLst/>
          </a:prstGeom>
          <a:noFill/>
          <a:ln/>
        </p:spPr>
        <p:txBody>
          <a:bodyPr wrap="square" rtlCol="0" anchor="ctr"/>
          <a:lstStyle/>
          <a:p>
            <a:pPr indent="0" marL="0">
              <a:lnSpc>
                <a:spcPct val="102000"/>
              </a:lnSpc>
              <a:buNone/>
            </a:pPr>
            <a:r>
              <a:rPr lang="en-US" sz="1200" dirty="0">
                <a:solidFill>
                  <a:srgbClr val="17334D"/>
                </a:solidFill>
                <a:latin typeface="Calibri" pitchFamily="34" charset="0"/>
                <a:ea typeface="Calibri" pitchFamily="34" charset="-122"/>
                <a:cs typeface="Calibri" pitchFamily="34" charset="-120"/>
              </a:rPr>
              <a:t>JSON 100% ✓  ·  Precision 98,9% ✓  ·  F1 84,0% ✓</a:t>
            </a:r>
            <a:endParaRPr lang="en-US" sz="1200" dirty="0"/>
          </a:p>
        </p:txBody>
      </p:sp>
      <p:sp>
        <p:nvSpPr>
          <p:cNvPr id="10" name="Text 7"/>
          <p:cNvSpPr/>
          <p:nvPr/>
        </p:nvSpPr>
        <p:spPr>
          <a:xfrm>
            <a:off x="9326880" y="1856232"/>
            <a:ext cx="2103120" cy="777240"/>
          </a:xfrm>
          <a:prstGeom prst="rect">
            <a:avLst/>
          </a:prstGeom>
          <a:noFill/>
          <a:ln/>
        </p:spPr>
        <p:txBody>
          <a:bodyPr wrap="square" rtlCol="0" anchor="ctr"/>
          <a:lstStyle/>
          <a:p>
            <a:pPr indent="0" marL="0">
              <a:lnSpc>
                <a:spcPct val="100000"/>
              </a:lnSpc>
              <a:buNone/>
            </a:pPr>
            <a:r>
              <a:rPr lang="en-US" sz="1150" b="1" dirty="0">
                <a:solidFill>
                  <a:srgbClr val="C08A1E"/>
                </a:solidFill>
                <a:latin typeface="Calibri" pitchFamily="34" charset="0"/>
                <a:ea typeface="Calibri" pitchFamily="34" charset="-122"/>
                <a:cs typeface="Calibri" pitchFamily="34" charset="-120"/>
              </a:rPr>
              <a:t>Recall 73,0% — chưa đạt 80%</a:t>
            </a:r>
            <a:endParaRPr lang="en-US" sz="1150" dirty="0"/>
          </a:p>
        </p:txBody>
      </p:sp>
      <p:sp>
        <p:nvSpPr>
          <p:cNvPr id="11" name="Shape 8"/>
          <p:cNvSpPr/>
          <p:nvPr/>
        </p:nvSpPr>
        <p:spPr>
          <a:xfrm>
            <a:off x="731520" y="2816352"/>
            <a:ext cx="10789920" cy="932688"/>
          </a:xfrm>
          <a:prstGeom prst="roundRect">
            <a:avLst>
              <a:gd name="adj" fmla="val 7843"/>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2" name="Shape 9"/>
          <p:cNvSpPr/>
          <p:nvPr/>
        </p:nvSpPr>
        <p:spPr>
          <a:xfrm>
            <a:off x="960120" y="3163824"/>
            <a:ext cx="237744" cy="237744"/>
          </a:xfrm>
          <a:prstGeom prst="ellipse">
            <a:avLst/>
          </a:prstGeom>
          <a:solidFill>
            <a:srgbClr val="1E8E5A"/>
          </a:solidFill>
          <a:ln/>
        </p:spPr>
      </p:sp>
      <p:sp>
        <p:nvSpPr>
          <p:cNvPr id="13" name="Text 10"/>
          <p:cNvSpPr/>
          <p:nvPr/>
        </p:nvSpPr>
        <p:spPr>
          <a:xfrm>
            <a:off x="1371600" y="2898648"/>
            <a:ext cx="4206240" cy="384048"/>
          </a:xfrm>
          <a:prstGeom prst="rect">
            <a:avLst/>
          </a:prstGeom>
          <a:noFill/>
          <a:ln/>
        </p:spPr>
        <p:txBody>
          <a:bodyPr wrap="square" rtlCol="0" anchor="ctr"/>
          <a:lstStyle/>
          <a:p>
            <a:pPr indent="0" marL="0">
              <a:buNone/>
            </a:pPr>
            <a:r>
              <a:rPr lang="en-US" sz="1350" b="1" dirty="0">
                <a:solidFill>
                  <a:srgbClr val="003E7E"/>
                </a:solidFill>
                <a:latin typeface="Cambria" pitchFamily="34" charset="0"/>
                <a:ea typeface="Cambria" pitchFamily="34" charset="-122"/>
                <a:cs typeface="Cambria" pitchFamily="34" charset="-120"/>
              </a:rPr>
              <a:t>Chuẩn hóa kỹ năng · 758 mẫu</a:t>
            </a:r>
            <a:endParaRPr lang="en-US" sz="1350" dirty="0"/>
          </a:p>
        </p:txBody>
      </p:sp>
      <p:sp>
        <p:nvSpPr>
          <p:cNvPr id="14" name="Text 11"/>
          <p:cNvSpPr/>
          <p:nvPr/>
        </p:nvSpPr>
        <p:spPr>
          <a:xfrm>
            <a:off x="1371600" y="3273552"/>
            <a:ext cx="4206240" cy="365760"/>
          </a:xfrm>
          <a:prstGeom prst="rect">
            <a:avLst/>
          </a:prstGeom>
          <a:noFill/>
          <a:ln/>
        </p:spPr>
        <p:txBody>
          <a:bodyPr wrap="square" rtlCol="0" anchor="ctr"/>
          <a:lstStyle/>
          <a:p>
            <a:pPr indent="0" marL="0">
              <a:buNone/>
            </a:pPr>
            <a:r>
              <a:rPr lang="en-US" sz="1050" i="1" dirty="0">
                <a:solidFill>
                  <a:srgbClr val="5C6B7A"/>
                </a:solidFill>
                <a:latin typeface="Calibri" pitchFamily="34" charset="0"/>
                <a:ea typeface="Calibri" pitchFamily="34" charset="-122"/>
                <a:cs typeface="Calibri" pitchFamily="34" charset="-120"/>
              </a:rPr>
              <a:t>→ Chứng minh: tính nhất quán của dữ liệu</a:t>
            </a:r>
            <a:endParaRPr lang="en-US" sz="1050" dirty="0"/>
          </a:p>
        </p:txBody>
      </p:sp>
      <p:sp>
        <p:nvSpPr>
          <p:cNvPr id="15" name="Text 12"/>
          <p:cNvSpPr/>
          <p:nvPr/>
        </p:nvSpPr>
        <p:spPr>
          <a:xfrm>
            <a:off x="5669280" y="2889504"/>
            <a:ext cx="3566160" cy="777240"/>
          </a:xfrm>
          <a:prstGeom prst="rect">
            <a:avLst/>
          </a:prstGeom>
          <a:noFill/>
          <a:ln/>
        </p:spPr>
        <p:txBody>
          <a:bodyPr wrap="square" rtlCol="0" anchor="ctr"/>
          <a:lstStyle/>
          <a:p>
            <a:pPr indent="0" marL="0">
              <a:lnSpc>
                <a:spcPct val="102000"/>
              </a:lnSpc>
              <a:buNone/>
            </a:pPr>
            <a:r>
              <a:rPr lang="en-US" sz="1200" dirty="0">
                <a:solidFill>
                  <a:srgbClr val="17334D"/>
                </a:solidFill>
                <a:latin typeface="Calibri" pitchFamily="34" charset="0"/>
                <a:ea typeface="Calibri" pitchFamily="34" charset="-122"/>
                <a:cs typeface="Calibri" pitchFamily="34" charset="-120"/>
              </a:rPr>
              <a:t>Mapping 67,6% ✓  ·  Reject 69,3% ✓  ·  Gộp công ty 83,3% ✓</a:t>
            </a:r>
            <a:endParaRPr lang="en-US" sz="1200" dirty="0"/>
          </a:p>
        </p:txBody>
      </p:sp>
      <p:sp>
        <p:nvSpPr>
          <p:cNvPr id="16" name="Text 13"/>
          <p:cNvSpPr/>
          <p:nvPr/>
        </p:nvSpPr>
        <p:spPr>
          <a:xfrm>
            <a:off x="9326880" y="2889504"/>
            <a:ext cx="2103120" cy="777240"/>
          </a:xfrm>
          <a:prstGeom prst="rect">
            <a:avLst/>
          </a:prstGeom>
          <a:noFill/>
          <a:ln/>
        </p:spPr>
        <p:txBody>
          <a:bodyPr wrap="square" rtlCol="0" anchor="ctr"/>
          <a:lstStyle/>
          <a:p>
            <a:pPr indent="0" marL="0">
              <a:lnSpc>
                <a:spcPct val="100000"/>
              </a:lnSpc>
              <a:buNone/>
            </a:pPr>
            <a:r>
              <a:rPr lang="en-US" sz="1150" b="1" dirty="0">
                <a:solidFill>
                  <a:srgbClr val="1E8E5A"/>
                </a:solidFill>
                <a:latin typeface="Calibri" pitchFamily="34" charset="0"/>
                <a:ea typeface="Calibri" pitchFamily="34" charset="-122"/>
                <a:cs typeface="Calibri" pitchFamily="34" charset="-120"/>
              </a:rPr>
              <a:t>Đạt cả 3 ngưỡng</a:t>
            </a:r>
            <a:endParaRPr lang="en-US" sz="1150" dirty="0"/>
          </a:p>
        </p:txBody>
      </p:sp>
      <p:sp>
        <p:nvSpPr>
          <p:cNvPr id="17" name="Shape 14"/>
          <p:cNvSpPr/>
          <p:nvPr/>
        </p:nvSpPr>
        <p:spPr>
          <a:xfrm>
            <a:off x="731520" y="3849624"/>
            <a:ext cx="10789920" cy="932688"/>
          </a:xfrm>
          <a:prstGeom prst="roundRect">
            <a:avLst>
              <a:gd name="adj" fmla="val 7843"/>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8" name="Shape 15"/>
          <p:cNvSpPr/>
          <p:nvPr/>
        </p:nvSpPr>
        <p:spPr>
          <a:xfrm>
            <a:off x="960120" y="4197096"/>
            <a:ext cx="237744" cy="237744"/>
          </a:xfrm>
          <a:prstGeom prst="ellipse">
            <a:avLst/>
          </a:prstGeom>
          <a:solidFill>
            <a:srgbClr val="C08A1E"/>
          </a:solidFill>
          <a:ln/>
        </p:spPr>
      </p:sp>
      <p:sp>
        <p:nvSpPr>
          <p:cNvPr id="19" name="Text 16"/>
          <p:cNvSpPr/>
          <p:nvPr/>
        </p:nvSpPr>
        <p:spPr>
          <a:xfrm>
            <a:off x="1371600" y="3931920"/>
            <a:ext cx="4206240" cy="384048"/>
          </a:xfrm>
          <a:prstGeom prst="rect">
            <a:avLst/>
          </a:prstGeom>
          <a:noFill/>
          <a:ln/>
        </p:spPr>
        <p:txBody>
          <a:bodyPr wrap="square" rtlCol="0" anchor="ctr"/>
          <a:lstStyle/>
          <a:p>
            <a:pPr indent="0" marL="0">
              <a:buNone/>
            </a:pPr>
            <a:r>
              <a:rPr lang="en-US" sz="1350" b="1" dirty="0">
                <a:solidFill>
                  <a:srgbClr val="003E7E"/>
                </a:solidFill>
                <a:latin typeface="Cambria" pitchFamily="34" charset="0"/>
                <a:ea typeface="Cambria" pitchFamily="34" charset="-122"/>
                <a:cs typeface="Cambria" pitchFamily="34" charset="-120"/>
              </a:rPr>
              <a:t>Khử trùng lặp · 52 cặp</a:t>
            </a:r>
            <a:endParaRPr lang="en-US" sz="1350" dirty="0"/>
          </a:p>
        </p:txBody>
      </p:sp>
      <p:sp>
        <p:nvSpPr>
          <p:cNvPr id="20" name="Text 17"/>
          <p:cNvSpPr/>
          <p:nvPr/>
        </p:nvSpPr>
        <p:spPr>
          <a:xfrm>
            <a:off x="1371600" y="4306824"/>
            <a:ext cx="4206240" cy="365760"/>
          </a:xfrm>
          <a:prstGeom prst="rect">
            <a:avLst/>
          </a:prstGeom>
          <a:noFill/>
          <a:ln/>
        </p:spPr>
        <p:txBody>
          <a:bodyPr wrap="square" rtlCol="0" anchor="ctr"/>
          <a:lstStyle/>
          <a:p>
            <a:pPr indent="0" marL="0">
              <a:buNone/>
            </a:pPr>
            <a:r>
              <a:rPr lang="en-US" sz="1050" i="1" dirty="0">
                <a:solidFill>
                  <a:srgbClr val="5C6B7A"/>
                </a:solidFill>
                <a:latin typeface="Calibri" pitchFamily="34" charset="0"/>
                <a:ea typeface="Calibri" pitchFamily="34" charset="-122"/>
                <a:cs typeface="Calibri" pitchFamily="34" charset="-120"/>
              </a:rPr>
              <a:t>→ Chứng minh: tính toàn vẹn dữ liệu</a:t>
            </a:r>
            <a:endParaRPr lang="en-US" sz="1050" dirty="0"/>
          </a:p>
        </p:txBody>
      </p:sp>
      <p:sp>
        <p:nvSpPr>
          <p:cNvPr id="21" name="Text 18"/>
          <p:cNvSpPr/>
          <p:nvPr/>
        </p:nvSpPr>
        <p:spPr>
          <a:xfrm>
            <a:off x="5669280" y="3922776"/>
            <a:ext cx="3566160" cy="777240"/>
          </a:xfrm>
          <a:prstGeom prst="rect">
            <a:avLst/>
          </a:prstGeom>
          <a:noFill/>
          <a:ln/>
        </p:spPr>
        <p:txBody>
          <a:bodyPr wrap="square" rtlCol="0" anchor="ctr"/>
          <a:lstStyle/>
          <a:p>
            <a:pPr indent="0" marL="0">
              <a:lnSpc>
                <a:spcPct val="102000"/>
              </a:lnSpc>
              <a:buNone/>
            </a:pPr>
            <a:r>
              <a:rPr lang="en-US" sz="1200" dirty="0">
                <a:solidFill>
                  <a:srgbClr val="17334D"/>
                </a:solidFill>
                <a:latin typeface="Calibri" pitchFamily="34" charset="0"/>
                <a:ea typeface="Calibri" pitchFamily="34" charset="-122"/>
                <a:cs typeface="Calibri" pitchFamily="34" charset="-120"/>
              </a:rPr>
              <a:t>Precision / Recall / F1 = 100%</a:t>
            </a:r>
            <a:endParaRPr lang="en-US" sz="1200" dirty="0"/>
          </a:p>
        </p:txBody>
      </p:sp>
      <p:sp>
        <p:nvSpPr>
          <p:cNvPr id="22" name="Text 19"/>
          <p:cNvSpPr/>
          <p:nvPr/>
        </p:nvSpPr>
        <p:spPr>
          <a:xfrm>
            <a:off x="9326880" y="3922776"/>
            <a:ext cx="2103120" cy="777240"/>
          </a:xfrm>
          <a:prstGeom prst="rect">
            <a:avLst/>
          </a:prstGeom>
          <a:noFill/>
          <a:ln/>
        </p:spPr>
        <p:txBody>
          <a:bodyPr wrap="square" rtlCol="0" anchor="ctr"/>
          <a:lstStyle/>
          <a:p>
            <a:pPr indent="0" marL="0">
              <a:lnSpc>
                <a:spcPct val="100000"/>
              </a:lnSpc>
              <a:buNone/>
            </a:pPr>
            <a:r>
              <a:rPr lang="en-US" sz="1150" b="1" dirty="0">
                <a:solidFill>
                  <a:srgbClr val="C08A1E"/>
                </a:solidFill>
                <a:latin typeface="Calibri" pitchFamily="34" charset="0"/>
                <a:ea typeface="Calibri" pitchFamily="34" charset="-122"/>
                <a:cs typeface="Calibri" pitchFamily="34" charset="-120"/>
              </a:rPr>
              <a:t>Tập nhỏ, có cặp giả lập → chỉ kiểm chứng</a:t>
            </a:r>
            <a:endParaRPr lang="en-US" sz="1150" dirty="0"/>
          </a:p>
        </p:txBody>
      </p:sp>
      <p:sp>
        <p:nvSpPr>
          <p:cNvPr id="23" name="Shape 20"/>
          <p:cNvSpPr/>
          <p:nvPr/>
        </p:nvSpPr>
        <p:spPr>
          <a:xfrm>
            <a:off x="731520" y="4882896"/>
            <a:ext cx="10789920" cy="932688"/>
          </a:xfrm>
          <a:prstGeom prst="roundRect">
            <a:avLst>
              <a:gd name="adj" fmla="val 7843"/>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24" name="Shape 21"/>
          <p:cNvSpPr/>
          <p:nvPr/>
        </p:nvSpPr>
        <p:spPr>
          <a:xfrm>
            <a:off x="960120" y="5230368"/>
            <a:ext cx="237744" cy="237744"/>
          </a:xfrm>
          <a:prstGeom prst="ellipse">
            <a:avLst/>
          </a:prstGeom>
          <a:solidFill>
            <a:srgbClr val="C0392B"/>
          </a:solidFill>
          <a:ln/>
        </p:spPr>
      </p:sp>
      <p:sp>
        <p:nvSpPr>
          <p:cNvPr id="25" name="Text 22"/>
          <p:cNvSpPr/>
          <p:nvPr/>
        </p:nvSpPr>
        <p:spPr>
          <a:xfrm>
            <a:off x="1371600" y="4965192"/>
            <a:ext cx="4206240" cy="384048"/>
          </a:xfrm>
          <a:prstGeom prst="rect">
            <a:avLst/>
          </a:prstGeom>
          <a:noFill/>
          <a:ln/>
        </p:spPr>
        <p:txBody>
          <a:bodyPr wrap="square" rtlCol="0" anchor="ctr"/>
          <a:lstStyle/>
          <a:p>
            <a:pPr indent="0" marL="0">
              <a:buNone/>
            </a:pPr>
            <a:r>
              <a:rPr lang="en-US" sz="1350" b="1" dirty="0">
                <a:solidFill>
                  <a:srgbClr val="003E7E"/>
                </a:solidFill>
                <a:latin typeface="Cambria" pitchFamily="34" charset="0"/>
                <a:ea typeface="Cambria" pitchFamily="34" charset="-122"/>
                <a:cs typeface="Cambria" pitchFamily="34" charset="-120"/>
              </a:rPr>
              <a:t>Phân loại Skill Gap · 10 CV</a:t>
            </a:r>
            <a:endParaRPr lang="en-US" sz="1350" dirty="0"/>
          </a:p>
        </p:txBody>
      </p:sp>
      <p:sp>
        <p:nvSpPr>
          <p:cNvPr id="26" name="Text 23"/>
          <p:cNvSpPr/>
          <p:nvPr/>
        </p:nvSpPr>
        <p:spPr>
          <a:xfrm>
            <a:off x="1371600" y="5340096"/>
            <a:ext cx="4206240" cy="365760"/>
          </a:xfrm>
          <a:prstGeom prst="rect">
            <a:avLst/>
          </a:prstGeom>
          <a:noFill/>
          <a:ln/>
        </p:spPr>
        <p:txBody>
          <a:bodyPr wrap="square" rtlCol="0" anchor="ctr"/>
          <a:lstStyle/>
          <a:p>
            <a:pPr indent="0" marL="0">
              <a:buNone/>
            </a:pPr>
            <a:r>
              <a:rPr lang="en-US" sz="1050" i="1" dirty="0">
                <a:solidFill>
                  <a:srgbClr val="5C6B7A"/>
                </a:solidFill>
                <a:latin typeface="Calibri" pitchFamily="34" charset="0"/>
                <a:ea typeface="Calibri" pitchFamily="34" charset="-122"/>
                <a:cs typeface="Calibri" pitchFamily="34" charset="-120"/>
              </a:rPr>
              <a:t>→ Chứng minh: tính hợp lý của điểm số</a:t>
            </a:r>
            <a:endParaRPr lang="en-US" sz="1050" dirty="0"/>
          </a:p>
        </p:txBody>
      </p:sp>
      <p:sp>
        <p:nvSpPr>
          <p:cNvPr id="27" name="Text 24"/>
          <p:cNvSpPr/>
          <p:nvPr/>
        </p:nvSpPr>
        <p:spPr>
          <a:xfrm>
            <a:off x="5669280" y="4956048"/>
            <a:ext cx="3566160" cy="777240"/>
          </a:xfrm>
          <a:prstGeom prst="rect">
            <a:avLst/>
          </a:prstGeom>
          <a:noFill/>
          <a:ln/>
        </p:spPr>
        <p:txBody>
          <a:bodyPr wrap="square" rtlCol="0" anchor="ctr"/>
          <a:lstStyle/>
          <a:p>
            <a:pPr indent="0" marL="0">
              <a:lnSpc>
                <a:spcPct val="102000"/>
              </a:lnSpc>
              <a:buNone/>
            </a:pPr>
            <a:r>
              <a:rPr lang="en-US" sz="1200" dirty="0">
                <a:solidFill>
                  <a:srgbClr val="17334D"/>
                </a:solidFill>
                <a:latin typeface="Calibri" pitchFamily="34" charset="0"/>
                <a:ea typeface="Calibri" pitchFamily="34" charset="-122"/>
                <a:cs typeface="Calibri" pitchFamily="34" charset="-120"/>
              </a:rPr>
              <a:t>MAE điểm số = 0,106 (điểm tổng hợp vẫn sát người chấm)</a:t>
            </a:r>
            <a:endParaRPr lang="en-US" sz="1200" dirty="0"/>
          </a:p>
        </p:txBody>
      </p:sp>
      <p:sp>
        <p:nvSpPr>
          <p:cNvPr id="28" name="Text 25"/>
          <p:cNvSpPr/>
          <p:nvPr/>
        </p:nvSpPr>
        <p:spPr>
          <a:xfrm>
            <a:off x="9326880" y="4956048"/>
            <a:ext cx="2103120" cy="777240"/>
          </a:xfrm>
          <a:prstGeom prst="rect">
            <a:avLst/>
          </a:prstGeom>
          <a:noFill/>
          <a:ln/>
        </p:spPr>
        <p:txBody>
          <a:bodyPr wrap="square" rtlCol="0" anchor="ctr"/>
          <a:lstStyle/>
          <a:p>
            <a:pPr indent="0" marL="0">
              <a:lnSpc>
                <a:spcPct val="100000"/>
              </a:lnSpc>
              <a:buNone/>
            </a:pPr>
            <a:r>
              <a:rPr lang="en-US" sz="1150" b="1" dirty="0">
                <a:solidFill>
                  <a:srgbClr val="C0392B"/>
                </a:solidFill>
                <a:latin typeface="Calibri" pitchFamily="34" charset="0"/>
                <a:ea typeface="Calibri" pitchFamily="34" charset="-122"/>
                <a:cs typeface="Calibri" pitchFamily="34" charset="-120"/>
              </a:rPr>
              <a:t>Accuracy 54,8% &amp; Macro-F1 50,1% — chưa đạt</a:t>
            </a:r>
            <a:endParaRPr lang="en-US" sz="1150" dirty="0"/>
          </a:p>
        </p:txBody>
      </p:sp>
      <p:sp>
        <p:nvSpPr>
          <p:cNvPr id="29" name="Text 26"/>
          <p:cNvSpPr/>
          <p:nvPr/>
        </p:nvSpPr>
        <p:spPr>
          <a:xfrm>
            <a:off x="731520" y="5943600"/>
            <a:ext cx="10789920" cy="548640"/>
          </a:xfrm>
          <a:prstGeom prst="rect">
            <a:avLst/>
          </a:prstGeom>
          <a:noFill/>
          <a:ln/>
        </p:spPr>
        <p:txBody>
          <a:bodyPr wrap="square" rtlCol="0" anchor="t"/>
          <a:lstStyle/>
          <a:p>
            <a:pPr indent="0" marL="0">
              <a:lnSpc>
                <a:spcPct val="103000"/>
              </a:lnSpc>
              <a:buNone/>
            </a:pPr>
            <a:r>
              <a:rPr lang="en-US" sz="1250" b="1" dirty="0">
                <a:solidFill>
                  <a:srgbClr val="C0392B"/>
                </a:solidFill>
                <a:latin typeface="Calibri" pitchFamily="34" charset="0"/>
                <a:ea typeface="Calibri" pitchFamily="34" charset="-122"/>
                <a:cs typeface="Calibri" pitchFamily="34" charset="-120"/>
              </a:rPr>
              <a:t>Vì sao Skill Gap thấp? </a:t>
            </a:r>
            <a:pPr indent="0" marL="0">
              <a:lnSpc>
                <a:spcPct val="103000"/>
              </a:lnSpc>
              <a:buNone/>
            </a:pPr>
            <a:r>
              <a:rPr lang="en-US" sz="1250" dirty="0">
                <a:solidFill>
                  <a:srgbClr val="17334D"/>
                </a:solidFill>
                <a:latin typeface="Calibri" pitchFamily="34" charset="0"/>
                <a:ea typeface="Calibri" pitchFamily="34" charset="-122"/>
                <a:cs typeface="Calibri" pitchFamily="34" charset="-120"/>
              </a:rPr>
              <a:t>CSDL hiện chỉ lưu nhị phân (Matched/Missing), chưa có trạng thái Partial → 117 kỹ năng “khớp một phần” bị ép về Missing. Đây là hạn chế cấu trúc dữ liệu, không phải lỗi thuật toán (MAE điểm số vẫn 0,1).</a:t>
            </a:r>
            <a:endParaRPr lang="en-US" sz="1250" dirty="0"/>
          </a:p>
        </p:txBody>
      </p:sp>
      <p:sp>
        <p:nvSpPr>
          <p:cNvPr id="31" name="Text 27"/>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32" name="Text 28"/>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ĐÁNH GIÁ HIỆU NĂNG</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Thời gian phản hồi thực đo — đạt NFR (20 lượt/thao tác)</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31520" y="1783080"/>
          <a:ext cx="6858000" cy="914400"/>
        </p:xfrm>
        <a:graphic>
          <a:graphicData uri="http://schemas.openxmlformats.org/drawingml/2006/table">
            <a:tbl>
              <a:tblPr/>
              <a:tblGrid>
                <a:gridCol w="3200400"/>
                <a:gridCol w="914400"/>
                <a:gridCol w="914400"/>
                <a:gridCol w="914400"/>
                <a:gridCol w="914400"/>
              </a:tblGrid>
              <a:tr h="54864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Thao tác</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TB</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P95</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Max</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Lỗi</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r>
              <a:tr h="548640">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Dashboard (API chậm nhất)</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1,33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1,59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1,61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548640">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Upload CV</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1,31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2,03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2,63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548640">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Đối soát CV — lần đầu (cache miss)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41,9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49,3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55,1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548640">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Đối soát CV — lặp lại (cache hit)</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0,27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0,31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0,31 s</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bl>
          </a:graphicData>
        </a:graphic>
      </p:graphicFrame>
      <p:sp>
        <p:nvSpPr>
          <p:cNvPr id="6" name="Shape 2"/>
          <p:cNvSpPr/>
          <p:nvPr/>
        </p:nvSpPr>
        <p:spPr>
          <a:xfrm>
            <a:off x="7772400" y="1783080"/>
            <a:ext cx="3749040" cy="1371600"/>
          </a:xfrm>
          <a:prstGeom prst="roundRect">
            <a:avLst>
              <a:gd name="adj" fmla="val 5333"/>
            </a:avLst>
          </a:prstGeom>
          <a:solidFill>
            <a:srgbClr val="FFFFFF"/>
          </a:solidFill>
          <a:ln w="12700">
            <a:solidFill>
              <a:srgbClr val="1E8E5A"/>
            </a:solidFill>
            <a:prstDash val="solid"/>
          </a:ln>
          <a:effectLst>
            <a:outerShdw sx="100000" sy="100000" kx="0" ky="0" algn="bl" rotWithShape="0" blurRad="76200" dist="25400" dir="5400000">
              <a:srgbClr val="9FB3C4">
                <a:alpha val="28000"/>
              </a:srgbClr>
            </a:outerShdw>
          </a:effectLst>
        </p:spPr>
      </p:sp>
      <p:sp>
        <p:nvSpPr>
          <p:cNvPr id="7" name="Text 3"/>
          <p:cNvSpPr/>
          <p:nvPr/>
        </p:nvSpPr>
        <p:spPr>
          <a:xfrm>
            <a:off x="7955280" y="1874520"/>
            <a:ext cx="3383280" cy="365760"/>
          </a:xfrm>
          <a:prstGeom prst="rect">
            <a:avLst/>
          </a:prstGeom>
          <a:noFill/>
          <a:ln/>
        </p:spPr>
        <p:txBody>
          <a:bodyPr wrap="square" rtlCol="0" anchor="ctr"/>
          <a:lstStyle/>
          <a:p>
            <a:pPr indent="0" marL="0">
              <a:buNone/>
            </a:pPr>
            <a:r>
              <a:rPr lang="en-US" sz="1600" b="1" dirty="0">
                <a:solidFill>
                  <a:srgbClr val="1E8E5A"/>
                </a:solidFill>
                <a:latin typeface="Cambria" pitchFamily="34" charset="0"/>
                <a:ea typeface="Cambria" pitchFamily="34" charset="-122"/>
                <a:cs typeface="Cambria" pitchFamily="34" charset="-120"/>
              </a:rPr>
              <a:t>Đạt NFR-02</a:t>
            </a:r>
            <a:endParaRPr lang="en-US" sz="1600" dirty="0"/>
          </a:p>
        </p:txBody>
      </p:sp>
      <p:sp>
        <p:nvSpPr>
          <p:cNvPr id="8" name="Text 4"/>
          <p:cNvSpPr/>
          <p:nvPr/>
        </p:nvSpPr>
        <p:spPr>
          <a:xfrm>
            <a:off x="7955280" y="2286000"/>
            <a:ext cx="3383280" cy="777240"/>
          </a:xfrm>
          <a:prstGeom prst="rect">
            <a:avLst/>
          </a:prstGeom>
          <a:noFill/>
          <a:ln/>
        </p:spPr>
        <p:txBody>
          <a:bodyPr wrap="square" rtlCol="0" anchor="t"/>
          <a:lstStyle/>
          <a:p>
            <a:pPr indent="0" marL="0">
              <a:buNone/>
            </a:pPr>
            <a:r>
              <a:rPr lang="en-US" sz="1250" dirty="0">
                <a:solidFill>
                  <a:srgbClr val="17334D"/>
                </a:solidFill>
                <a:latin typeface="Calibri" pitchFamily="34" charset="0"/>
                <a:ea typeface="Calibri" pitchFamily="34" charset="-122"/>
                <a:cs typeface="Calibri" pitchFamily="34" charset="-120"/>
              </a:rPr>
              <a:t>Cache-miss max 55,1 s &lt; 60 s (0/20 vượt ngưỡng)</a:t>
            </a:r>
            <a:endParaRPr lang="en-US" sz="1250" dirty="0"/>
          </a:p>
        </p:txBody>
      </p:sp>
      <p:sp>
        <p:nvSpPr>
          <p:cNvPr id="9" name="Shape 5"/>
          <p:cNvSpPr/>
          <p:nvPr/>
        </p:nvSpPr>
        <p:spPr>
          <a:xfrm>
            <a:off x="7772400" y="3291840"/>
            <a:ext cx="3749040" cy="1234440"/>
          </a:xfrm>
          <a:prstGeom prst="roundRect">
            <a:avLst>
              <a:gd name="adj" fmla="val 5926"/>
            </a:avLst>
          </a:prstGeom>
          <a:solidFill>
            <a:srgbClr val="FFFFFF"/>
          </a:solidFill>
          <a:ln w="12700">
            <a:solidFill>
              <a:srgbClr val="0C63B4"/>
            </a:solidFill>
            <a:prstDash val="solid"/>
          </a:ln>
          <a:effectLst>
            <a:outerShdw sx="100000" sy="100000" kx="0" ky="0" algn="bl" rotWithShape="0" blurRad="76200" dist="25400" dir="5400000">
              <a:srgbClr val="9FB3C4">
                <a:alpha val="28000"/>
              </a:srgbClr>
            </a:outerShdw>
          </a:effectLst>
        </p:spPr>
      </p:sp>
      <p:sp>
        <p:nvSpPr>
          <p:cNvPr id="10" name="Text 6"/>
          <p:cNvSpPr/>
          <p:nvPr/>
        </p:nvSpPr>
        <p:spPr>
          <a:xfrm>
            <a:off x="7955280" y="3383280"/>
            <a:ext cx="3383280" cy="365760"/>
          </a:xfrm>
          <a:prstGeom prst="rect">
            <a:avLst/>
          </a:prstGeom>
          <a:noFill/>
          <a:ln/>
        </p:spPr>
        <p:txBody>
          <a:bodyPr wrap="square" rtlCol="0" anchor="ctr"/>
          <a:lstStyle/>
          <a:p>
            <a:pPr indent="0" marL="0">
              <a:buNone/>
            </a:pPr>
            <a:r>
              <a:rPr lang="en-US" sz="1600" b="1" dirty="0">
                <a:solidFill>
                  <a:srgbClr val="0C63B4"/>
                </a:solidFill>
                <a:latin typeface="Cambria" pitchFamily="34" charset="0"/>
                <a:ea typeface="Cambria" pitchFamily="34" charset="-122"/>
                <a:cs typeface="Cambria" pitchFamily="34" charset="-120"/>
              </a:rPr>
              <a:t>~155× nhanh hơn</a:t>
            </a:r>
            <a:endParaRPr lang="en-US" sz="1600" dirty="0"/>
          </a:p>
        </p:txBody>
      </p:sp>
      <p:sp>
        <p:nvSpPr>
          <p:cNvPr id="11" name="Text 7"/>
          <p:cNvSpPr/>
          <p:nvPr/>
        </p:nvSpPr>
        <p:spPr>
          <a:xfrm>
            <a:off x="7955280" y="3776472"/>
            <a:ext cx="3383280" cy="777240"/>
          </a:xfrm>
          <a:prstGeom prst="rect">
            <a:avLst/>
          </a:prstGeom>
          <a:noFill/>
          <a:ln/>
        </p:spPr>
        <p:txBody>
          <a:bodyPr wrap="square" rtlCol="0" anchor="t"/>
          <a:lstStyle/>
          <a:p>
            <a:pPr indent="0" marL="0">
              <a:buNone/>
            </a:pPr>
            <a:r>
              <a:rPr lang="en-US" sz="1200" dirty="0">
                <a:solidFill>
                  <a:srgbClr val="17334D"/>
                </a:solidFill>
                <a:latin typeface="Calibri" pitchFamily="34" charset="0"/>
                <a:ea typeface="Calibri" pitchFamily="34" charset="-122"/>
                <a:cs typeface="Calibri" pitchFamily="34" charset="-120"/>
              </a:rPr>
              <a:t>nhờ bộ nhớ đệm (cache): 41,9 s → 0,27 s ở lần đối soát lặp lại</a:t>
            </a:r>
            <a:endParaRPr lang="en-US" sz="1200" dirty="0"/>
          </a:p>
        </p:txBody>
      </p:sp>
      <p:sp>
        <p:nvSpPr>
          <p:cNvPr id="12" name="Shape 8"/>
          <p:cNvSpPr/>
          <p:nvPr/>
        </p:nvSpPr>
        <p:spPr>
          <a:xfrm>
            <a:off x="731520" y="4617720"/>
            <a:ext cx="6858000" cy="1691640"/>
          </a:xfrm>
          <a:prstGeom prst="roundRect">
            <a:avLst>
              <a:gd name="adj" fmla="val 3243"/>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13" name="Image 1" descr="/private/tmp/claude-501/-Users-ymytr-nova/5e161095-2610-40a0-961d-5450e47dcdec/scratchpad/build/perf_measurement_terminal.png">    </p:cNvPr>
          <p:cNvPicPr>
            <a:picLocks noChangeAspect="1"/>
          </p:cNvPicPr>
          <p:nvPr/>
        </p:nvPicPr>
        <p:blipFill>
          <a:blip r:embed="rId2"/>
          <a:stretch>
            <a:fillRect/>
          </a:stretch>
        </p:blipFill>
        <p:spPr>
          <a:xfrm>
            <a:off x="2796320" y="4727448"/>
            <a:ext cx="2728400" cy="1472184"/>
          </a:xfrm>
          <a:prstGeom prst="rect">
            <a:avLst/>
          </a:prstGeom>
        </p:spPr>
      </p:pic>
      <p:sp>
        <p:nvSpPr>
          <p:cNvPr id="14" name="Text 9"/>
          <p:cNvSpPr/>
          <p:nvPr/>
        </p:nvSpPr>
        <p:spPr>
          <a:xfrm>
            <a:off x="7772400" y="4617720"/>
            <a:ext cx="3749040" cy="1691640"/>
          </a:xfrm>
          <a:prstGeom prst="rect">
            <a:avLst/>
          </a:prstGeom>
          <a:noFill/>
          <a:ln/>
        </p:spPr>
        <p:txBody>
          <a:bodyPr wrap="square" rtlCol="0" anchor="t"/>
          <a:lstStyle/>
          <a:p>
            <a:pPr indent="0" marL="0">
              <a:lnSpc>
                <a:spcPct val="105000"/>
              </a:lnSpc>
              <a:buNone/>
            </a:pPr>
            <a:r>
              <a:rPr lang="en-US" sz="1200" b="1" dirty="0">
                <a:solidFill>
                  <a:srgbClr val="1E88D6"/>
                </a:solidFill>
                <a:latin typeface="Calibri" pitchFamily="34" charset="0"/>
                <a:ea typeface="Calibri" pitchFamily="34" charset="-122"/>
                <a:cs typeface="Calibri" pitchFamily="34" charset="-120"/>
              </a:rPr>
              <a:t>Trung thực: </a:t>
            </a:r>
            <a:pPr indent="0" marL="0">
              <a:lnSpc>
                <a:spcPct val="105000"/>
              </a:lnSpc>
              <a:buNone/>
            </a:pPr>
            <a:r>
              <a:rPr lang="en-US" sz="1200" dirty="0">
                <a:solidFill>
                  <a:srgbClr val="17334D"/>
                </a:solidFill>
                <a:latin typeface="Calibri" pitchFamily="34" charset="0"/>
                <a:ea typeface="Calibri" pitchFamily="34" charset="-122"/>
                <a:cs typeface="Calibri" pitchFamily="34" charset="-120"/>
              </a:rPr>
              <a:t>số đo là đơn phiên (1 người dùng). Máy chủ 2 vCPU không GPU → khi nhiều phiên đồng thời, cache-miss có nguy cơ vượt 60 s. Chưa load test → nêu ở hạn chế.</a:t>
            </a:r>
            <a:endParaRPr lang="en-US" sz="1200" dirty="0"/>
          </a:p>
        </p:txBody>
      </p:sp>
      <p:sp>
        <p:nvSpPr>
          <p:cNvPr id="16" name="Text 10"/>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17" name="Text 11"/>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ĐÁNH GIÁ NGƯỜI DÙNG CUỐI</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Khảo sát trải nghiệm (n=9) — tích cực &amp; chỉ đúng điểm yếu</a:t>
            </a:r>
            <a:endParaRPr lang="en-US" sz="3000" dirty="0"/>
          </a:p>
        </p:txBody>
      </p:sp>
      <p:graphicFrame>
        <p:nvGraphicFramePr>
          <p:cNvPr id="5" name="Chart 0" descr=""/>
          <p:cNvGraphicFramePr/>
          <p:nvPr/>
        </p:nvGraphicFramePr>
        <p:xfrm>
          <a:off x="640080" y="1783080"/>
          <a:ext cx="6949440" cy="42062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7772400" y="1783080"/>
            <a:ext cx="3749040" cy="969264"/>
          </a:xfrm>
          <a:prstGeom prst="roundRect">
            <a:avLst>
              <a:gd name="adj" fmla="val 7547"/>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7" name="Text 3"/>
          <p:cNvSpPr/>
          <p:nvPr/>
        </p:nvSpPr>
        <p:spPr>
          <a:xfrm>
            <a:off x="7973568" y="1856232"/>
            <a:ext cx="3383280" cy="457200"/>
          </a:xfrm>
          <a:prstGeom prst="rect">
            <a:avLst/>
          </a:prstGeom>
          <a:noFill/>
          <a:ln/>
        </p:spPr>
        <p:txBody>
          <a:bodyPr wrap="square" rtlCol="0" anchor="ctr"/>
          <a:lstStyle/>
          <a:p>
            <a:pPr indent="0" marL="0">
              <a:buNone/>
            </a:pPr>
            <a:r>
              <a:rPr lang="en-US" sz="2200" b="1" dirty="0">
                <a:solidFill>
                  <a:srgbClr val="0C63B4"/>
                </a:solidFill>
                <a:latin typeface="Cambria" pitchFamily="34" charset="0"/>
                <a:ea typeface="Cambria" pitchFamily="34" charset="-122"/>
                <a:cs typeface="Cambria" pitchFamily="34" charset="-120"/>
              </a:rPr>
              <a:t>8,56/10</a:t>
            </a:r>
            <a:endParaRPr lang="en-US" sz="2200" dirty="0"/>
          </a:p>
        </p:txBody>
      </p:sp>
      <p:sp>
        <p:nvSpPr>
          <p:cNvPr id="8" name="Text 4"/>
          <p:cNvSpPr/>
          <p:nvPr/>
        </p:nvSpPr>
        <p:spPr>
          <a:xfrm>
            <a:off x="7973568" y="2295144"/>
            <a:ext cx="3383280" cy="384048"/>
          </a:xfrm>
          <a:prstGeom prst="rect">
            <a:avLst/>
          </a:prstGeom>
          <a:noFill/>
          <a:ln/>
        </p:spPr>
        <p:txBody>
          <a:bodyPr wrap="square" rtlCol="0" anchor="t"/>
          <a:lstStyle/>
          <a:p>
            <a:pPr indent="0" marL="0">
              <a:buNone/>
            </a:pPr>
            <a:r>
              <a:rPr lang="en-US" sz="1150" dirty="0">
                <a:solidFill>
                  <a:srgbClr val="5C6B7A"/>
                </a:solidFill>
                <a:latin typeface="Calibri" pitchFamily="34" charset="0"/>
                <a:ea typeface="Calibri" pitchFamily="34" charset="-122"/>
                <a:cs typeface="Calibri" pitchFamily="34" charset="-120"/>
              </a:rPr>
              <a:t>điểm thiện cảm tổng thể — 100% cho ≥ 7</a:t>
            </a:r>
            <a:endParaRPr lang="en-US" sz="1150" dirty="0"/>
          </a:p>
        </p:txBody>
      </p:sp>
      <p:sp>
        <p:nvSpPr>
          <p:cNvPr id="9" name="Shape 5"/>
          <p:cNvSpPr/>
          <p:nvPr/>
        </p:nvSpPr>
        <p:spPr>
          <a:xfrm>
            <a:off x="7772400" y="2862072"/>
            <a:ext cx="3749040" cy="969264"/>
          </a:xfrm>
          <a:prstGeom prst="roundRect">
            <a:avLst>
              <a:gd name="adj" fmla="val 7547"/>
            </a:avLst>
          </a:prstGeom>
          <a:solidFill>
            <a:srgbClr val="EAF2FB"/>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0" name="Text 6"/>
          <p:cNvSpPr/>
          <p:nvPr/>
        </p:nvSpPr>
        <p:spPr>
          <a:xfrm>
            <a:off x="7973568" y="2935224"/>
            <a:ext cx="3383280" cy="457200"/>
          </a:xfrm>
          <a:prstGeom prst="rect">
            <a:avLst/>
          </a:prstGeom>
          <a:noFill/>
          <a:ln/>
        </p:spPr>
        <p:txBody>
          <a:bodyPr wrap="square" rtlCol="0" anchor="ctr"/>
          <a:lstStyle/>
          <a:p>
            <a:pPr indent="0" marL="0">
              <a:buNone/>
            </a:pPr>
            <a:r>
              <a:rPr lang="en-US" sz="2200" b="1" dirty="0">
                <a:solidFill>
                  <a:srgbClr val="0C63B4"/>
                </a:solidFill>
                <a:latin typeface="Cambria" pitchFamily="34" charset="0"/>
                <a:ea typeface="Cambria" pitchFamily="34" charset="-122"/>
                <a:cs typeface="Cambria" pitchFamily="34" charset="-120"/>
              </a:rPr>
              <a:t>100%</a:t>
            </a:r>
            <a:endParaRPr lang="en-US" sz="2200" dirty="0"/>
          </a:p>
        </p:txBody>
      </p:sp>
      <p:sp>
        <p:nvSpPr>
          <p:cNvPr id="11" name="Text 7"/>
          <p:cNvSpPr/>
          <p:nvPr/>
        </p:nvSpPr>
        <p:spPr>
          <a:xfrm>
            <a:off x="7973568" y="3374136"/>
            <a:ext cx="3383280" cy="384048"/>
          </a:xfrm>
          <a:prstGeom prst="rect">
            <a:avLst/>
          </a:prstGeom>
          <a:noFill/>
          <a:ln/>
        </p:spPr>
        <p:txBody>
          <a:bodyPr wrap="square" rtlCol="0" anchor="t"/>
          <a:lstStyle/>
          <a:p>
            <a:pPr indent="0" marL="0">
              <a:buNone/>
            </a:pPr>
            <a:r>
              <a:rPr lang="en-US" sz="1150" dirty="0">
                <a:solidFill>
                  <a:srgbClr val="5C6B7A"/>
                </a:solidFill>
                <a:latin typeface="Calibri" pitchFamily="34" charset="0"/>
                <a:ea typeface="Calibri" pitchFamily="34" charset="-122"/>
                <a:cs typeface="Calibri" pitchFamily="34" charset="-120"/>
              </a:rPr>
              <a:t>đồng ý “tiết kiệm thời gian định hướng”</a:t>
            </a:r>
            <a:endParaRPr lang="en-US" sz="1150" dirty="0"/>
          </a:p>
        </p:txBody>
      </p:sp>
      <p:sp>
        <p:nvSpPr>
          <p:cNvPr id="12" name="Shape 8"/>
          <p:cNvSpPr/>
          <p:nvPr/>
        </p:nvSpPr>
        <p:spPr>
          <a:xfrm>
            <a:off x="7772400" y="3941064"/>
            <a:ext cx="3749040" cy="969264"/>
          </a:xfrm>
          <a:prstGeom prst="roundRect">
            <a:avLst>
              <a:gd name="adj" fmla="val 7547"/>
            </a:avLst>
          </a:prstGeom>
          <a:solidFill>
            <a:srgbClr val="FFFFFF"/>
          </a:solidFill>
          <a:ln w="12700">
            <a:solidFill>
              <a:srgbClr val="1E88D6"/>
            </a:solidFill>
            <a:prstDash val="solid"/>
          </a:ln>
          <a:effectLst>
            <a:outerShdw sx="100000" sy="100000" kx="0" ky="0" algn="bl" rotWithShape="0" blurRad="76200" dist="25400" dir="5400000">
              <a:srgbClr val="9FB3C4">
                <a:alpha val="28000"/>
              </a:srgbClr>
            </a:outerShdw>
          </a:effectLst>
        </p:spPr>
      </p:sp>
      <p:sp>
        <p:nvSpPr>
          <p:cNvPr id="13" name="Text 9"/>
          <p:cNvSpPr/>
          <p:nvPr/>
        </p:nvSpPr>
        <p:spPr>
          <a:xfrm>
            <a:off x="7973568" y="4014216"/>
            <a:ext cx="3383280" cy="457200"/>
          </a:xfrm>
          <a:prstGeom prst="rect">
            <a:avLst/>
          </a:prstGeom>
          <a:noFill/>
          <a:ln/>
        </p:spPr>
        <p:txBody>
          <a:bodyPr wrap="square" rtlCol="0" anchor="ctr"/>
          <a:lstStyle/>
          <a:p>
            <a:pPr indent="0" marL="0">
              <a:buNone/>
            </a:pPr>
            <a:r>
              <a:rPr lang="en-US" sz="2200" b="1" dirty="0">
                <a:solidFill>
                  <a:srgbClr val="1E88D6"/>
                </a:solidFill>
                <a:latin typeface="Cambria" pitchFamily="34" charset="0"/>
                <a:ea typeface="Cambria" pitchFamily="34" charset="-122"/>
                <a:cs typeface="Cambria" pitchFamily="34" charset="-120"/>
              </a:rPr>
              <a:t>3,89</a:t>
            </a:r>
            <a:endParaRPr lang="en-US" sz="2200" dirty="0"/>
          </a:p>
        </p:txBody>
      </p:sp>
      <p:sp>
        <p:nvSpPr>
          <p:cNvPr id="14" name="Text 10"/>
          <p:cNvSpPr/>
          <p:nvPr/>
        </p:nvSpPr>
        <p:spPr>
          <a:xfrm>
            <a:off x="7973568" y="4453128"/>
            <a:ext cx="3383280" cy="384048"/>
          </a:xfrm>
          <a:prstGeom prst="rect">
            <a:avLst/>
          </a:prstGeom>
          <a:noFill/>
          <a:ln/>
        </p:spPr>
        <p:txBody>
          <a:bodyPr wrap="square" rtlCol="0" anchor="t"/>
          <a:lstStyle/>
          <a:p>
            <a:pPr indent="0" marL="0">
              <a:buNone/>
            </a:pPr>
            <a:r>
              <a:rPr lang="en-US" sz="1150" dirty="0">
                <a:solidFill>
                  <a:srgbClr val="5C6B7A"/>
                </a:solidFill>
                <a:latin typeface="Calibri" pitchFamily="34" charset="0"/>
                <a:ea typeface="Calibri" pitchFamily="34" charset="-122"/>
                <a:cs typeface="Calibri" pitchFamily="34" charset="-120"/>
              </a:rPr>
              <a:t>điểm thấp nhất: độ tin cậy % Matching</a:t>
            </a:r>
            <a:endParaRPr lang="en-US" sz="1150" dirty="0"/>
          </a:p>
        </p:txBody>
      </p:sp>
      <p:sp>
        <p:nvSpPr>
          <p:cNvPr id="15" name="Shape 11"/>
          <p:cNvSpPr/>
          <p:nvPr/>
        </p:nvSpPr>
        <p:spPr>
          <a:xfrm>
            <a:off x="7772400" y="5020056"/>
            <a:ext cx="3749040" cy="969264"/>
          </a:xfrm>
          <a:prstGeom prst="roundRect">
            <a:avLst>
              <a:gd name="adj" fmla="val 7547"/>
            </a:avLst>
          </a:prstGeom>
          <a:solidFill>
            <a:srgbClr val="FFFFFF"/>
          </a:solidFill>
          <a:ln w="12700">
            <a:solidFill>
              <a:srgbClr val="1E88D6"/>
            </a:solidFill>
            <a:prstDash val="solid"/>
          </a:ln>
          <a:effectLst>
            <a:outerShdw sx="100000" sy="100000" kx="0" ky="0" algn="bl" rotWithShape="0" blurRad="76200" dist="25400" dir="5400000">
              <a:srgbClr val="9FB3C4">
                <a:alpha val="28000"/>
              </a:srgbClr>
            </a:outerShdw>
          </a:effectLst>
        </p:spPr>
      </p:sp>
      <p:sp>
        <p:nvSpPr>
          <p:cNvPr id="16" name="Text 12"/>
          <p:cNvSpPr/>
          <p:nvPr/>
        </p:nvSpPr>
        <p:spPr>
          <a:xfrm>
            <a:off x="7973568" y="5093208"/>
            <a:ext cx="3383280" cy="457200"/>
          </a:xfrm>
          <a:prstGeom prst="rect">
            <a:avLst/>
          </a:prstGeom>
          <a:noFill/>
          <a:ln/>
        </p:spPr>
        <p:txBody>
          <a:bodyPr wrap="square" rtlCol="0" anchor="ctr"/>
          <a:lstStyle/>
          <a:p>
            <a:pPr indent="0" marL="0">
              <a:buNone/>
            </a:pPr>
            <a:r>
              <a:rPr lang="en-US" sz="2200" b="1" dirty="0">
                <a:solidFill>
                  <a:srgbClr val="1E88D6"/>
                </a:solidFill>
                <a:latin typeface="Cambria" pitchFamily="34" charset="0"/>
                <a:ea typeface="Cambria" pitchFamily="34" charset="-122"/>
                <a:cs typeface="Cambria" pitchFamily="34" charset="-120"/>
              </a:rPr>
              <a:t>71,4%</a:t>
            </a:r>
            <a:endParaRPr lang="en-US" sz="2200" dirty="0"/>
          </a:p>
        </p:txBody>
      </p:sp>
      <p:sp>
        <p:nvSpPr>
          <p:cNvPr id="17" name="Text 13"/>
          <p:cNvSpPr/>
          <p:nvPr/>
        </p:nvSpPr>
        <p:spPr>
          <a:xfrm>
            <a:off x="7973568" y="5532120"/>
            <a:ext cx="3383280" cy="384048"/>
          </a:xfrm>
          <a:prstGeom prst="rect">
            <a:avLst/>
          </a:prstGeom>
          <a:noFill/>
          <a:ln/>
        </p:spPr>
        <p:txBody>
          <a:bodyPr wrap="square" rtlCol="0" anchor="t"/>
          <a:lstStyle/>
          <a:p>
            <a:pPr indent="0" marL="0">
              <a:buNone/>
            </a:pPr>
            <a:r>
              <a:rPr lang="en-US" sz="1150" dirty="0">
                <a:solidFill>
                  <a:srgbClr val="5C6B7A"/>
                </a:solidFill>
                <a:latin typeface="Calibri" pitchFamily="34" charset="0"/>
                <a:ea typeface="Calibri" pitchFamily="34" charset="-122"/>
                <a:cs typeface="Calibri" pitchFamily="34" charset="-120"/>
              </a:rPr>
              <a:t>muốn hệ thống giải thích cách chấm điểm</a:t>
            </a:r>
            <a:endParaRPr lang="en-US" sz="1150" dirty="0"/>
          </a:p>
        </p:txBody>
      </p:sp>
      <p:sp>
        <p:nvSpPr>
          <p:cNvPr id="19" name="Text 1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20" name="Text 1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3E7E"/>
        </a:solidFill>
      </p:bgPr>
    </p:bg>
    <p:spTree>
      <p:nvGrpSpPr>
        <p:cNvPr id="1" name=""/>
        <p:cNvGrpSpPr/>
        <p:nvPr/>
      </p:nvGrpSpPr>
      <p:grpSpPr>
        <a:xfrm>
          <a:off x="0" y="0"/>
          <a:ext cx="0" cy="0"/>
          <a:chOff x="0" y="0"/>
          <a:chExt cx="0" cy="0"/>
        </a:xfrm>
      </p:grpSpPr>
      <p:sp>
        <p:nvSpPr>
          <p:cNvPr id="2" name="Shape 0"/>
          <p:cNvSpPr/>
          <p:nvPr/>
        </p:nvSpPr>
        <p:spPr>
          <a:xfrm>
            <a:off x="8961120" y="3108960"/>
            <a:ext cx="6400800" cy="6400800"/>
          </a:xfrm>
          <a:prstGeom prst="ellipse">
            <a:avLst/>
          </a:prstGeom>
          <a:solidFill>
            <a:srgbClr val="0A56A0"/>
          </a:solidFill>
          <a:ln/>
        </p:spPr>
      </p:sp>
      <p:sp>
        <p:nvSpPr>
          <p:cNvPr id="3" name="Text 1"/>
          <p:cNvSpPr/>
          <p:nvPr/>
        </p:nvSpPr>
        <p:spPr>
          <a:xfrm>
            <a:off x="640080" y="1554480"/>
            <a:ext cx="3657600" cy="2377440"/>
          </a:xfrm>
          <a:prstGeom prst="rect">
            <a:avLst/>
          </a:prstGeom>
          <a:noFill/>
          <a:ln/>
        </p:spPr>
        <p:txBody>
          <a:bodyPr wrap="square" rtlCol="0" anchor="ctr"/>
          <a:lstStyle/>
          <a:p>
            <a:pPr indent="0" marL="0">
              <a:buNone/>
            </a:pPr>
            <a:r>
              <a:rPr lang="en-US" sz="15000" b="1" dirty="0">
                <a:solidFill>
                  <a:srgbClr val="1E88D6"/>
                </a:solidFill>
                <a:latin typeface="Cambria" pitchFamily="34" charset="0"/>
                <a:ea typeface="Cambria" pitchFamily="34" charset="-122"/>
                <a:cs typeface="Cambria" pitchFamily="34" charset="-120"/>
              </a:rPr>
              <a:t>04</a:t>
            </a:r>
            <a:endParaRPr lang="en-US" sz="15000" dirty="0"/>
          </a:p>
        </p:txBody>
      </p:sp>
      <p:sp>
        <p:nvSpPr>
          <p:cNvPr id="4" name="Text 2"/>
          <p:cNvSpPr/>
          <p:nvPr/>
        </p:nvSpPr>
        <p:spPr>
          <a:xfrm>
            <a:off x="3200400" y="2286000"/>
            <a:ext cx="8412480" cy="109728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Demo</a:t>
            </a:r>
            <a:endParaRPr lang="en-US" sz="4000" dirty="0"/>
          </a:p>
        </p:txBody>
      </p:sp>
      <p:sp>
        <p:nvSpPr>
          <p:cNvPr id="5" name="Text 3"/>
          <p:cNvSpPr/>
          <p:nvPr/>
        </p:nvSpPr>
        <p:spPr>
          <a:xfrm>
            <a:off x="3246120" y="3383280"/>
            <a:ext cx="8229600" cy="548640"/>
          </a:xfrm>
          <a:prstGeom prst="rect">
            <a:avLst/>
          </a:prstGeom>
          <a:noFill/>
          <a:ln/>
        </p:spPr>
        <p:txBody>
          <a:bodyPr wrap="square" rtlCol="0" anchor="ctr"/>
          <a:lstStyle/>
          <a:p>
            <a:pPr indent="0" marL="0">
              <a:buNone/>
            </a:pPr>
            <a:r>
              <a:rPr lang="en-US" sz="1600" dirty="0">
                <a:solidFill>
                  <a:srgbClr val="CBDEF5"/>
                </a:solidFill>
                <a:latin typeface="Calibri" pitchFamily="34" charset="0"/>
                <a:ea typeface="Calibri" pitchFamily="34" charset="-122"/>
                <a:cs typeface="Calibri" pitchFamily="34" charset="-120"/>
              </a:rPr>
              <a:t>Các chức năng tốt nhất — video quay sẵn (~10 phút)</a:t>
            </a:r>
            <a:endParaRPr lang="en-US" sz="1600" dirty="0"/>
          </a:p>
        </p:txBody>
      </p:sp>
      <p:sp>
        <p:nvSpPr>
          <p:cNvPr id="6" name="Text 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9FB3C4"/>
                </a:solidFill>
                <a:latin typeface="Calibri" pitchFamily="34" charset="0"/>
                <a:ea typeface="Calibri" pitchFamily="34" charset="-122"/>
                <a:cs typeface="Calibri" pitchFamily="34" charset="-120"/>
              </a:rPr>
              <a:t>CareerNova · KLTN 2026</a:t>
            </a:r>
            <a:endParaRPr lang="en-US" sz="900" dirty="0"/>
          </a:p>
        </p:txBody>
      </p:sp>
      <p:sp>
        <p:nvSpPr>
          <p:cNvPr id="7"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9FB3C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DEMO — ĐẦU VÀO → ĐẦU RA</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Ba chức năng tâm đắc nhất</a:t>
            </a:r>
            <a:endParaRPr lang="en-US" sz="3000" dirty="0"/>
          </a:p>
        </p:txBody>
      </p:sp>
      <p:sp>
        <p:nvSpPr>
          <p:cNvPr id="5" name="Shape 2"/>
          <p:cNvSpPr/>
          <p:nvPr/>
        </p:nvSpPr>
        <p:spPr>
          <a:xfrm>
            <a:off x="640080" y="1783080"/>
            <a:ext cx="3611880" cy="4160520"/>
          </a:xfrm>
          <a:prstGeom prst="roundRect">
            <a:avLst>
              <a:gd name="adj" fmla="val 2025"/>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Shape 3"/>
          <p:cNvSpPr/>
          <p:nvPr/>
        </p:nvSpPr>
        <p:spPr>
          <a:xfrm>
            <a:off x="868680" y="2011680"/>
            <a:ext cx="384048" cy="384048"/>
          </a:xfrm>
          <a:prstGeom prst="ellipse">
            <a:avLst/>
          </a:prstGeom>
          <a:solidFill>
            <a:srgbClr val="1E88D6"/>
          </a:solidFill>
          <a:ln/>
        </p:spPr>
      </p:sp>
      <p:sp>
        <p:nvSpPr>
          <p:cNvPr id="7" name="Text 4"/>
          <p:cNvSpPr/>
          <p:nvPr/>
        </p:nvSpPr>
        <p:spPr>
          <a:xfrm>
            <a:off x="868680" y="2011680"/>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371600" y="1993392"/>
            <a:ext cx="2743200" cy="457200"/>
          </a:xfrm>
          <a:prstGeom prst="rect">
            <a:avLst/>
          </a:prstGeom>
          <a:noFill/>
          <a:ln/>
        </p:spPr>
        <p:txBody>
          <a:bodyPr wrap="square" rtlCol="0" anchor="ctr"/>
          <a:lstStyle/>
          <a:p>
            <a:pPr indent="0" marL="0">
              <a:buNone/>
            </a:pPr>
            <a:r>
              <a:rPr lang="en-US" sz="1550" b="1" dirty="0">
                <a:solidFill>
                  <a:srgbClr val="003E7E"/>
                </a:solidFill>
                <a:latin typeface="Cambria" pitchFamily="34" charset="0"/>
                <a:ea typeface="Cambria" pitchFamily="34" charset="-122"/>
                <a:cs typeface="Cambria" pitchFamily="34" charset="-120"/>
              </a:rPr>
              <a:t>Dashboard thị trường</a:t>
            </a:r>
            <a:endParaRPr lang="en-US" sz="1550" dirty="0"/>
          </a:p>
        </p:txBody>
      </p:sp>
      <p:sp>
        <p:nvSpPr>
          <p:cNvPr id="9" name="Shape 6"/>
          <p:cNvSpPr/>
          <p:nvPr/>
        </p:nvSpPr>
        <p:spPr>
          <a:xfrm>
            <a:off x="868680" y="2560320"/>
            <a:ext cx="3154680" cy="1600200"/>
          </a:xfrm>
          <a:prstGeom prst="roundRect">
            <a:avLst>
              <a:gd name="adj" fmla="val 3429"/>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10" name="Image 1" descr="/private/tmp/claude-501/-Users-ymytr-nova/5e161095-2610-40a0-961d-5450e47dcdec/scratchpad/build/ui_market_skills.png">    </p:cNvPr>
          <p:cNvPicPr>
            <a:picLocks noChangeAspect="1"/>
          </p:cNvPicPr>
          <p:nvPr/>
        </p:nvPicPr>
        <p:blipFill>
          <a:blip r:embed="rId2"/>
          <a:stretch>
            <a:fillRect/>
          </a:stretch>
        </p:blipFill>
        <p:spPr>
          <a:xfrm>
            <a:off x="1282997" y="2670048"/>
            <a:ext cx="2326047" cy="1380744"/>
          </a:xfrm>
          <a:prstGeom prst="rect">
            <a:avLst/>
          </a:prstGeom>
        </p:spPr>
      </p:pic>
      <p:sp>
        <p:nvSpPr>
          <p:cNvPr id="11" name="Text 7"/>
          <p:cNvSpPr/>
          <p:nvPr/>
        </p:nvSpPr>
        <p:spPr>
          <a:xfrm>
            <a:off x="896112" y="4297680"/>
            <a:ext cx="3108960" cy="640080"/>
          </a:xfrm>
          <a:prstGeom prst="rect">
            <a:avLst/>
          </a:prstGeom>
          <a:noFill/>
          <a:ln/>
        </p:spPr>
        <p:txBody>
          <a:bodyPr wrap="square" rtlCol="0" anchor="t"/>
          <a:lstStyle/>
          <a:p>
            <a:pPr indent="0" marL="0">
              <a:buNone/>
            </a:pPr>
            <a:r>
              <a:rPr lang="en-US" sz="1200" b="1" dirty="0">
                <a:solidFill>
                  <a:srgbClr val="0C63B4"/>
                </a:solidFill>
                <a:latin typeface="Calibri" pitchFamily="34" charset="0"/>
                <a:ea typeface="Calibri" pitchFamily="34" charset="-122"/>
                <a:cs typeface="Calibri" pitchFamily="34" charset="-120"/>
              </a:rPr>
              <a:t>Đầu vào: </a:t>
            </a:r>
            <a:pPr indent="0" marL="0">
              <a:buNone/>
            </a:pPr>
            <a:r>
              <a:rPr lang="en-US" sz="1200" dirty="0">
                <a:solidFill>
                  <a:srgbClr val="17334D"/>
                </a:solidFill>
                <a:latin typeface="Calibri" pitchFamily="34" charset="0"/>
                <a:ea typeface="Calibri" pitchFamily="34" charset="-122"/>
                <a:cs typeface="Calibri" pitchFamily="34" charset="-120"/>
              </a:rPr>
              <a:t>Chọn bộ lọc ngành / khu vực</a:t>
            </a:r>
            <a:endParaRPr lang="en-US" sz="1200" dirty="0"/>
          </a:p>
        </p:txBody>
      </p:sp>
      <p:sp>
        <p:nvSpPr>
          <p:cNvPr id="12" name="Text 8"/>
          <p:cNvSpPr/>
          <p:nvPr/>
        </p:nvSpPr>
        <p:spPr>
          <a:xfrm>
            <a:off x="896112" y="5029200"/>
            <a:ext cx="3108960" cy="777240"/>
          </a:xfrm>
          <a:prstGeom prst="rect">
            <a:avLst/>
          </a:prstGeom>
          <a:noFill/>
          <a:ln/>
        </p:spPr>
        <p:txBody>
          <a:bodyPr wrap="square" rtlCol="0" anchor="t"/>
          <a:lstStyle/>
          <a:p>
            <a:pPr indent="0" marL="0">
              <a:buNone/>
            </a:pPr>
            <a:r>
              <a:rPr lang="en-US" sz="1200" b="1" dirty="0">
                <a:solidFill>
                  <a:srgbClr val="1E88D6"/>
                </a:solidFill>
                <a:latin typeface="Calibri" pitchFamily="34" charset="0"/>
                <a:ea typeface="Calibri" pitchFamily="34" charset="-122"/>
                <a:cs typeface="Calibri" pitchFamily="34" charset="-120"/>
              </a:rPr>
              <a:t>Đầu ra: </a:t>
            </a:r>
            <a:pPr indent="0" marL="0">
              <a:buNone/>
            </a:pPr>
            <a:r>
              <a:rPr lang="en-US" sz="1200" dirty="0">
                <a:solidFill>
                  <a:srgbClr val="17334D"/>
                </a:solidFill>
                <a:latin typeface="Calibri" pitchFamily="34" charset="0"/>
                <a:ea typeface="Calibri" pitchFamily="34" charset="-122"/>
                <a:cs typeface="Calibri" pitchFamily="34" charset="-120"/>
              </a:rPr>
              <a:t>Việc làm hot · kỹ năng cầu cao · xu hướng</a:t>
            </a:r>
            <a:endParaRPr lang="en-US" sz="1200" dirty="0"/>
          </a:p>
        </p:txBody>
      </p:sp>
      <p:sp>
        <p:nvSpPr>
          <p:cNvPr id="13" name="Shape 9"/>
          <p:cNvSpPr/>
          <p:nvPr/>
        </p:nvSpPr>
        <p:spPr>
          <a:xfrm>
            <a:off x="4343400" y="1783080"/>
            <a:ext cx="3611880" cy="4160520"/>
          </a:xfrm>
          <a:prstGeom prst="roundRect">
            <a:avLst>
              <a:gd name="adj" fmla="val 2025"/>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4" name="Shape 10"/>
          <p:cNvSpPr/>
          <p:nvPr/>
        </p:nvSpPr>
        <p:spPr>
          <a:xfrm>
            <a:off x="4572000" y="2011680"/>
            <a:ext cx="384048" cy="384048"/>
          </a:xfrm>
          <a:prstGeom prst="ellipse">
            <a:avLst/>
          </a:prstGeom>
          <a:solidFill>
            <a:srgbClr val="1E88D6"/>
          </a:solidFill>
          <a:ln/>
        </p:spPr>
      </p:sp>
      <p:sp>
        <p:nvSpPr>
          <p:cNvPr id="15" name="Text 11"/>
          <p:cNvSpPr/>
          <p:nvPr/>
        </p:nvSpPr>
        <p:spPr>
          <a:xfrm>
            <a:off x="4572000" y="2011680"/>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2"/>
          <p:cNvSpPr/>
          <p:nvPr/>
        </p:nvSpPr>
        <p:spPr>
          <a:xfrm>
            <a:off x="5074920" y="1993392"/>
            <a:ext cx="2743200" cy="457200"/>
          </a:xfrm>
          <a:prstGeom prst="rect">
            <a:avLst/>
          </a:prstGeom>
          <a:noFill/>
          <a:ln/>
        </p:spPr>
        <p:txBody>
          <a:bodyPr wrap="square" rtlCol="0" anchor="ctr"/>
          <a:lstStyle/>
          <a:p>
            <a:pPr indent="0" marL="0">
              <a:buNone/>
            </a:pPr>
            <a:r>
              <a:rPr lang="en-US" sz="1550" b="1" dirty="0">
                <a:solidFill>
                  <a:srgbClr val="003E7E"/>
                </a:solidFill>
                <a:latin typeface="Cambria" pitchFamily="34" charset="0"/>
                <a:ea typeface="Cambria" pitchFamily="34" charset="-122"/>
                <a:cs typeface="Cambria" pitchFamily="34" charset="-120"/>
              </a:rPr>
              <a:t>Upload CV → So khớp</a:t>
            </a:r>
            <a:endParaRPr lang="en-US" sz="1550" dirty="0"/>
          </a:p>
        </p:txBody>
      </p:sp>
      <p:sp>
        <p:nvSpPr>
          <p:cNvPr id="17" name="Shape 13"/>
          <p:cNvSpPr/>
          <p:nvPr/>
        </p:nvSpPr>
        <p:spPr>
          <a:xfrm>
            <a:off x="4572000" y="2560320"/>
            <a:ext cx="3154680" cy="1600200"/>
          </a:xfrm>
          <a:prstGeom prst="roundRect">
            <a:avLst>
              <a:gd name="adj" fmla="val 3429"/>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18" name="Image 2" descr="/private/tmp/claude-501/-Users-ymytr-nova/5e161095-2610-40a0-961d-5450e47dcdec/scratchpad/build/ui_cv_matching_radar.png">    </p:cNvPr>
          <p:cNvPicPr>
            <a:picLocks noChangeAspect="1"/>
          </p:cNvPicPr>
          <p:nvPr/>
        </p:nvPicPr>
        <p:blipFill>
          <a:blip r:embed="rId3"/>
          <a:stretch>
            <a:fillRect/>
          </a:stretch>
        </p:blipFill>
        <p:spPr>
          <a:xfrm>
            <a:off x="4991882" y="2670048"/>
            <a:ext cx="2314916" cy="1380744"/>
          </a:xfrm>
          <a:prstGeom prst="rect">
            <a:avLst/>
          </a:prstGeom>
        </p:spPr>
      </p:pic>
      <p:sp>
        <p:nvSpPr>
          <p:cNvPr id="19" name="Text 14"/>
          <p:cNvSpPr/>
          <p:nvPr/>
        </p:nvSpPr>
        <p:spPr>
          <a:xfrm>
            <a:off x="4599432" y="4297680"/>
            <a:ext cx="3108960" cy="640080"/>
          </a:xfrm>
          <a:prstGeom prst="rect">
            <a:avLst/>
          </a:prstGeom>
          <a:noFill/>
          <a:ln/>
        </p:spPr>
        <p:txBody>
          <a:bodyPr wrap="square" rtlCol="0" anchor="t"/>
          <a:lstStyle/>
          <a:p>
            <a:pPr indent="0" marL="0">
              <a:buNone/>
            </a:pPr>
            <a:r>
              <a:rPr lang="en-US" sz="1200" b="1" dirty="0">
                <a:solidFill>
                  <a:srgbClr val="0C63B4"/>
                </a:solidFill>
                <a:latin typeface="Calibri" pitchFamily="34" charset="0"/>
                <a:ea typeface="Calibri" pitchFamily="34" charset="-122"/>
                <a:cs typeface="Calibri" pitchFamily="34" charset="-120"/>
              </a:rPr>
              <a:t>Đầu vào: </a:t>
            </a:r>
            <a:pPr indent="0" marL="0">
              <a:buNone/>
            </a:pPr>
            <a:r>
              <a:rPr lang="en-US" sz="1200" dirty="0">
                <a:solidFill>
                  <a:srgbClr val="17334D"/>
                </a:solidFill>
                <a:latin typeface="Calibri" pitchFamily="34" charset="0"/>
                <a:ea typeface="Calibri" pitchFamily="34" charset="-122"/>
                <a:cs typeface="Calibri" pitchFamily="34" charset="-120"/>
              </a:rPr>
              <a:t>Tải CV + chọn nhóm nghề</a:t>
            </a:r>
            <a:endParaRPr lang="en-US" sz="1200" dirty="0"/>
          </a:p>
        </p:txBody>
      </p:sp>
      <p:sp>
        <p:nvSpPr>
          <p:cNvPr id="20" name="Text 15"/>
          <p:cNvSpPr/>
          <p:nvPr/>
        </p:nvSpPr>
        <p:spPr>
          <a:xfrm>
            <a:off x="4599432" y="5029200"/>
            <a:ext cx="3108960" cy="777240"/>
          </a:xfrm>
          <a:prstGeom prst="rect">
            <a:avLst/>
          </a:prstGeom>
          <a:noFill/>
          <a:ln/>
        </p:spPr>
        <p:txBody>
          <a:bodyPr wrap="square" rtlCol="0" anchor="t"/>
          <a:lstStyle/>
          <a:p>
            <a:pPr indent="0" marL="0">
              <a:buNone/>
            </a:pPr>
            <a:r>
              <a:rPr lang="en-US" sz="1200" b="1" dirty="0">
                <a:solidFill>
                  <a:srgbClr val="1E88D6"/>
                </a:solidFill>
                <a:latin typeface="Calibri" pitchFamily="34" charset="0"/>
                <a:ea typeface="Calibri" pitchFamily="34" charset="-122"/>
                <a:cs typeface="Calibri" pitchFamily="34" charset="-120"/>
              </a:rPr>
              <a:t>Đầu ra: </a:t>
            </a:r>
            <a:pPr indent="0" marL="0">
              <a:buNone/>
            </a:pPr>
            <a:r>
              <a:rPr lang="en-US" sz="1200" dirty="0">
                <a:solidFill>
                  <a:srgbClr val="17334D"/>
                </a:solidFill>
                <a:latin typeface="Calibri" pitchFamily="34" charset="0"/>
                <a:ea typeface="Calibri" pitchFamily="34" charset="-122"/>
                <a:cs typeface="Calibri" pitchFamily="34" charset="-120"/>
              </a:rPr>
              <a:t>% phù hợp · radar · kỹ năng còn thiếu</a:t>
            </a:r>
            <a:endParaRPr lang="en-US" sz="1200" dirty="0"/>
          </a:p>
        </p:txBody>
      </p:sp>
      <p:sp>
        <p:nvSpPr>
          <p:cNvPr id="21" name="Shape 16"/>
          <p:cNvSpPr/>
          <p:nvPr/>
        </p:nvSpPr>
        <p:spPr>
          <a:xfrm>
            <a:off x="8046720" y="1783080"/>
            <a:ext cx="3611880" cy="4160520"/>
          </a:xfrm>
          <a:prstGeom prst="roundRect">
            <a:avLst>
              <a:gd name="adj" fmla="val 2025"/>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22" name="Shape 17"/>
          <p:cNvSpPr/>
          <p:nvPr/>
        </p:nvSpPr>
        <p:spPr>
          <a:xfrm>
            <a:off x="8275320" y="2011680"/>
            <a:ext cx="384048" cy="384048"/>
          </a:xfrm>
          <a:prstGeom prst="ellipse">
            <a:avLst/>
          </a:prstGeom>
          <a:solidFill>
            <a:srgbClr val="1E88D6"/>
          </a:solidFill>
          <a:ln/>
        </p:spPr>
      </p:sp>
      <p:sp>
        <p:nvSpPr>
          <p:cNvPr id="23" name="Text 18"/>
          <p:cNvSpPr/>
          <p:nvPr/>
        </p:nvSpPr>
        <p:spPr>
          <a:xfrm>
            <a:off x="8275320" y="2011680"/>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4" name="Text 19"/>
          <p:cNvSpPr/>
          <p:nvPr/>
        </p:nvSpPr>
        <p:spPr>
          <a:xfrm>
            <a:off x="8778240" y="1993392"/>
            <a:ext cx="2743200" cy="457200"/>
          </a:xfrm>
          <a:prstGeom prst="rect">
            <a:avLst/>
          </a:prstGeom>
          <a:noFill/>
          <a:ln/>
        </p:spPr>
        <p:txBody>
          <a:bodyPr wrap="square" rtlCol="0" anchor="ctr"/>
          <a:lstStyle/>
          <a:p>
            <a:pPr indent="0" marL="0">
              <a:buNone/>
            </a:pPr>
            <a:r>
              <a:rPr lang="en-US" sz="1550" b="1" dirty="0">
                <a:solidFill>
                  <a:srgbClr val="003E7E"/>
                </a:solidFill>
                <a:latin typeface="Cambria" pitchFamily="34" charset="0"/>
                <a:ea typeface="Cambria" pitchFamily="34" charset="-122"/>
                <a:cs typeface="Cambria" pitchFamily="34" charset="-120"/>
              </a:rPr>
              <a:t>Skill Gap → Lộ trình</a:t>
            </a:r>
            <a:endParaRPr lang="en-US" sz="1550" dirty="0"/>
          </a:p>
        </p:txBody>
      </p:sp>
      <p:sp>
        <p:nvSpPr>
          <p:cNvPr id="25" name="Shape 20"/>
          <p:cNvSpPr/>
          <p:nvPr/>
        </p:nvSpPr>
        <p:spPr>
          <a:xfrm>
            <a:off x="8275320" y="2560320"/>
            <a:ext cx="3154680" cy="1600200"/>
          </a:xfrm>
          <a:prstGeom prst="roundRect">
            <a:avLst>
              <a:gd name="adj" fmla="val 3429"/>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26" name="Image 3" descr="/private/tmp/claude-501/-Users-ymytr-nova/5e161095-2610-40a0-961d-5450e47dcdec/scratchpad/build/ui_skill_gap_roadmap.png">    </p:cNvPr>
          <p:cNvPicPr>
            <a:picLocks noChangeAspect="1"/>
          </p:cNvPicPr>
          <p:nvPr/>
        </p:nvPicPr>
        <p:blipFill>
          <a:blip r:embed="rId4"/>
          <a:stretch>
            <a:fillRect/>
          </a:stretch>
        </p:blipFill>
        <p:spPr>
          <a:xfrm>
            <a:off x="8686169" y="2670048"/>
            <a:ext cx="2332981" cy="1380744"/>
          </a:xfrm>
          <a:prstGeom prst="rect">
            <a:avLst/>
          </a:prstGeom>
        </p:spPr>
      </p:pic>
      <p:sp>
        <p:nvSpPr>
          <p:cNvPr id="27" name="Text 21"/>
          <p:cNvSpPr/>
          <p:nvPr/>
        </p:nvSpPr>
        <p:spPr>
          <a:xfrm>
            <a:off x="8302752" y="4297680"/>
            <a:ext cx="3108960" cy="640080"/>
          </a:xfrm>
          <a:prstGeom prst="rect">
            <a:avLst/>
          </a:prstGeom>
          <a:noFill/>
          <a:ln/>
        </p:spPr>
        <p:txBody>
          <a:bodyPr wrap="square" rtlCol="0" anchor="t"/>
          <a:lstStyle/>
          <a:p>
            <a:pPr indent="0" marL="0">
              <a:buNone/>
            </a:pPr>
            <a:r>
              <a:rPr lang="en-US" sz="1200" b="1" dirty="0">
                <a:solidFill>
                  <a:srgbClr val="0C63B4"/>
                </a:solidFill>
                <a:latin typeface="Calibri" pitchFamily="34" charset="0"/>
                <a:ea typeface="Calibri" pitchFamily="34" charset="-122"/>
                <a:cs typeface="Calibri" pitchFamily="34" charset="-120"/>
              </a:rPr>
              <a:t>Đầu vào: </a:t>
            </a:r>
            <a:pPr indent="0" marL="0">
              <a:buNone/>
            </a:pPr>
            <a:r>
              <a:rPr lang="en-US" sz="1200" dirty="0">
                <a:solidFill>
                  <a:srgbClr val="17334D"/>
                </a:solidFill>
                <a:latin typeface="Calibri" pitchFamily="34" charset="0"/>
                <a:ea typeface="Calibri" pitchFamily="34" charset="-122"/>
                <a:cs typeface="Calibri" pitchFamily="34" charset="-120"/>
              </a:rPr>
              <a:t>Xem chi tiết khoảng cách</a:t>
            </a:r>
            <a:endParaRPr lang="en-US" sz="1200" dirty="0"/>
          </a:p>
        </p:txBody>
      </p:sp>
      <p:sp>
        <p:nvSpPr>
          <p:cNvPr id="28" name="Text 22"/>
          <p:cNvSpPr/>
          <p:nvPr/>
        </p:nvSpPr>
        <p:spPr>
          <a:xfrm>
            <a:off x="8302752" y="5029200"/>
            <a:ext cx="3108960" cy="777240"/>
          </a:xfrm>
          <a:prstGeom prst="rect">
            <a:avLst/>
          </a:prstGeom>
          <a:noFill/>
          <a:ln/>
        </p:spPr>
        <p:txBody>
          <a:bodyPr wrap="square" rtlCol="0" anchor="t"/>
          <a:lstStyle/>
          <a:p>
            <a:pPr indent="0" marL="0">
              <a:buNone/>
            </a:pPr>
            <a:r>
              <a:rPr lang="en-US" sz="1200" b="1" dirty="0">
                <a:solidFill>
                  <a:srgbClr val="1E88D6"/>
                </a:solidFill>
                <a:latin typeface="Calibri" pitchFamily="34" charset="0"/>
                <a:ea typeface="Calibri" pitchFamily="34" charset="-122"/>
                <a:cs typeface="Calibri" pitchFamily="34" charset="-120"/>
              </a:rPr>
              <a:t>Đầu ra: </a:t>
            </a:r>
            <a:pPr indent="0" marL="0">
              <a:buNone/>
            </a:pPr>
            <a:r>
              <a:rPr lang="en-US" sz="1200" dirty="0">
                <a:solidFill>
                  <a:srgbClr val="17334D"/>
                </a:solidFill>
                <a:latin typeface="Calibri" pitchFamily="34" charset="0"/>
                <a:ea typeface="Calibri" pitchFamily="34" charset="-122"/>
                <a:cs typeface="Calibri" pitchFamily="34" charset="-120"/>
              </a:rPr>
              <a:t>Kỹ năng ưu tiên + gợi ý học tập</a:t>
            </a:r>
            <a:endParaRPr lang="en-US" sz="1200" dirty="0"/>
          </a:p>
        </p:txBody>
      </p:sp>
      <p:sp>
        <p:nvSpPr>
          <p:cNvPr id="29" name="Text 23"/>
          <p:cNvSpPr/>
          <p:nvPr/>
        </p:nvSpPr>
        <p:spPr>
          <a:xfrm>
            <a:off x="640080" y="6126480"/>
            <a:ext cx="10972800" cy="320040"/>
          </a:xfrm>
          <a:prstGeom prst="rect">
            <a:avLst/>
          </a:prstGeom>
          <a:noFill/>
          <a:ln/>
        </p:spPr>
        <p:txBody>
          <a:bodyPr wrap="square" rtlCol="0" anchor="ctr"/>
          <a:lstStyle/>
          <a:p>
            <a:pPr indent="0" marL="0">
              <a:buNone/>
            </a:pPr>
            <a:r>
              <a:rPr lang="en-US" sz="1200" i="1" dirty="0">
                <a:solidFill>
                  <a:srgbClr val="5C6B7A"/>
                </a:solidFill>
                <a:latin typeface="Calibri" pitchFamily="34" charset="0"/>
                <a:ea typeface="Calibri" pitchFamily="34" charset="-122"/>
                <a:cs typeface="Calibri" pitchFamily="34" charset="-120"/>
              </a:rPr>
              <a:t>Video quay sẵn để tránh sự cố mạng/kỹ thuật (theo quy định).</a:t>
            </a:r>
            <a:endParaRPr lang="en-US" sz="1200" dirty="0"/>
          </a:p>
        </p:txBody>
      </p:sp>
      <p:sp>
        <p:nvSpPr>
          <p:cNvPr id="31" name="Text 2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32" name="Text 2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3E7E"/>
        </a:solidFill>
      </p:bgPr>
    </p:bg>
    <p:spTree>
      <p:nvGrpSpPr>
        <p:cNvPr id="1" name=""/>
        <p:cNvGrpSpPr/>
        <p:nvPr/>
      </p:nvGrpSpPr>
      <p:grpSpPr>
        <a:xfrm>
          <a:off x="0" y="0"/>
          <a:ext cx="0" cy="0"/>
          <a:chOff x="0" y="0"/>
          <a:chExt cx="0" cy="0"/>
        </a:xfrm>
      </p:grpSpPr>
      <p:sp>
        <p:nvSpPr>
          <p:cNvPr id="2" name="Shape 0"/>
          <p:cNvSpPr/>
          <p:nvPr/>
        </p:nvSpPr>
        <p:spPr>
          <a:xfrm>
            <a:off x="8961120" y="3108960"/>
            <a:ext cx="6400800" cy="6400800"/>
          </a:xfrm>
          <a:prstGeom prst="ellipse">
            <a:avLst/>
          </a:prstGeom>
          <a:solidFill>
            <a:srgbClr val="0A56A0"/>
          </a:solidFill>
          <a:ln/>
        </p:spPr>
      </p:sp>
      <p:sp>
        <p:nvSpPr>
          <p:cNvPr id="3" name="Text 1"/>
          <p:cNvSpPr/>
          <p:nvPr/>
        </p:nvSpPr>
        <p:spPr>
          <a:xfrm>
            <a:off x="640080" y="1554480"/>
            <a:ext cx="3657600" cy="2377440"/>
          </a:xfrm>
          <a:prstGeom prst="rect">
            <a:avLst/>
          </a:prstGeom>
          <a:noFill/>
          <a:ln/>
        </p:spPr>
        <p:txBody>
          <a:bodyPr wrap="square" rtlCol="0" anchor="ctr"/>
          <a:lstStyle/>
          <a:p>
            <a:pPr indent="0" marL="0">
              <a:buNone/>
            </a:pPr>
            <a:r>
              <a:rPr lang="en-US" sz="15000" b="1" dirty="0">
                <a:solidFill>
                  <a:srgbClr val="1E88D6"/>
                </a:solidFill>
                <a:latin typeface="Cambria" pitchFamily="34" charset="0"/>
                <a:ea typeface="Cambria" pitchFamily="34" charset="-122"/>
                <a:cs typeface="Cambria" pitchFamily="34" charset="-120"/>
              </a:rPr>
              <a:t>05</a:t>
            </a:r>
            <a:endParaRPr lang="en-US" sz="15000" dirty="0"/>
          </a:p>
        </p:txBody>
      </p:sp>
      <p:sp>
        <p:nvSpPr>
          <p:cNvPr id="4" name="Text 2"/>
          <p:cNvSpPr/>
          <p:nvPr/>
        </p:nvSpPr>
        <p:spPr>
          <a:xfrm>
            <a:off x="3200400" y="2286000"/>
            <a:ext cx="8412480" cy="109728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Kết luận</a:t>
            </a:r>
            <a:endParaRPr lang="en-US" sz="4000" dirty="0"/>
          </a:p>
        </p:txBody>
      </p:sp>
      <p:sp>
        <p:nvSpPr>
          <p:cNvPr id="5" name="Text 3"/>
          <p:cNvSpPr/>
          <p:nvPr/>
        </p:nvSpPr>
        <p:spPr>
          <a:xfrm>
            <a:off x="3246120" y="3383280"/>
            <a:ext cx="8229600" cy="548640"/>
          </a:xfrm>
          <a:prstGeom prst="rect">
            <a:avLst/>
          </a:prstGeom>
          <a:noFill/>
          <a:ln/>
        </p:spPr>
        <p:txBody>
          <a:bodyPr wrap="square" rtlCol="0" anchor="ctr"/>
          <a:lstStyle/>
          <a:p>
            <a:pPr indent="0" marL="0">
              <a:buNone/>
            </a:pPr>
            <a:r>
              <a:rPr lang="en-US" sz="1600" dirty="0">
                <a:solidFill>
                  <a:srgbClr val="CBDEF5"/>
                </a:solidFill>
                <a:latin typeface="Calibri" pitchFamily="34" charset="0"/>
                <a:ea typeface="Calibri" pitchFamily="34" charset="-122"/>
                <a:cs typeface="Calibri" pitchFamily="34" charset="-120"/>
              </a:rPr>
              <a:t>Điều tâm đắc · Hạn chế tự đánh giá · Hướng phát triển</a:t>
            </a:r>
            <a:endParaRPr lang="en-US" sz="1600" dirty="0"/>
          </a:p>
        </p:txBody>
      </p:sp>
      <p:sp>
        <p:nvSpPr>
          <p:cNvPr id="6" name="Text 4"/>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9FB3C4"/>
                </a:solidFill>
                <a:latin typeface="Calibri" pitchFamily="34" charset="0"/>
                <a:ea typeface="Calibri" pitchFamily="34" charset="-122"/>
                <a:cs typeface="Calibri" pitchFamily="34" charset="-120"/>
              </a:rPr>
              <a:t>CareerNova · KLTN 2026</a:t>
            </a:r>
            <a:endParaRPr lang="en-US" sz="900" dirty="0"/>
          </a:p>
        </p:txBody>
      </p:sp>
      <p:sp>
        <p:nvSpPr>
          <p:cNvPr id="7"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9FB3C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ĐIỀU CHÚNG EM TÂM ĐẮC NHẤT</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Ba điều tự hào về kết quả</a:t>
            </a:r>
            <a:endParaRPr lang="en-US" sz="3000" dirty="0"/>
          </a:p>
        </p:txBody>
      </p:sp>
      <p:sp>
        <p:nvSpPr>
          <p:cNvPr id="5" name="Shape 2"/>
          <p:cNvSpPr/>
          <p:nvPr/>
        </p:nvSpPr>
        <p:spPr>
          <a:xfrm>
            <a:off x="640080" y="1874520"/>
            <a:ext cx="3611880" cy="3566160"/>
          </a:xfrm>
          <a:prstGeom prst="roundRect">
            <a:avLst>
              <a:gd name="adj" fmla="val 2051"/>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Shape 3"/>
          <p:cNvSpPr/>
          <p:nvPr/>
        </p:nvSpPr>
        <p:spPr>
          <a:xfrm>
            <a:off x="914400" y="2194560"/>
            <a:ext cx="685800" cy="685800"/>
          </a:xfrm>
          <a:prstGeom prst="roundRect">
            <a:avLst>
              <a:gd name="adj" fmla="val 18667"/>
            </a:avLst>
          </a:prstGeom>
          <a:solidFill>
            <a:srgbClr val="0C63B4"/>
          </a:solidFill>
          <a:ln/>
        </p:spPr>
      </p:sp>
      <p:sp>
        <p:nvSpPr>
          <p:cNvPr id="7" name="Text 4"/>
          <p:cNvSpPr/>
          <p:nvPr/>
        </p:nvSpPr>
        <p:spPr>
          <a:xfrm>
            <a:off x="914400" y="2194560"/>
            <a:ext cx="685800" cy="68580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8" name="Text 5"/>
          <p:cNvSpPr/>
          <p:nvPr/>
        </p:nvSpPr>
        <p:spPr>
          <a:xfrm>
            <a:off x="914400" y="3063240"/>
            <a:ext cx="3108960" cy="502920"/>
          </a:xfrm>
          <a:prstGeom prst="rect">
            <a:avLst/>
          </a:prstGeom>
          <a:noFill/>
          <a:ln/>
        </p:spPr>
        <p:txBody>
          <a:bodyPr wrap="square" rtlCol="0" anchor="ctr"/>
          <a:lstStyle/>
          <a:p>
            <a:pPr indent="0" marL="0">
              <a:buNone/>
            </a:pPr>
            <a:r>
              <a:rPr lang="en-US" sz="1800" b="1" dirty="0">
                <a:solidFill>
                  <a:srgbClr val="003E7E"/>
                </a:solidFill>
                <a:latin typeface="Cambria" pitchFamily="34" charset="0"/>
                <a:ea typeface="Cambria" pitchFamily="34" charset="-122"/>
                <a:cs typeface="Cambria" pitchFamily="34" charset="-120"/>
              </a:rPr>
              <a:t>Chạy thật, đo thật</a:t>
            </a:r>
            <a:endParaRPr lang="en-US" sz="1800" dirty="0"/>
          </a:p>
        </p:txBody>
      </p:sp>
      <p:sp>
        <p:nvSpPr>
          <p:cNvPr id="9" name="Text 6"/>
          <p:cNvSpPr/>
          <p:nvPr/>
        </p:nvSpPr>
        <p:spPr>
          <a:xfrm>
            <a:off x="914400" y="3611880"/>
            <a:ext cx="3108960" cy="1691640"/>
          </a:xfrm>
          <a:prstGeom prst="rect">
            <a:avLst/>
          </a:prstGeom>
          <a:noFill/>
          <a:ln/>
        </p:spPr>
        <p:txBody>
          <a:bodyPr wrap="square" rtlCol="0" anchor="t"/>
          <a:lstStyle/>
          <a:p>
            <a:pPr indent="0" marL="0">
              <a:lnSpc>
                <a:spcPct val="106000"/>
              </a:lnSpc>
              <a:buNone/>
            </a:pPr>
            <a:r>
              <a:rPr lang="en-US" sz="1350" dirty="0">
                <a:solidFill>
                  <a:srgbClr val="17334D"/>
                </a:solidFill>
                <a:latin typeface="Calibri" pitchFamily="34" charset="0"/>
                <a:ea typeface="Calibri" pitchFamily="34" charset="-122"/>
                <a:cs typeface="Calibri" pitchFamily="34" charset="-120"/>
              </a:rPr>
              <a:t>Hệ thống triển khai công khai, dữ liệu thật (7.245 tin), mọi số liệu có bằng chứng thô (psql, terminal).</a:t>
            </a:r>
            <a:endParaRPr lang="en-US" sz="1350" dirty="0"/>
          </a:p>
        </p:txBody>
      </p:sp>
      <p:sp>
        <p:nvSpPr>
          <p:cNvPr id="10" name="Shape 7"/>
          <p:cNvSpPr/>
          <p:nvPr/>
        </p:nvSpPr>
        <p:spPr>
          <a:xfrm>
            <a:off x="4343400" y="1874520"/>
            <a:ext cx="3611880" cy="3566160"/>
          </a:xfrm>
          <a:prstGeom prst="roundRect">
            <a:avLst>
              <a:gd name="adj" fmla="val 2051"/>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1" name="Shape 8"/>
          <p:cNvSpPr/>
          <p:nvPr/>
        </p:nvSpPr>
        <p:spPr>
          <a:xfrm>
            <a:off x="4617720" y="2194560"/>
            <a:ext cx="685800" cy="685800"/>
          </a:xfrm>
          <a:prstGeom prst="roundRect">
            <a:avLst>
              <a:gd name="adj" fmla="val 18667"/>
            </a:avLst>
          </a:prstGeom>
          <a:solidFill>
            <a:srgbClr val="0A56A0"/>
          </a:solidFill>
          <a:ln/>
        </p:spPr>
      </p:sp>
      <p:sp>
        <p:nvSpPr>
          <p:cNvPr id="12" name="Text 9"/>
          <p:cNvSpPr/>
          <p:nvPr/>
        </p:nvSpPr>
        <p:spPr>
          <a:xfrm>
            <a:off x="4617720" y="2194560"/>
            <a:ext cx="685800" cy="68580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AI</a:t>
            </a:r>
            <a:endParaRPr lang="en-US" sz="2200" dirty="0"/>
          </a:p>
        </p:txBody>
      </p:sp>
      <p:sp>
        <p:nvSpPr>
          <p:cNvPr id="13" name="Text 10"/>
          <p:cNvSpPr/>
          <p:nvPr/>
        </p:nvSpPr>
        <p:spPr>
          <a:xfrm>
            <a:off x="4617720" y="3063240"/>
            <a:ext cx="3108960" cy="502920"/>
          </a:xfrm>
          <a:prstGeom prst="rect">
            <a:avLst/>
          </a:prstGeom>
          <a:noFill/>
          <a:ln/>
        </p:spPr>
        <p:txBody>
          <a:bodyPr wrap="square" rtlCol="0" anchor="ctr"/>
          <a:lstStyle/>
          <a:p>
            <a:pPr indent="0" marL="0">
              <a:buNone/>
            </a:pPr>
            <a:r>
              <a:rPr lang="en-US" sz="1800" b="1" dirty="0">
                <a:solidFill>
                  <a:srgbClr val="003E7E"/>
                </a:solidFill>
                <a:latin typeface="Cambria" pitchFamily="34" charset="0"/>
                <a:ea typeface="Cambria" pitchFamily="34" charset="-122"/>
                <a:cs typeface="Cambria" pitchFamily="34" charset="-120"/>
              </a:rPr>
              <a:t>Chống ảo giác LLM</a:t>
            </a:r>
            <a:endParaRPr lang="en-US" sz="1800" dirty="0"/>
          </a:p>
        </p:txBody>
      </p:sp>
      <p:sp>
        <p:nvSpPr>
          <p:cNvPr id="14" name="Text 11"/>
          <p:cNvSpPr/>
          <p:nvPr/>
        </p:nvSpPr>
        <p:spPr>
          <a:xfrm>
            <a:off x="4617720" y="3611880"/>
            <a:ext cx="3108960" cy="1691640"/>
          </a:xfrm>
          <a:prstGeom prst="rect">
            <a:avLst/>
          </a:prstGeom>
          <a:noFill/>
          <a:ln/>
        </p:spPr>
        <p:txBody>
          <a:bodyPr wrap="square" rtlCol="0" anchor="t"/>
          <a:lstStyle/>
          <a:p>
            <a:pPr indent="0" marL="0">
              <a:lnSpc>
                <a:spcPct val="106000"/>
              </a:lnSpc>
              <a:buNone/>
            </a:pPr>
            <a:r>
              <a:rPr lang="en-US" sz="1350" dirty="0">
                <a:solidFill>
                  <a:srgbClr val="17334D"/>
                </a:solidFill>
                <a:latin typeface="Calibri" pitchFamily="34" charset="0"/>
                <a:ea typeface="Calibri" pitchFamily="34" charset="-122"/>
                <a:cs typeface="Calibri" pitchFamily="34" charset="-120"/>
              </a:rPr>
              <a:t>Cơ chế hậu kiểm bằng chứng giúp Precision trích xuất kỹ năng đạt 98,9% — gần như không bịa.</a:t>
            </a:r>
            <a:endParaRPr lang="en-US" sz="1350" dirty="0"/>
          </a:p>
        </p:txBody>
      </p:sp>
      <p:sp>
        <p:nvSpPr>
          <p:cNvPr id="15" name="Shape 12"/>
          <p:cNvSpPr/>
          <p:nvPr/>
        </p:nvSpPr>
        <p:spPr>
          <a:xfrm>
            <a:off x="8046720" y="1874520"/>
            <a:ext cx="3611880" cy="3566160"/>
          </a:xfrm>
          <a:prstGeom prst="roundRect">
            <a:avLst>
              <a:gd name="adj" fmla="val 2051"/>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6" name="Shape 13"/>
          <p:cNvSpPr/>
          <p:nvPr/>
        </p:nvSpPr>
        <p:spPr>
          <a:xfrm>
            <a:off x="8321040" y="2194560"/>
            <a:ext cx="685800" cy="685800"/>
          </a:xfrm>
          <a:prstGeom prst="roundRect">
            <a:avLst>
              <a:gd name="adj" fmla="val 18667"/>
            </a:avLst>
          </a:prstGeom>
          <a:solidFill>
            <a:srgbClr val="1E88D6"/>
          </a:solidFill>
          <a:ln/>
        </p:spPr>
      </p:sp>
      <p:sp>
        <p:nvSpPr>
          <p:cNvPr id="17" name="Text 14"/>
          <p:cNvSpPr/>
          <p:nvPr/>
        </p:nvSpPr>
        <p:spPr>
          <a:xfrm>
            <a:off x="8321040" y="2194560"/>
            <a:ext cx="685800" cy="68580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8" name="Text 15"/>
          <p:cNvSpPr/>
          <p:nvPr/>
        </p:nvSpPr>
        <p:spPr>
          <a:xfrm>
            <a:off x="8321040" y="3063240"/>
            <a:ext cx="3108960" cy="502920"/>
          </a:xfrm>
          <a:prstGeom prst="rect">
            <a:avLst/>
          </a:prstGeom>
          <a:noFill/>
          <a:ln/>
        </p:spPr>
        <p:txBody>
          <a:bodyPr wrap="square" rtlCol="0" anchor="ctr"/>
          <a:lstStyle/>
          <a:p>
            <a:pPr indent="0" marL="0">
              <a:buNone/>
            </a:pPr>
            <a:r>
              <a:rPr lang="en-US" sz="1800" b="1" dirty="0">
                <a:solidFill>
                  <a:srgbClr val="003E7E"/>
                </a:solidFill>
                <a:latin typeface="Cambria" pitchFamily="34" charset="0"/>
                <a:ea typeface="Cambria" pitchFamily="34" charset="-122"/>
                <a:cs typeface="Cambria" pitchFamily="34" charset="-120"/>
              </a:rPr>
              <a:t>Định lượng khoảng cách</a:t>
            </a:r>
            <a:endParaRPr lang="en-US" sz="1800" dirty="0"/>
          </a:p>
        </p:txBody>
      </p:sp>
      <p:sp>
        <p:nvSpPr>
          <p:cNvPr id="19" name="Text 16"/>
          <p:cNvSpPr/>
          <p:nvPr/>
        </p:nvSpPr>
        <p:spPr>
          <a:xfrm>
            <a:off x="8321040" y="3611880"/>
            <a:ext cx="3108960" cy="1691640"/>
          </a:xfrm>
          <a:prstGeom prst="rect">
            <a:avLst/>
          </a:prstGeom>
          <a:noFill/>
          <a:ln/>
        </p:spPr>
        <p:txBody>
          <a:bodyPr wrap="square" rtlCol="0" anchor="t"/>
          <a:lstStyle/>
          <a:p>
            <a:pPr indent="0" marL="0">
              <a:lnSpc>
                <a:spcPct val="106000"/>
              </a:lnSpc>
              <a:buNone/>
            </a:pPr>
            <a:r>
              <a:rPr lang="en-US" sz="1350" dirty="0">
                <a:solidFill>
                  <a:srgbClr val="17334D"/>
                </a:solidFill>
                <a:latin typeface="Calibri" pitchFamily="34" charset="0"/>
                <a:ea typeface="Calibri" pitchFamily="34" charset="-122"/>
                <a:cs typeface="Calibri" pitchFamily="34" charset="-120"/>
              </a:rPr>
              <a:t>So khớp ngữ nghĩa có trọng số thị trường — chỉ ra “thiếu gì”, điều keyword matching không làm được.</a:t>
            </a:r>
            <a:endParaRPr lang="en-US" sz="1350" dirty="0"/>
          </a:p>
        </p:txBody>
      </p:sp>
      <p:sp>
        <p:nvSpPr>
          <p:cNvPr id="21" name="Text 17"/>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22" name="Text 18"/>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HẠN CHẾ &amp; TỰ ĐÁNH GIÁ</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Nhìn thẳng — kèm hướng khắc phục</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31520" y="1783080"/>
          <a:ext cx="10789920" cy="914400"/>
        </p:xfrm>
        <a:graphic>
          <a:graphicData uri="http://schemas.openxmlformats.org/drawingml/2006/table">
            <a:tbl>
              <a:tblPr/>
              <a:tblGrid>
                <a:gridCol w="5486400"/>
                <a:gridCol w="5303520"/>
              </a:tblGrid>
              <a:tr h="60350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Hạn chế (tự nhận)</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Hướng khắc phục</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r>
              <a:tr h="603504">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 Nhãn chuẩn do nhóm tự gán</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Bổ sung gán độc lập ≥ 2 người + đo Cohen's κ</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603504">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 Chưa có baseline so sánh (keyword / SBERT thuần)</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Chạy ablation tách vai trò từng thành phần</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603504">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 Recall NER 73% &amp; Skill Gap phân loại 54,8%</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Fuzzy match evidence + lưu trữ 3 trạng thái (thêm Partial)</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603504">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 Tập đánh giá nhỏ, một phần dữ liệu giả lập</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Mở rộng tập thật, thêm cặp khó (khái quát hơn)</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603504">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 CV gửi Gemini (bên thứ ba) — chưa xử lý PII</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Ẩn danh hóa PII trước khi gửi; đối chiếu NĐ 13/2023</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603504">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 Chỉ đo đơn phiên, chưa load/stress test</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00" dirty="0">
                          <a:solidFill>
                            <a:srgbClr val="17334D"/>
                          </a:solidFill>
                          <a:latin typeface="Calibri" pitchFamily="34" charset="0"/>
                          <a:ea typeface="Calibri" pitchFamily="34" charset="-122"/>
                          <a:cs typeface="Calibri" pitchFamily="34" charset="-120"/>
                        </a:rPr>
                        <a:t>Xử lý bất đồng bộ + hàng đợi; kiểm thử tải</a:t>
                      </a:r>
                      <a:endParaRPr lang="en-US" sz="120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bl>
          </a:graphicData>
        </a:graphic>
      </p:graphicFrame>
      <p:sp>
        <p:nvSpPr>
          <p:cNvPr id="7" name="Text 2"/>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8" name="Text 3"/>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200" kern="0" dirty="0">
                <a:solidFill>
                  <a:srgbClr val="0C63B4"/>
                </a:solidFill>
                <a:latin typeface="Calibri" pitchFamily="34" charset="0"/>
                <a:ea typeface="Calibri" pitchFamily="34" charset="-122"/>
                <a:cs typeface="Calibri" pitchFamily="34" charset="-120"/>
              </a:rPr>
              <a:t>HƯỚNG PHÁT TRIỂN</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3000" b="1" dirty="0">
                <a:solidFill>
                  <a:srgbClr val="003E7E"/>
                </a:solidFill>
                <a:latin typeface="Cambria" pitchFamily="34" charset="0"/>
                <a:ea typeface="Cambria" pitchFamily="34" charset="-122"/>
                <a:cs typeface="Cambria" pitchFamily="34" charset="-120"/>
              </a:rPr>
              <a:t>Ưu tiên theo cả nghiên cứu lẫn phản hồi người dùng</a:t>
            </a:r>
            <a:endParaRPr lang="en-US" sz="3000" dirty="0"/>
          </a:p>
        </p:txBody>
      </p:sp>
      <p:sp>
        <p:nvSpPr>
          <p:cNvPr id="5" name="Shape 2"/>
          <p:cNvSpPr/>
          <p:nvPr/>
        </p:nvSpPr>
        <p:spPr>
          <a:xfrm>
            <a:off x="822960" y="1828800"/>
            <a:ext cx="10515600" cy="960120"/>
          </a:xfrm>
          <a:prstGeom prst="roundRect">
            <a:avLst>
              <a:gd name="adj" fmla="val 7619"/>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6" name="Shape 3"/>
          <p:cNvSpPr/>
          <p:nvPr/>
        </p:nvSpPr>
        <p:spPr>
          <a:xfrm>
            <a:off x="1051560" y="2103120"/>
            <a:ext cx="384048" cy="384048"/>
          </a:xfrm>
          <a:prstGeom prst="ellipse">
            <a:avLst/>
          </a:prstGeom>
          <a:solidFill>
            <a:srgbClr val="0C63B4"/>
          </a:solidFill>
          <a:ln/>
        </p:spPr>
      </p:sp>
      <p:sp>
        <p:nvSpPr>
          <p:cNvPr id="7" name="Text 4"/>
          <p:cNvSpPr/>
          <p:nvPr/>
        </p:nvSpPr>
        <p:spPr>
          <a:xfrm>
            <a:off x="1051560" y="2103120"/>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691640" y="1920240"/>
            <a:ext cx="3566160" cy="777240"/>
          </a:xfrm>
          <a:prstGeom prst="rect">
            <a:avLst/>
          </a:prstGeom>
          <a:noFill/>
          <a:ln/>
        </p:spPr>
        <p:txBody>
          <a:bodyPr wrap="square" rtlCol="0" anchor="ctr"/>
          <a:lstStyle/>
          <a:p>
            <a:pPr indent="0" marL="0">
              <a:buNone/>
            </a:pPr>
            <a:r>
              <a:rPr lang="en-US" sz="1600" b="1" dirty="0">
                <a:solidFill>
                  <a:srgbClr val="003E7E"/>
                </a:solidFill>
                <a:latin typeface="Cambria" pitchFamily="34" charset="0"/>
                <a:ea typeface="Cambria" pitchFamily="34" charset="-122"/>
                <a:cs typeface="Cambria" pitchFamily="34" charset="-120"/>
              </a:rPr>
              <a:t>Nâng độ vững đánh giá</a:t>
            </a:r>
            <a:endParaRPr lang="en-US" sz="1600" dirty="0"/>
          </a:p>
        </p:txBody>
      </p:sp>
      <p:sp>
        <p:nvSpPr>
          <p:cNvPr id="9" name="Text 6"/>
          <p:cNvSpPr/>
          <p:nvPr/>
        </p:nvSpPr>
        <p:spPr>
          <a:xfrm>
            <a:off x="5394960" y="1920240"/>
            <a:ext cx="5760720" cy="777240"/>
          </a:xfrm>
          <a:prstGeom prst="rect">
            <a:avLst/>
          </a:prstGeom>
          <a:noFill/>
          <a:ln/>
        </p:spPr>
        <p:txBody>
          <a:bodyPr wrap="square" rtlCol="0" anchor="ctr"/>
          <a:lstStyle/>
          <a:p>
            <a:pPr indent="0" marL="0">
              <a:lnSpc>
                <a:spcPct val="103000"/>
              </a:lnSpc>
              <a:buNone/>
            </a:pPr>
            <a:r>
              <a:rPr lang="en-US" sz="1300" dirty="0">
                <a:solidFill>
                  <a:srgbClr val="17334D"/>
                </a:solidFill>
                <a:latin typeface="Calibri" pitchFamily="34" charset="0"/>
                <a:ea typeface="Calibri" pitchFamily="34" charset="-122"/>
                <a:cs typeface="Calibri" pitchFamily="34" charset="-120"/>
              </a:rPr>
              <a:t>Baseline + ablation, phân tích độ nhạy ngưỡng, kiểm định liên người gán</a:t>
            </a:r>
            <a:endParaRPr lang="en-US" sz="1300" dirty="0"/>
          </a:p>
        </p:txBody>
      </p:sp>
      <p:sp>
        <p:nvSpPr>
          <p:cNvPr id="10" name="Shape 7"/>
          <p:cNvSpPr/>
          <p:nvPr/>
        </p:nvSpPr>
        <p:spPr>
          <a:xfrm>
            <a:off x="822960" y="2926080"/>
            <a:ext cx="10515600" cy="960120"/>
          </a:xfrm>
          <a:prstGeom prst="roundRect">
            <a:avLst>
              <a:gd name="adj" fmla="val 7619"/>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1" name="Shape 8"/>
          <p:cNvSpPr/>
          <p:nvPr/>
        </p:nvSpPr>
        <p:spPr>
          <a:xfrm>
            <a:off x="1051560" y="3200400"/>
            <a:ext cx="384048" cy="384048"/>
          </a:xfrm>
          <a:prstGeom prst="ellipse">
            <a:avLst/>
          </a:prstGeom>
          <a:solidFill>
            <a:srgbClr val="0C63B4"/>
          </a:solidFill>
          <a:ln/>
        </p:spPr>
      </p:sp>
      <p:sp>
        <p:nvSpPr>
          <p:cNvPr id="12" name="Text 9"/>
          <p:cNvSpPr/>
          <p:nvPr/>
        </p:nvSpPr>
        <p:spPr>
          <a:xfrm>
            <a:off x="1051560" y="3200400"/>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p:nvPr/>
        </p:nvSpPr>
        <p:spPr>
          <a:xfrm>
            <a:off x="1691640" y="3017520"/>
            <a:ext cx="3566160" cy="777240"/>
          </a:xfrm>
          <a:prstGeom prst="rect">
            <a:avLst/>
          </a:prstGeom>
          <a:noFill/>
          <a:ln/>
        </p:spPr>
        <p:txBody>
          <a:bodyPr wrap="square" rtlCol="0" anchor="ctr"/>
          <a:lstStyle/>
          <a:p>
            <a:pPr indent="0" marL="0">
              <a:buNone/>
            </a:pPr>
            <a:r>
              <a:rPr lang="en-US" sz="1600" b="1" dirty="0">
                <a:solidFill>
                  <a:srgbClr val="003E7E"/>
                </a:solidFill>
                <a:latin typeface="Cambria" pitchFamily="34" charset="0"/>
                <a:ea typeface="Cambria" pitchFamily="34" charset="-122"/>
                <a:cs typeface="Cambria" pitchFamily="34" charset="-120"/>
              </a:rPr>
              <a:t>Cải thiện thuật toán</a:t>
            </a:r>
            <a:endParaRPr lang="en-US" sz="1600" dirty="0"/>
          </a:p>
        </p:txBody>
      </p:sp>
      <p:sp>
        <p:nvSpPr>
          <p:cNvPr id="14" name="Text 11"/>
          <p:cNvSpPr/>
          <p:nvPr/>
        </p:nvSpPr>
        <p:spPr>
          <a:xfrm>
            <a:off x="5394960" y="3017520"/>
            <a:ext cx="5760720" cy="777240"/>
          </a:xfrm>
          <a:prstGeom prst="rect">
            <a:avLst/>
          </a:prstGeom>
          <a:noFill/>
          <a:ln/>
        </p:spPr>
        <p:txBody>
          <a:bodyPr wrap="square" rtlCol="0" anchor="ctr"/>
          <a:lstStyle/>
          <a:p>
            <a:pPr indent="0" marL="0">
              <a:lnSpc>
                <a:spcPct val="103000"/>
              </a:lnSpc>
              <a:buNone/>
            </a:pPr>
            <a:r>
              <a:rPr lang="en-US" sz="1300" dirty="0">
                <a:solidFill>
                  <a:srgbClr val="17334D"/>
                </a:solidFill>
                <a:latin typeface="Calibri" pitchFamily="34" charset="0"/>
                <a:ea typeface="Calibri" pitchFamily="34" charset="-122"/>
                <a:cs typeface="Calibri" pitchFamily="34" charset="-120"/>
              </a:rPr>
              <a:t>Lưu trữ 3 trạng thái (Partial), fuzzy match bằng chứng, xử lý bất đồng bộ</a:t>
            </a:r>
            <a:endParaRPr lang="en-US" sz="1300" dirty="0"/>
          </a:p>
        </p:txBody>
      </p:sp>
      <p:sp>
        <p:nvSpPr>
          <p:cNvPr id="15" name="Shape 12"/>
          <p:cNvSpPr/>
          <p:nvPr/>
        </p:nvSpPr>
        <p:spPr>
          <a:xfrm>
            <a:off x="822960" y="4023360"/>
            <a:ext cx="10515600" cy="960120"/>
          </a:xfrm>
          <a:prstGeom prst="roundRect">
            <a:avLst>
              <a:gd name="adj" fmla="val 7619"/>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16" name="Shape 13"/>
          <p:cNvSpPr/>
          <p:nvPr/>
        </p:nvSpPr>
        <p:spPr>
          <a:xfrm>
            <a:off x="1051560" y="4297680"/>
            <a:ext cx="384048" cy="384048"/>
          </a:xfrm>
          <a:prstGeom prst="ellipse">
            <a:avLst/>
          </a:prstGeom>
          <a:solidFill>
            <a:srgbClr val="0C63B4"/>
          </a:solidFill>
          <a:ln/>
        </p:spPr>
      </p:sp>
      <p:sp>
        <p:nvSpPr>
          <p:cNvPr id="17" name="Text 14"/>
          <p:cNvSpPr/>
          <p:nvPr/>
        </p:nvSpPr>
        <p:spPr>
          <a:xfrm>
            <a:off x="1051560" y="4297680"/>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p:nvPr/>
        </p:nvSpPr>
        <p:spPr>
          <a:xfrm>
            <a:off x="1691640" y="4114800"/>
            <a:ext cx="3566160" cy="777240"/>
          </a:xfrm>
          <a:prstGeom prst="rect">
            <a:avLst/>
          </a:prstGeom>
          <a:noFill/>
          <a:ln/>
        </p:spPr>
        <p:txBody>
          <a:bodyPr wrap="square" rtlCol="0" anchor="ctr"/>
          <a:lstStyle/>
          <a:p>
            <a:pPr indent="0" marL="0">
              <a:buNone/>
            </a:pPr>
            <a:r>
              <a:rPr lang="en-US" sz="1600" b="1" dirty="0">
                <a:solidFill>
                  <a:srgbClr val="003E7E"/>
                </a:solidFill>
                <a:latin typeface="Cambria" pitchFamily="34" charset="0"/>
                <a:ea typeface="Cambria" pitchFamily="34" charset="-122"/>
                <a:cs typeface="Cambria" pitchFamily="34" charset="-120"/>
              </a:rPr>
              <a:t>Mở rộng &amp; làm giàu dữ liệu</a:t>
            </a:r>
            <a:endParaRPr lang="en-US" sz="1600" dirty="0"/>
          </a:p>
        </p:txBody>
      </p:sp>
      <p:sp>
        <p:nvSpPr>
          <p:cNvPr id="19" name="Text 16"/>
          <p:cNvSpPr/>
          <p:nvPr/>
        </p:nvSpPr>
        <p:spPr>
          <a:xfrm>
            <a:off x="5394960" y="4114800"/>
            <a:ext cx="5760720" cy="777240"/>
          </a:xfrm>
          <a:prstGeom prst="rect">
            <a:avLst/>
          </a:prstGeom>
          <a:noFill/>
          <a:ln/>
        </p:spPr>
        <p:txBody>
          <a:bodyPr wrap="square" rtlCol="0" anchor="ctr"/>
          <a:lstStyle/>
          <a:p>
            <a:pPr indent="0" marL="0">
              <a:lnSpc>
                <a:spcPct val="103000"/>
              </a:lnSpc>
              <a:buNone/>
            </a:pPr>
            <a:r>
              <a:rPr lang="en-US" sz="1300" dirty="0">
                <a:solidFill>
                  <a:srgbClr val="17334D"/>
                </a:solidFill>
                <a:latin typeface="Calibri" pitchFamily="34" charset="0"/>
                <a:ea typeface="Calibri" pitchFamily="34" charset="-122"/>
                <a:cs typeface="Calibri" pitchFamily="34" charset="-120"/>
              </a:rPr>
              <a:t>Đa ngành, tự cập nhật từ điển kỹ năng, thêm dữ liệu lương &amp; phỏng vấn</a:t>
            </a:r>
            <a:endParaRPr lang="en-US" sz="1300" dirty="0"/>
          </a:p>
        </p:txBody>
      </p:sp>
      <p:sp>
        <p:nvSpPr>
          <p:cNvPr id="20" name="Shape 17"/>
          <p:cNvSpPr/>
          <p:nvPr/>
        </p:nvSpPr>
        <p:spPr>
          <a:xfrm>
            <a:off x="822960" y="5120640"/>
            <a:ext cx="10515600" cy="960120"/>
          </a:xfrm>
          <a:prstGeom prst="roundRect">
            <a:avLst>
              <a:gd name="adj" fmla="val 7619"/>
            </a:avLst>
          </a:prstGeom>
          <a:solidFill>
            <a:srgbClr val="FFFFFF"/>
          </a:solidFill>
          <a:ln w="12700">
            <a:solidFill>
              <a:srgbClr val="D2E0EE"/>
            </a:solidFill>
            <a:prstDash val="solid"/>
          </a:ln>
          <a:effectLst>
            <a:outerShdw sx="100000" sy="100000" kx="0" ky="0" algn="bl" rotWithShape="0" blurRad="76200" dist="25400" dir="5400000">
              <a:srgbClr val="9FB3C4">
                <a:alpha val="28000"/>
              </a:srgbClr>
            </a:outerShdw>
          </a:effectLst>
        </p:spPr>
      </p:sp>
      <p:sp>
        <p:nvSpPr>
          <p:cNvPr id="21" name="Shape 18"/>
          <p:cNvSpPr/>
          <p:nvPr/>
        </p:nvSpPr>
        <p:spPr>
          <a:xfrm>
            <a:off x="1051560" y="5394960"/>
            <a:ext cx="384048" cy="384048"/>
          </a:xfrm>
          <a:prstGeom prst="ellipse">
            <a:avLst/>
          </a:prstGeom>
          <a:solidFill>
            <a:srgbClr val="0C63B4"/>
          </a:solidFill>
          <a:ln/>
        </p:spPr>
      </p:sp>
      <p:sp>
        <p:nvSpPr>
          <p:cNvPr id="22" name="Text 19"/>
          <p:cNvSpPr/>
          <p:nvPr/>
        </p:nvSpPr>
        <p:spPr>
          <a:xfrm>
            <a:off x="1051560" y="5394960"/>
            <a:ext cx="384048" cy="38404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0"/>
          <p:cNvSpPr/>
          <p:nvPr/>
        </p:nvSpPr>
        <p:spPr>
          <a:xfrm>
            <a:off x="1691640" y="5212080"/>
            <a:ext cx="3566160" cy="777240"/>
          </a:xfrm>
          <a:prstGeom prst="rect">
            <a:avLst/>
          </a:prstGeom>
          <a:noFill/>
          <a:ln/>
        </p:spPr>
        <p:txBody>
          <a:bodyPr wrap="square" rtlCol="0" anchor="ctr"/>
          <a:lstStyle/>
          <a:p>
            <a:pPr indent="0" marL="0">
              <a:buNone/>
            </a:pPr>
            <a:r>
              <a:rPr lang="en-US" sz="1600" b="1" dirty="0">
                <a:solidFill>
                  <a:srgbClr val="003E7E"/>
                </a:solidFill>
                <a:latin typeface="Cambria" pitchFamily="34" charset="0"/>
                <a:ea typeface="Cambria" pitchFamily="34" charset="-122"/>
                <a:cs typeface="Cambria" pitchFamily="34" charset="-120"/>
              </a:rPr>
              <a:t>Riêng tư &amp; mở rộng quy mô</a:t>
            </a:r>
            <a:endParaRPr lang="en-US" sz="1600" dirty="0"/>
          </a:p>
        </p:txBody>
      </p:sp>
      <p:sp>
        <p:nvSpPr>
          <p:cNvPr id="24" name="Text 21"/>
          <p:cNvSpPr/>
          <p:nvPr/>
        </p:nvSpPr>
        <p:spPr>
          <a:xfrm>
            <a:off x="5394960" y="5212080"/>
            <a:ext cx="5760720" cy="777240"/>
          </a:xfrm>
          <a:prstGeom prst="rect">
            <a:avLst/>
          </a:prstGeom>
          <a:noFill/>
          <a:ln/>
        </p:spPr>
        <p:txBody>
          <a:bodyPr wrap="square" rtlCol="0" anchor="ctr"/>
          <a:lstStyle/>
          <a:p>
            <a:pPr indent="0" marL="0">
              <a:lnSpc>
                <a:spcPct val="103000"/>
              </a:lnSpc>
              <a:buNone/>
            </a:pPr>
            <a:r>
              <a:rPr lang="en-US" sz="1300" dirty="0">
                <a:solidFill>
                  <a:srgbClr val="17334D"/>
                </a:solidFill>
                <a:latin typeface="Calibri" pitchFamily="34" charset="0"/>
                <a:ea typeface="Calibri" pitchFamily="34" charset="-122"/>
                <a:cs typeface="Calibri" pitchFamily="34" charset="-120"/>
              </a:rPr>
              <a:t>Ẩn danh hóa PII, load test, mở rộng theo chiều ngang</a:t>
            </a:r>
            <a:endParaRPr lang="en-US" sz="1300" dirty="0"/>
          </a:p>
        </p:txBody>
      </p:sp>
      <p:sp>
        <p:nvSpPr>
          <p:cNvPr id="25" name="Text 22"/>
          <p:cNvSpPr/>
          <p:nvPr/>
        </p:nvSpPr>
        <p:spPr>
          <a:xfrm>
            <a:off x="822960" y="6263640"/>
            <a:ext cx="10972800" cy="320040"/>
          </a:xfrm>
          <a:prstGeom prst="rect">
            <a:avLst/>
          </a:prstGeom>
          <a:noFill/>
          <a:ln/>
        </p:spPr>
        <p:txBody>
          <a:bodyPr wrap="square" rtlCol="0" anchor="ctr"/>
          <a:lstStyle/>
          <a:p>
            <a:pPr indent="0" marL="0">
              <a:buNone/>
            </a:pPr>
            <a:r>
              <a:rPr lang="en-US" sz="1200" i="1" dirty="0">
                <a:solidFill>
                  <a:srgbClr val="5C6B7A"/>
                </a:solidFill>
                <a:latin typeface="Calibri" pitchFamily="34" charset="0"/>
                <a:ea typeface="Calibri" pitchFamily="34" charset="-122"/>
                <a:cs typeface="Calibri" pitchFamily="34" charset="-120"/>
              </a:rPr>
              <a:t>Người dùng mong muốn nhất: so sánh lương (77,8%) &amp; chuẩn bị phỏng vấn kỹ thuật (55,6%).</a:t>
            </a:r>
            <a:endParaRPr lang="en-US" sz="1200" dirty="0"/>
          </a:p>
        </p:txBody>
      </p:sp>
      <p:sp>
        <p:nvSpPr>
          <p:cNvPr id="27" name="Text 2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28" name="Text 2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3E7E"/>
        </a:solidFill>
      </p:bgPr>
    </p:bg>
    <p:spTree>
      <p:nvGrpSpPr>
        <p:cNvPr id="1" name=""/>
        <p:cNvGrpSpPr/>
        <p:nvPr/>
      </p:nvGrpSpPr>
      <p:grpSpPr>
        <a:xfrm>
          <a:off x="0" y="0"/>
          <a:ext cx="0" cy="0"/>
          <a:chOff x="0" y="0"/>
          <a:chExt cx="0" cy="0"/>
        </a:xfrm>
      </p:grpSpPr>
      <p:sp>
        <p:nvSpPr>
          <p:cNvPr id="2" name="Shape 0"/>
          <p:cNvSpPr/>
          <p:nvPr/>
        </p:nvSpPr>
        <p:spPr>
          <a:xfrm>
            <a:off x="8686800" y="-2286000"/>
            <a:ext cx="6400800" cy="6400800"/>
          </a:xfrm>
          <a:prstGeom prst="ellipse">
            <a:avLst/>
          </a:prstGeom>
          <a:solidFill>
            <a:srgbClr val="0A56A0"/>
          </a:solidFill>
          <a:ln/>
        </p:spPr>
      </p:sp>
      <p:sp>
        <p:nvSpPr>
          <p:cNvPr id="3" name="Shape 1"/>
          <p:cNvSpPr/>
          <p:nvPr/>
        </p:nvSpPr>
        <p:spPr>
          <a:xfrm>
            <a:off x="-1828800" y="3657600"/>
            <a:ext cx="5486400" cy="5486400"/>
          </a:xfrm>
          <a:prstGeom prst="ellipse">
            <a:avLst/>
          </a:prstGeom>
          <a:solidFill>
            <a:srgbClr val="0A56A0"/>
          </a:solidFill>
          <a:ln/>
        </p:spPr>
      </p:sp>
      <p:pic>
        <p:nvPicPr>
          <p:cNvPr id="4" name="Image 0" descr="/private/tmp/claude-501/-Users-ymytr-nova/5e161095-2610-40a0-961d-5450e47dcdec/scratchpad/build/logo.png">    </p:cNvPr>
          <p:cNvPicPr>
            <a:picLocks noChangeAspect="1"/>
          </p:cNvPicPr>
          <p:nvPr/>
        </p:nvPicPr>
        <p:blipFill>
          <a:blip r:embed="rId1"/>
          <a:stretch>
            <a:fillRect/>
          </a:stretch>
        </p:blipFill>
        <p:spPr>
          <a:xfrm>
            <a:off x="640080" y="822960"/>
            <a:ext cx="2103120" cy="919010"/>
          </a:xfrm>
          <a:prstGeom prst="rect">
            <a:avLst/>
          </a:prstGeom>
        </p:spPr>
      </p:pic>
      <p:sp>
        <p:nvSpPr>
          <p:cNvPr id="5" name="Text 2"/>
          <p:cNvSpPr/>
          <p:nvPr/>
        </p:nvSpPr>
        <p:spPr>
          <a:xfrm>
            <a:off x="640080" y="2743200"/>
            <a:ext cx="109728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Cảm ơn quý thầy cô đã lắng nghe!</a:t>
            </a:r>
            <a:endParaRPr lang="en-US" sz="4000" dirty="0"/>
          </a:p>
        </p:txBody>
      </p:sp>
      <p:sp>
        <p:nvSpPr>
          <p:cNvPr id="6" name="Text 3"/>
          <p:cNvSpPr/>
          <p:nvPr/>
        </p:nvSpPr>
        <p:spPr>
          <a:xfrm>
            <a:off x="658368" y="3749040"/>
            <a:ext cx="10972800" cy="457200"/>
          </a:xfrm>
          <a:prstGeom prst="rect">
            <a:avLst/>
          </a:prstGeom>
          <a:noFill/>
          <a:ln/>
        </p:spPr>
        <p:txBody>
          <a:bodyPr wrap="square" rtlCol="0" anchor="ctr"/>
          <a:lstStyle/>
          <a:p>
            <a:pPr indent="0" marL="0">
              <a:buNone/>
            </a:pPr>
            <a:r>
              <a:rPr lang="en-US" sz="1700" dirty="0">
                <a:solidFill>
                  <a:srgbClr val="CBDEF5"/>
                </a:solidFill>
                <a:latin typeface="Calibri" pitchFamily="34" charset="0"/>
                <a:ea typeface="Calibri" pitchFamily="34" charset="-122"/>
                <a:cs typeface="Calibri" pitchFamily="34" charset="-120"/>
              </a:rPr>
              <a:t>Nhóm rất mong nhận được góp ý của hội đồng.</a:t>
            </a:r>
            <a:endParaRPr lang="en-US" sz="1700" dirty="0"/>
          </a:p>
        </p:txBody>
      </p:sp>
      <p:sp>
        <p:nvSpPr>
          <p:cNvPr id="7" name="Text 4"/>
          <p:cNvSpPr/>
          <p:nvPr/>
        </p:nvSpPr>
        <p:spPr>
          <a:xfrm>
            <a:off x="658368" y="4846320"/>
            <a:ext cx="10972800" cy="457200"/>
          </a:xfrm>
          <a:prstGeom prst="rect">
            <a:avLst/>
          </a:prstGeom>
          <a:noFill/>
          <a:ln/>
        </p:spPr>
        <p:txBody>
          <a:bodyPr wrap="square" rtlCol="0" anchor="ctr"/>
          <a:lstStyle/>
          <a:p>
            <a:pPr indent="0" marL="0">
              <a:buNone/>
            </a:pPr>
            <a:r>
              <a:rPr lang="en-US" sz="1600" b="1" dirty="0">
                <a:solidFill>
                  <a:srgbClr val="1E88D6"/>
                </a:solidFill>
                <a:latin typeface="Calibri" pitchFamily="34" charset="0"/>
                <a:ea typeface="Calibri" pitchFamily="34" charset="-122"/>
                <a:cs typeface="Calibri" pitchFamily="34" charset="-120"/>
              </a:rPr>
              <a:t>career-nova.online</a:t>
            </a:r>
            <a:pPr indent="0" marL="0">
              <a:buNone/>
            </a:pPr>
            <a:r>
              <a:rPr lang="en-US" sz="1600" dirty="0">
                <a:solidFill>
                  <a:srgbClr val="FFFFFF"/>
                </a:solidFill>
                <a:latin typeface="Calibri" pitchFamily="34" charset="0"/>
                <a:ea typeface="Calibri" pitchFamily="34" charset="-122"/>
                <a:cs typeface="Calibri" pitchFamily="34" charset="-120"/>
              </a:rPr>
              <a:t>    ·    Thái Thị Kim Huyền  ·  Trần Thị Mỹ Ý</a:t>
            </a:r>
            <a:endParaRPr lang="en-US" sz="1600" dirty="0"/>
          </a:p>
        </p:txBody>
      </p:sp>
      <p:sp>
        <p:nvSpPr>
          <p:cNvPr id="8" name="Text 5"/>
          <p:cNvSpPr/>
          <p:nvPr/>
        </p:nvSpPr>
        <p:spPr>
          <a:xfrm>
            <a:off x="658368" y="5349240"/>
            <a:ext cx="10972800" cy="365760"/>
          </a:xfrm>
          <a:prstGeom prst="rect">
            <a:avLst/>
          </a:prstGeom>
          <a:noFill/>
          <a:ln/>
        </p:spPr>
        <p:txBody>
          <a:bodyPr wrap="square" rtlCol="0" anchor="ctr"/>
          <a:lstStyle/>
          <a:p>
            <a:pPr indent="0" marL="0">
              <a:buNone/>
            </a:pPr>
            <a:r>
              <a:rPr lang="en-US" sz="1400" dirty="0">
                <a:solidFill>
                  <a:srgbClr val="9FB3C4"/>
                </a:solidFill>
                <a:latin typeface="Calibri" pitchFamily="34" charset="0"/>
                <a:ea typeface="Calibri" pitchFamily="34" charset="-122"/>
                <a:cs typeface="Calibri" pitchFamily="34" charset="-120"/>
              </a:rPr>
              <a:t>GVHD: TS. Vũ Thị Mỹ Hằng</a:t>
            </a:r>
            <a:endParaRPr lang="en-US" sz="1400" dirty="0"/>
          </a:p>
        </p:txBody>
      </p:sp>
      <p:sp>
        <p:nvSpPr>
          <p:cNvPr id="10" name="Text 6"/>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9FB3C4"/>
                </a:solidFill>
                <a:latin typeface="Calibri" pitchFamily="34" charset="0"/>
                <a:ea typeface="Calibri" pitchFamily="34" charset="-122"/>
                <a:cs typeface="Calibri" pitchFamily="34" charset="-120"/>
              </a:rPr>
              <a:t>CareerNova · KLTN 2026</a:t>
            </a:r>
            <a:endParaRPr lang="en-US" sz="900" dirty="0"/>
          </a:p>
        </p:txBody>
      </p:sp>
      <p:sp>
        <p:nvSpPr>
          <p:cNvPr id="11" name="Text 7"/>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9FB3C4"/>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D1</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Baseline &amp; Ablation — chứng minh giá trị từng thành phần</a:t>
            </a:r>
            <a:endParaRPr lang="en-US" sz="2800" dirty="0"/>
          </a:p>
        </p:txBody>
      </p:sp>
      <p:sp>
        <p:nvSpPr>
          <p:cNvPr id="5" name="Text 2"/>
          <p:cNvSpPr/>
          <p:nvPr/>
        </p:nvSpPr>
        <p:spPr>
          <a:xfrm>
            <a:off x="731520" y="1783080"/>
            <a:ext cx="10789920" cy="4572000"/>
          </a:xfrm>
          <a:prstGeom prst="rect">
            <a:avLst/>
          </a:prstGeom>
          <a:noFill/>
          <a:ln/>
        </p:spPr>
        <p:txBody>
          <a:bodyPr wrap="square" rtlCol="0" anchor="t"/>
          <a:lstStyle/>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Vấn đề hội đồng nêu: luận lập luận “lai LLM+SBERT+trọng số tốt hơn keyword” nhưng chưa đo đối chứng.</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Kế hoạch ablation trên cùng tập nhãn (20 JD + 20 CV): (1) chỉ khớp từ khóa; (2) SBERT thuần; (3) SBERT + trọng số IDF + 6 luật (đầy đủ).</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Kỳ vọng: (3) &gt; (2) &gt; (1) → tách bạch đóng góp của trọng số và bộ luật.</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Tối thiểu: bật/tắt trọng số IDF để cho thấy tác dụng.</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Trả lời nếu chưa kịp chạy: “Đây là hạn chế đã ghi nhận; nhóm đề xuất ablation như trên làm bước đánh giá tiếp theo.”</a:t>
            </a:r>
            <a:endParaRPr lang="en-US" sz="1500" dirty="0"/>
          </a:p>
        </p:txBody>
      </p:sp>
      <p:sp>
        <p:nvSpPr>
          <p:cNvPr id="6"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7"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D2</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Căn cứ chọn ngưỡng &amp; hệ số</a:t>
            </a:r>
            <a:endParaRPr lang="en-US" sz="2800" dirty="0"/>
          </a:p>
        </p:txBody>
      </p:sp>
      <p:sp>
        <p:nvSpPr>
          <p:cNvPr id="5" name="Text 2"/>
          <p:cNvSpPr/>
          <p:nvPr/>
        </p:nvSpPr>
        <p:spPr>
          <a:xfrm>
            <a:off x="731520" y="1783080"/>
            <a:ext cx="10789920" cy="4572000"/>
          </a:xfrm>
          <a:prstGeom prst="rect">
            <a:avLst/>
          </a:prstGeom>
          <a:noFill/>
          <a:ln/>
        </p:spPr>
        <p:txBody>
          <a:bodyPr wrap="square" rtlCol="0" anchor="t"/>
          <a:lstStyle/>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Các ngưỡng là tham số VẬN HÀNH THẬT trong mã nguồn: phân loại 0,75 / 0,45; sàn cosine 0,55; hybrid 0,85 + 0,15; ngưỡng động 0,80 / 0,70; boost ×1,2; khử trùng lặp θ = 0,8.</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Cơ sở: trực giác thang Cosine (SBERT) + thử nghiệm sơ bộ trên tập dev; chưa grid-search toàn diện (thừa nhận).</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Luật soft-skill (&gt;0,35 → 1,0): dễ thổi phồng điểm → đề xuất HẠ TRẦN lên tối đa 0,85 thay vì 1,0, hoặc giữ nguyên cosine.</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Hướng cải tiến: bảng phân tích độ nhạy cho 1–2 ngưỡng quan trọng (quét 0,70/0,75/0,80).</a:t>
            </a:r>
            <a:endParaRPr lang="en-US" sz="1500" dirty="0"/>
          </a:p>
        </p:txBody>
      </p:sp>
      <p:sp>
        <p:nvSpPr>
          <p:cNvPr id="6"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7"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D3</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Luật chứng chỉ &amp; thứ tự áp dụng 6 luật</a:t>
            </a:r>
            <a:endParaRPr lang="en-US" sz="2800" dirty="0"/>
          </a:p>
        </p:txBody>
      </p:sp>
      <p:sp>
        <p:nvSpPr>
          <p:cNvPr id="5" name="Text 2"/>
          <p:cNvSpPr/>
          <p:nvPr/>
        </p:nvSpPr>
        <p:spPr>
          <a:xfrm>
            <a:off x="731520" y="1783080"/>
            <a:ext cx="10789920" cy="4572000"/>
          </a:xfrm>
          <a:prstGeom prst="rect">
            <a:avLst/>
          </a:prstGeom>
          <a:noFill/>
          <a:ln/>
        </p:spPr>
        <p:txBody>
          <a:bodyPr wrap="square" rtlCol="0" anchor="t"/>
          <a:lstStyle/>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Lo ngại: “ép độ tương đồng chứng chỉ về 0” khiến chứng chỉ không bao giờ khớp.</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Thực tế: có nhánh khớp chính xác theo tên/ID chứng chỉ TRƯỚC khi áp luật ép-0 (khớp đúng vẫn được tính).</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Thứ tự áp dụng 6 luật là tuần tự, có short-circuit; luật ép-0 chỉ chi phối khi hai kỹ năng khác nhóm phân loại.</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Rủi ro phạt oan (missing giả) đã ghi nhận → cân nhắc nới luật theo nhóm liên quan chéo.</a:t>
            </a:r>
            <a:endParaRPr lang="en-US" sz="1500" dirty="0"/>
          </a:p>
        </p:txBody>
      </p:sp>
      <p:sp>
        <p:nvSpPr>
          <p:cNvPr id="6"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7"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D4</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Quyền riêng tư dữ liệu CV (PII)</a:t>
            </a:r>
            <a:endParaRPr lang="en-US" sz="2800" dirty="0"/>
          </a:p>
        </p:txBody>
      </p:sp>
      <p:sp>
        <p:nvSpPr>
          <p:cNvPr id="5" name="Text 2"/>
          <p:cNvSpPr/>
          <p:nvPr/>
        </p:nvSpPr>
        <p:spPr>
          <a:xfrm>
            <a:off x="731520" y="1783080"/>
            <a:ext cx="10789920" cy="4572000"/>
          </a:xfrm>
          <a:prstGeom prst="rect">
            <a:avLst/>
          </a:prstGeom>
          <a:noFill/>
          <a:ln/>
        </p:spPr>
        <p:txBody>
          <a:bodyPr wrap="square" rtlCol="0" anchor="t"/>
          <a:lstStyle/>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CV chứa PII (họ tên, email, SĐT, quá trình làm việc) và được gửi tới Gemini API (bên thứ ba).</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Hiện trạng: chưa ẩn danh hóa PII trước khi gửi — nhóm nhìn nhận là hạn chế.</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Cam kết: chỉ dùng cho mục đích học thuật, không tái phân phối; người dùng chủ động tải CV.</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Hướng khắc phục: loại/ẩn danh PII trước khi gửi; thông báo &amp; xin đồng ý rõ ràng.</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Đối chiếu Nghị định 13/2023/NĐ-CP về bảo vệ dữ liệu cá nhân.</a:t>
            </a:r>
            <a:endParaRPr lang="en-US" sz="1500" dirty="0"/>
          </a:p>
        </p:txBody>
      </p:sp>
      <p:sp>
        <p:nvSpPr>
          <p:cNvPr id="6"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7"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D5</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Cân nhắc pháp lý &amp; đạo đức thu thập dữ liệu</a:t>
            </a:r>
            <a:endParaRPr lang="en-US" sz="2800" dirty="0"/>
          </a:p>
        </p:txBody>
      </p:sp>
      <p:sp>
        <p:nvSpPr>
          <p:cNvPr id="5" name="Text 2"/>
          <p:cNvSpPr/>
          <p:nvPr/>
        </p:nvSpPr>
        <p:spPr>
          <a:xfrm>
            <a:off x="731520" y="1783080"/>
            <a:ext cx="10789920" cy="4572000"/>
          </a:xfrm>
          <a:prstGeom prst="rect">
            <a:avLst/>
          </a:prstGeom>
          <a:noFill/>
          <a:ln/>
        </p:spPr>
        <p:txBody>
          <a:bodyPr wrap="square" rtlCol="0" anchor="t"/>
          <a:lstStyle/>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Kỹ thuật thu thập trình bày ở góc độ trung tính; mục đích học thuật, phi thương mại.</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Áp rate-limit hợp lý; không tái phân phối dữ liệu thô; chỉ lưu dữ liệu tổng hợp phục vụ phân tích.</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Thừa nhận giới hạn: một số nền tảng hạn chế scraping trong điều khoản sử dụng (ToS).</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Hướng đi bền vững: ưu tiên nguồn có API/cho phép, hoặc thỏa thuận sử dụng dữ liệu.</a:t>
            </a:r>
            <a:endParaRPr lang="en-US" sz="1500" dirty="0"/>
          </a:p>
        </p:txBody>
      </p:sp>
      <p:sp>
        <p:nvSpPr>
          <p:cNvPr id="6"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7"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D6</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Tổng quan bộ dữ liệu đánh giá (một bảng thống nhất)</a:t>
            </a:r>
            <a:endParaRPr lang="en-US" sz="2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31520" y="1783080"/>
          <a:ext cx="10789920" cy="914400"/>
        </p:xfrm>
        <a:graphic>
          <a:graphicData uri="http://schemas.openxmlformats.org/drawingml/2006/table">
            <a:tbl>
              <a:tblPr/>
              <a:tblGrid>
                <a:gridCol w="2743200"/>
                <a:gridCol w="3017520"/>
                <a:gridCol w="2103120"/>
                <a:gridCol w="2926080"/>
              </a:tblGrid>
              <a:tr h="56692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Thí nghiệm</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Tập dữ liệu</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Cỡ mẫu</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Nguồn / gán nhãn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solidFill>
                      <a:srgbClr val="003E7E"/>
                    </a:solidFill>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Trích xuất NER</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JD + CV thực tế</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20 JD + 20 CV</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KiemThu/… · nhóm gán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Chuẩn hóa kỹ năng</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Kỹ năng thô (map + nhiễu)</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758 (312 + 446)</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20 JD/CV · nhóm gán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Gộp nhóm công ty</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Tên có hậu tố pháp lý</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24 công ty</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nhóm gán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Khử trùng lặp</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Cặp tin (cùng/đa nguồn)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17 tin → 52 cặp</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17 same + 35 cross (có giả lập)</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r h="566928">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Phân loại Skill Gap</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CV ↔ JD nhóm nghề</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10 CV (290 cặp KN)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c>
                  <a:txBody>
                    <a:bodyPr/>
                    <a:lstStyle/>
                    <a:p>
                      <a:pPr algn="l" indent="0" marL="0">
                        <a:buNone/>
                      </a:pPr>
                      <a:r>
                        <a:rPr lang="en-US" sz="1250" dirty="0">
                          <a:solidFill>
                            <a:srgbClr val="17334D"/>
                          </a:solidFill>
                          <a:latin typeface="Calibri" pitchFamily="34" charset="0"/>
                          <a:ea typeface="Calibri" pitchFamily="34" charset="-122"/>
                          <a:cs typeface="Calibri" pitchFamily="34" charset="-120"/>
                        </a:rPr>
                        <a:t>nhóm gán</a:t>
                      </a:r>
                      <a:endParaRPr lang="en-US" sz="1250" dirty="0">
                        <a:latin typeface="Calibri" charset="0"/>
                        <a:ea typeface="Calibri" charset="0"/>
                        <a:cs typeface="Calibri" charset="0"/>
                      </a:endParaRPr>
                    </a:p>
                  </a:txBody>
                  <a:tcPr marL="91440" marR="91440" marT="45720" marB="45720" anchor="ctr">
                    <a:lnL w="12700" cap="flat" cmpd="sng" algn="ctr">
                      <a:solidFill>
                        <a:srgbClr val="D2E0EE"/>
                      </a:solidFill>
                      <a:prstDash val="solid"/>
                      <a:round/>
                      <a:headEnd type="none" w="med" len="med"/>
                      <a:tailEnd type="none" w="med" len="med"/>
                    </a:lnL>
                    <a:lnR w="12700" cap="flat" cmpd="sng" algn="ctr">
                      <a:solidFill>
                        <a:srgbClr val="D2E0EE"/>
                      </a:solidFill>
                      <a:prstDash val="solid"/>
                      <a:round/>
                      <a:headEnd type="none" w="med" len="med"/>
                      <a:tailEnd type="none" w="med" len="med"/>
                    </a:lnR>
                    <a:lnT w="12700" cap="flat" cmpd="sng" algn="ctr">
                      <a:solidFill>
                        <a:srgbClr val="D2E0EE"/>
                      </a:solidFill>
                      <a:prstDash val="solid"/>
                      <a:round/>
                      <a:headEnd type="none" w="med" len="med"/>
                      <a:tailEnd type="none" w="med" len="med"/>
                    </a:lnT>
                    <a:lnB w="12700" cap="flat" cmpd="sng" algn="ctr">
                      <a:solidFill>
                        <a:srgbClr val="D2E0EE"/>
                      </a:solidFill>
                      <a:prstDash val="solid"/>
                      <a:round/>
                      <a:headEnd type="none" w="med" len="med"/>
                      <a:tailEnd type="none" w="med" len="med"/>
                    </a:lnB>
                  </a:tcPr>
                </a:tc>
              </a:tr>
            </a:tbl>
          </a:graphicData>
        </a:graphic>
      </p:graphicFrame>
      <p:sp>
        <p:nvSpPr>
          <p:cNvPr id="6" name="Text 2"/>
          <p:cNvSpPr/>
          <p:nvPr/>
        </p:nvSpPr>
        <p:spPr>
          <a:xfrm>
            <a:off x="731520" y="5806440"/>
            <a:ext cx="10972800" cy="365760"/>
          </a:xfrm>
          <a:prstGeom prst="rect">
            <a:avLst/>
          </a:prstGeom>
          <a:noFill/>
          <a:ln/>
        </p:spPr>
        <p:txBody>
          <a:bodyPr wrap="square" rtlCol="0" anchor="ctr"/>
          <a:lstStyle/>
          <a:p>
            <a:pPr indent="0" marL="0">
              <a:buNone/>
            </a:pPr>
            <a:r>
              <a:rPr lang="en-US" sz="1250" i="1" dirty="0">
                <a:solidFill>
                  <a:srgbClr val="5C6B7A"/>
                </a:solidFill>
                <a:latin typeface="Calibri" pitchFamily="34" charset="0"/>
                <a:ea typeface="Calibri" pitchFamily="34" charset="-122"/>
                <a:cs typeface="Calibri" pitchFamily="34" charset="-120"/>
              </a:rPr>
              <a:t>Giải quyết mâu thuẫn cỡ mẫu: mỗi thí nghiệm dùng tập nhãn riêng, kích thước &amp; nguồn khác nhau.</a:t>
            </a:r>
            <a:endParaRPr lang="en-US" sz="1250" dirty="0"/>
          </a:p>
        </p:txBody>
      </p:sp>
      <p:sp>
        <p:nvSpPr>
          <p:cNvPr id="7"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8"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D7</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Định nghĩa chỉ số &amp; “TF-IDF động”</a:t>
            </a:r>
            <a:endParaRPr lang="en-US" sz="2800" dirty="0"/>
          </a:p>
        </p:txBody>
      </p:sp>
      <p:sp>
        <p:nvSpPr>
          <p:cNvPr id="5" name="Text 2"/>
          <p:cNvSpPr/>
          <p:nvPr/>
        </p:nvSpPr>
        <p:spPr>
          <a:xfrm>
            <a:off x="731520" y="1783080"/>
            <a:ext cx="10789920" cy="4572000"/>
          </a:xfrm>
          <a:prstGeom prst="rect">
            <a:avLst/>
          </a:prstGeom>
          <a:noFill/>
          <a:ln/>
        </p:spPr>
        <p:txBody>
          <a:bodyPr wrap="square" rtlCol="0" anchor="t"/>
          <a:lstStyle/>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NER: TP = kỹ năng trích đúng có bằng chứng; FP = kỹ năng bịa; FN = kỹ năng bỏ sót. Precision/Recall/F1 theo công thức chuẩn.</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Mapping Accuracy = tỷ lệ kỹ năng thô ánh xạ đúng nhãn chuẩn (312 mẫu). Reject Accuracy = tỷ lệ chuỗi nhiễu bị từ chối đúng (446 mẫu).</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Skill Gap: Classification Accuracy + Macro-F1 (3 lớp Matched/Partial/Missing) + Match Score MAE (độ lệch điểm so người chấm).</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“TF-IDF động”: TF nhị phân (kỹ năng có/không trong JD) ⇒ trọng số quy về IDF; phù hợp dữ liệu dạng danh sách kỹ năng (không lặp từ).</a:t>
            </a:r>
            <a:endParaRPr lang="en-US" sz="1500" dirty="0"/>
          </a:p>
        </p:txBody>
      </p:sp>
      <p:sp>
        <p:nvSpPr>
          <p:cNvPr id="6"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7"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D8</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Thiết kế cơ sở dữ liệu (ERD)</a:t>
            </a:r>
            <a:endParaRPr lang="en-US" sz="2800" dirty="0"/>
          </a:p>
        </p:txBody>
      </p:sp>
      <p:sp>
        <p:nvSpPr>
          <p:cNvPr id="5" name="Shape 2"/>
          <p:cNvSpPr/>
          <p:nvPr/>
        </p:nvSpPr>
        <p:spPr>
          <a:xfrm>
            <a:off x="731520" y="1737360"/>
            <a:ext cx="10789920" cy="4023360"/>
          </a:xfrm>
          <a:prstGeom prst="roundRect">
            <a:avLst>
              <a:gd name="adj" fmla="val 1364"/>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6" name="Image 1" descr="/private/tmp/claude-501/-Users-ymytr-nova/5e161095-2610-40a0-961d-5450e47dcdec/scratchpad/build/erd_diagram.png">    </p:cNvPr>
          <p:cNvPicPr>
            <a:picLocks noChangeAspect="1"/>
          </p:cNvPicPr>
          <p:nvPr/>
        </p:nvPicPr>
        <p:blipFill>
          <a:blip r:embed="rId2"/>
          <a:stretch>
            <a:fillRect/>
          </a:stretch>
        </p:blipFill>
        <p:spPr>
          <a:xfrm>
            <a:off x="841248" y="2047311"/>
            <a:ext cx="10570464" cy="3403457"/>
          </a:xfrm>
          <a:prstGeom prst="rect">
            <a:avLst/>
          </a:prstGeom>
        </p:spPr>
      </p:pic>
      <p:sp>
        <p:nvSpPr>
          <p:cNvPr id="7"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8"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D9</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Sơ đồ Use Case tổng quát</a:t>
            </a:r>
            <a:endParaRPr lang="en-US" sz="2800" dirty="0"/>
          </a:p>
        </p:txBody>
      </p:sp>
      <p:sp>
        <p:nvSpPr>
          <p:cNvPr id="5" name="Shape 2"/>
          <p:cNvSpPr/>
          <p:nvPr/>
        </p:nvSpPr>
        <p:spPr>
          <a:xfrm>
            <a:off x="3200400" y="1691640"/>
            <a:ext cx="5760720" cy="4754880"/>
          </a:xfrm>
          <a:prstGeom prst="roundRect">
            <a:avLst>
              <a:gd name="adj" fmla="val 1154"/>
            </a:avLst>
          </a:prstGeom>
          <a:solidFill>
            <a:srgbClr val="FFFFFF"/>
          </a:solidFill>
          <a:ln w="12700">
            <a:solidFill>
              <a:srgbClr val="D2E0EE"/>
            </a:solidFill>
            <a:prstDash val="solid"/>
          </a:ln>
          <a:effectLst>
            <a:outerShdw sx="100000" sy="100000" kx="0" ky="0" algn="bl" rotWithShape="0" blurRad="76200" dist="38100" dir="5400000">
              <a:srgbClr val="8AA0B0">
                <a:alpha val="35000"/>
              </a:srgbClr>
            </a:outerShdw>
          </a:effectLst>
        </p:spPr>
      </p:sp>
      <p:pic>
        <p:nvPicPr>
          <p:cNvPr id="6" name="Image 1" descr="/private/tmp/claude-501/-Users-ymytr-nova/5e161095-2610-40a0-961d-5450e47dcdec/scratchpad/build/usecase_diagram.png">    </p:cNvPr>
          <p:cNvPicPr>
            <a:picLocks noChangeAspect="1"/>
          </p:cNvPicPr>
          <p:nvPr/>
        </p:nvPicPr>
        <p:blipFill>
          <a:blip r:embed="rId2"/>
          <a:stretch>
            <a:fillRect/>
          </a:stretch>
        </p:blipFill>
        <p:spPr>
          <a:xfrm>
            <a:off x="4381267" y="1801368"/>
            <a:ext cx="3398985" cy="4535424"/>
          </a:xfrm>
          <a:prstGeom prst="rect">
            <a:avLst/>
          </a:prstGeom>
        </p:spPr>
      </p:pic>
      <p:sp>
        <p:nvSpPr>
          <p:cNvPr id="7"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8"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ivate/tmp/claude-501/-Users-ymytr-nova/5e161095-2610-40a0-961d-5450e47dcdec/scratchpad/build/logo-khtn-sm.png">    </p:cNvPr>
          <p:cNvPicPr>
            <a:picLocks noChangeAspect="1"/>
          </p:cNvPicPr>
          <p:nvPr/>
        </p:nvPicPr>
        <p:blipFill>
          <a:blip r:embed="rId1"/>
          <a:stretch>
            <a:fillRect/>
          </a:stretch>
        </p:blipFill>
        <p:spPr>
          <a:xfrm>
            <a:off x="11259007" y="384048"/>
            <a:ext cx="475488" cy="373530"/>
          </a:xfrm>
          <a:prstGeom prst="rect">
            <a:avLst/>
          </a:prstGeom>
        </p:spPr>
      </p:pic>
      <p:sp>
        <p:nvSpPr>
          <p:cNvPr id="3" name="Text 0"/>
          <p:cNvSpPr/>
          <p:nvPr/>
        </p:nvSpPr>
        <p:spPr>
          <a:xfrm>
            <a:off x="548640" y="384048"/>
            <a:ext cx="10058400" cy="274320"/>
          </a:xfrm>
          <a:prstGeom prst="rect">
            <a:avLst/>
          </a:prstGeom>
          <a:noFill/>
          <a:ln/>
        </p:spPr>
        <p:txBody>
          <a:bodyPr wrap="square" rtlCol="0" anchor="ctr"/>
          <a:lstStyle/>
          <a:p>
            <a:pPr indent="0" marL="0">
              <a:buNone/>
            </a:pPr>
            <a:r>
              <a:rPr lang="en-US" sz="1200" b="1" spc="100" kern="0" dirty="0">
                <a:solidFill>
                  <a:srgbClr val="1E88D6"/>
                </a:solidFill>
                <a:latin typeface="Calibri" pitchFamily="34" charset="0"/>
                <a:ea typeface="Calibri" pitchFamily="34" charset="-122"/>
                <a:cs typeface="Calibri" pitchFamily="34" charset="-120"/>
              </a:rPr>
              <a:t>SLIDE DỰ PHÒNG · D10</a:t>
            </a:r>
            <a:endParaRPr lang="en-US" sz="1200" dirty="0"/>
          </a:p>
        </p:txBody>
      </p:sp>
      <p:sp>
        <p:nvSpPr>
          <p:cNvPr id="4" name="Text 1"/>
          <p:cNvSpPr/>
          <p:nvPr/>
        </p:nvSpPr>
        <p:spPr>
          <a:xfrm>
            <a:off x="548640" y="658368"/>
            <a:ext cx="10149840" cy="685800"/>
          </a:xfrm>
          <a:prstGeom prst="rect">
            <a:avLst/>
          </a:prstGeom>
          <a:noFill/>
          <a:ln/>
        </p:spPr>
        <p:txBody>
          <a:bodyPr wrap="square" rtlCol="0" anchor="ctr"/>
          <a:lstStyle/>
          <a:p>
            <a:pPr indent="0" marL="0">
              <a:buNone/>
            </a:pPr>
            <a:r>
              <a:rPr lang="en-US" sz="2800" b="1" dirty="0">
                <a:solidFill>
                  <a:srgbClr val="003E7E"/>
                </a:solidFill>
                <a:latin typeface="Cambria" pitchFamily="34" charset="0"/>
                <a:ea typeface="Cambria" pitchFamily="34" charset="-122"/>
                <a:cs typeface="Cambria" pitchFamily="34" charset="-120"/>
              </a:rPr>
              <a:t>Case Study — kiểm chứng tính hợp lý Match Score</a:t>
            </a:r>
            <a:endParaRPr lang="en-US" sz="2800" dirty="0"/>
          </a:p>
        </p:txBody>
      </p:sp>
      <p:sp>
        <p:nvSpPr>
          <p:cNvPr id="5" name="Text 2"/>
          <p:cNvSpPr/>
          <p:nvPr/>
        </p:nvSpPr>
        <p:spPr>
          <a:xfrm>
            <a:off x="731520" y="1783080"/>
            <a:ext cx="10789920" cy="4572000"/>
          </a:xfrm>
          <a:prstGeom prst="rect">
            <a:avLst/>
          </a:prstGeom>
          <a:noFill/>
          <a:ln/>
        </p:spPr>
        <p:txBody>
          <a:bodyPr wrap="square" rtlCol="0" anchor="t"/>
          <a:lstStyle/>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Ứng viên tốt nhất trong tập: ứng tuyển nhóm Information Security Consultant (28 kỹ năng yêu cầu).</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Hệ thống phân loại đúng 75%; Match Score hệ thống 34% vs người chấm 25% → MAE = 0,09 (đạt ≤ 0,10).</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7 ca sai đều là Partial (GT) bị hệ thống trả Missing — đúng nguyên nhân “CSDL nhị phân, thiếu Partial”.</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Không ca nào sai theo chiều Missing → Matched → sàn lọc cosine ≥ 0,55 hoạt động an toàn, không tạo khớp giả.</a:t>
            </a:r>
            <a:endParaRPr lang="en-US" sz="1500" dirty="0"/>
          </a:p>
          <a:p>
            <a:pPr marL="342900" indent="-342900">
              <a:lnSpc>
                <a:spcPct val="106000"/>
              </a:lnSpc>
              <a:spcAft>
                <a:spcPts val="1000"/>
              </a:spcAft>
              <a:buSzPct val="100000"/>
              <a:buChar char="•"/>
            </a:pPr>
            <a:r>
              <a:rPr lang="en-US" sz="1500" dirty="0">
                <a:solidFill>
                  <a:srgbClr val="17334D"/>
                </a:solidFill>
                <a:latin typeface="Calibri" pitchFamily="34" charset="0"/>
                <a:ea typeface="Calibri" pitchFamily="34" charset="-122"/>
                <a:cs typeface="Calibri" pitchFamily="34" charset="-120"/>
              </a:rPr>
              <a:t>Kết luận: điểm số tổng hợp phản ánh sát đánh giá con người dù phân loại trung gian bị đơn giản hóa.</a:t>
            </a:r>
            <a:endParaRPr lang="en-US" sz="1500" dirty="0"/>
          </a:p>
        </p:txBody>
      </p:sp>
      <p:sp>
        <p:nvSpPr>
          <p:cNvPr id="6" name="Text 3"/>
          <p:cNvSpPr/>
          <p:nvPr/>
        </p:nvSpPr>
        <p:spPr>
          <a:xfrm>
            <a:off x="457200" y="6473952"/>
            <a:ext cx="4572000" cy="274320"/>
          </a:xfrm>
          <a:prstGeom prst="rect">
            <a:avLst/>
          </a:prstGeom>
          <a:noFill/>
          <a:ln/>
        </p:spPr>
        <p:txBody>
          <a:bodyPr wrap="square" rtlCol="0" anchor="ctr"/>
          <a:lstStyle/>
          <a:p>
            <a:pPr algn="l" indent="0" marL="0">
              <a:buNone/>
            </a:pPr>
            <a:r>
              <a:rPr lang="en-US" sz="900" dirty="0">
                <a:solidFill>
                  <a:srgbClr val="5C6B7A"/>
                </a:solidFill>
                <a:latin typeface="Calibri" pitchFamily="34" charset="0"/>
                <a:ea typeface="Calibri" pitchFamily="34" charset="-122"/>
                <a:cs typeface="Calibri" pitchFamily="34" charset="-120"/>
              </a:rPr>
              <a:t>CareerNova · KLTN 2026</a:t>
            </a:r>
            <a:endParaRPr lang="en-US" sz="900" dirty="0"/>
          </a:p>
        </p:txBody>
      </p:sp>
      <p:sp>
        <p:nvSpPr>
          <p:cNvPr id="7"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2026-07-29T15:28:33Z</dcterms:created>
  <dcterms:modified xsi:type="dcterms:W3CDTF">2026-07-29T15:28:33Z</dcterms:modified>
</cp:coreProperties>
</file>