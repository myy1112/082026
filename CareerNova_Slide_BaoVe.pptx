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Điểm TB (/5)</c:v>
                </c:pt>
              </c:strCache>
            </c:strRef>
          </c:tx>
          <c:spPr>
            <a:solidFill>
              <a:srgbClr val="0C63B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7334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Tiết kiệm thời gian định hướng</c:v>
                  </c:pt>
                  <c:pt idx="1">
                    <c:v>Thao tác thuận tiện</c:v>
                  </c:pt>
                  <c:pt idx="2">
                    <c:v>Tốc độ phản hồi</c:v>
                  </c:pt>
                  <c:pt idx="3">
                    <c:v>Nhận diện kỹ năng CV</c:v>
                  </c:pt>
                  <c:pt idx="4">
                    <c:v>Radar điểm mạnh/yếu</c:v>
                  </c:pt>
                  <c:pt idx="5">
                    <c:v>Độ tin cậy % Matching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4.67</c:v>
                </c:pt>
                <c:pt idx="1">
                  <c:v>4.67</c:v>
                </c:pt>
                <c:pt idx="2">
                  <c:v>4.67</c:v>
                </c:pt>
                <c:pt idx="3">
                  <c:v>4.44</c:v>
                </c:pt>
                <c:pt idx="4">
                  <c:v>4.33</c:v>
                </c:pt>
                <c:pt idx="5">
                  <c:v>3.89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7334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7334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Chào hội đồng. Em là ... nhóm thực hiện khóa luận 'Đề xuất khung phân tích hỗ trợ sinh viên phân tích dữ liệu tuyển dụng' — hệ thống CareerNova, đã triển khai thật tại career-nova.online. Bài trình bày ~20 phút gồm 5 phần, sau đó demo 10 phút.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Bài gồm 5 phần: giới thiệu, giải pháp-phương pháp, kết quả, demo, kết luận. Phần trình bày ~20 phút, demo ~10 phút. Hai thành viên luân phiên trình bày.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Kể câu chuyện thật: chính chúng em từng không biết mình thiếu kỹ năng gì so với thị trường. Ba nỗi đau: (1) không tự lượng hóa năng lực; (2) dữ liệu tuyển dụng phân mảnh, chưa chuẩn hóa; (3) công cụ hiện tại chỉ khớp từ khóa, không chỉ ra khoảng cách kỹ năng. Đây là động lực của đề tài.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Vì sao không dùng keyword thuần? Keyword bỏ sót từ đồng nghĩa và không đo được mức độ gần về ngữ nghĩa. Ý tưởng CareerNova: kết hợp LLM (hiểu ngữ nghĩa) + kiểm chứng bằng chứng để trích xuất kỹ năng đáng tin, rồi so khớp ngữ nghĩa có trọng số thị trường, cuối cùng trực quan hóa khoảng cách kỹ năng.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mục tiêu ánh xạ trực tiếp sang ba đóng góp: (1) thu thập-chuẩn hóa → kho dữ liệu + pipeline ETL; (2) trích xuất-định lượng → công cụ đo Skill Gap; (3) trực quan hóa → web CareerNova triển khai thật. Phạm vi: ngành CNTT tại Việt Nam, cho SV năm cuối.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Bức tranh lớn: nguồn tin tuyển dụng → crawler → ETL/PostgreSQL → Core API (NestJS) → algo-api (FastAPI: trích xuất + so khớp) → Frontend (Next.js). Đóng góp thiết kế: tách algo-api riêng cho tác vụ AI nặng và dùng cache, giúp giao diện luôn nhanh. Từ đây em sẽ đi vào từng mắt xích.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Pipeline: crawl đa nguồn (ITViec, VietnamWorks...) → làm sạch → chuẩn hóa thực thể (kỹ năng, công ty) → khử trùng lặp → PostgreSQL. Vì sao chuẩn hóa: React.js/ReactJS/react phải gộp về một để thống kê đúng. Dữ liệu thật: 7.245 tin, 3.511 công ty, 6.048 kỹ năng — có ảnh chụp truy vấn DB làm bằng chứng.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Điểm tâm đắc kỹ thuật #1. LLM trả JSON có cấu trúc (schema cưỡng chế, temperature=0) gồm kỹ năng kèm evidence. Vấn đề: LLM có thể ảo giác kỹ năng không có thật → tầng hậu kiểm đối chiếu evidence với văn bản gốc, loại kỹ năng không có dẫn chứng. Nhờ vậy Precision đạt 98,9%. Thành thật: hậu kiểm dùng khớp chuỗi con nên còn giòn với lỗi OCR — sẽ nói ở phần hạn chế.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Điểm tâm đắc #2 và #3. Quy trình: SBERT tạo vector 384 chiều → Cosine đo tương đồng → nhân trọng số IDF động (tính từ tần suất kỹ năng trên thị trường IT VN) → áp 6 luật lọc theo nhóm kỹ năng → ra Match Score kèm danh sách kỹ năng thiếu. Vì sao trọng số: kỹ năng hiếm/cầu cao được tính nặng hơn. Các ngưỡng và luật do nhóm đặt dựa trên thử nghiệm — chi tiết ở slide dự phòng.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Hai sản phẩm trực quan: Dashboard thị trường (job hot, kỹ năng cầu cao, xu hướng lương) và Skill Gap (radar CV vs JD, kỹ năng đã đạt/còn thiếu, lộ trình học). Nguyên lý DIKW: biến dữ liệu thô thành hành động cụ thể cho 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Điều tâm đắc lớn nhất: hệ thống chạy thật tại career-nova.online với dữ liệu thật, khác với prototype. 5 phân hệ đầy đủ, 11/11 test case đạt, người dùng cho 8,56/10. Đây là ảnh giao diện so khớp CV thật.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 ma trận truy vết từ yêu cầu (UC) → thiết kế → hiện thực → ca kiểm thử. 11/11 ca đạt trên môi trường thật. Hai ca rủi ro cao nhất đều qua: TC-06 chặn file sai định dạng/quá dung lượng ở biên; TC-08 chạy đúng toàn bộ chuỗi AI trích xuất-chuẩn hóa-so khớp. Kiểm thử chức năng chỉ trả lời 'chạy đúng không'; tốc độ và độ chính xác đo riêng.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Trình bày trung thực (đúng tinh thần hội đồng &amp; cô muốn). NER: Precision gần tuyệt đối 98,9% (gần như không bịa kỹ năng), F1 đạt, nhưng Recall 73% chưa đạt 80% do lệch ngôn ngữ Việt-Anh và lệch cấp độ chi tiết. Chuẩn hóa đạt cả 3 ngưỡng. Khử trùng lặp 100% nhưng tập nhỏ có cặp giả lập nên chỉ là kiểm chứng, không tổng quát. Skill Gap Accuracy chỉ 54,8% — NHƯNG nguyên nhân rõ ràng: CSDL chỉ lưu nhị phân, 117 kỹ năng Partial bị ép về Missing; điểm số tổng hợp MAE vẫn 0,1 nên vẫn tin cậy. Tuyệt đối không nói 'vượt kỳ vọng/hoàn hảo'.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Đo 20 lượt/thao tác trên môi trường thật. Dashboard &amp; upload nhanh. Đối soát lần đầu (cache miss) TB 41,9s, max 55,1s → đạt NFR-02 (60s), 0/20 vượt. Lặp lại (cache hit) chỉ 0,27s, nhanh ~155 lần. Vì sao lần đầu chậm: gọi Gemini API + tính vector trên 2 vCPU không GPU. Thành thật: đây là đo đơn phiên, chưa load test, nhiều người đồng thời có thể vượt 60s — nêu ở hạn chế. Có ảnh terminal làm bằng chứng thô.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Khảo sát định hình n=9, đúng chân dung người dùng mục tiêu. Trung bình 4,39/5, thiện cảm 8,56/10. Tín hiệu mạnh nhất: 100% đồng ý 'tiết kiệm thời gian định hướng' — đúng giá trị cốt lõi. Quan trọng: điểm thấp nhất là 'độ tin cậy % Matching' 3,89 — khớp CHÍNH XÁC hạn chế Skill Gap ở slide trước; cảm nhận chủ quan và số đo khách quan hội tụ. 71,4% muốn giải thích cách chấm điểm → nhóm đã bổ sung tooltip + trang hướng dẫn.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Chuyển sang demo video ~10 phút. Ba chức năng tâm đắc, mỗi cái nêu rõ đầu vào → đầu ra: (1) Dashboard thị trường; (2) Upload CV → so khớp ra % phù hợp + radar + kỹ năng thiếu; (3) Skill Gap → lộ trình học. Video quay sẵn để tránh sự cố mạng.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điều tâm đắc (đáp trực tiếp yêu cầu hội đồng): (1) hệ thống chạy thật, đo thật, có bằng chứng thô; (2) cơ chế hậu kiểm chống ảo giác LLM → Precision 98,9%; (3) định lượng khoảng cách kỹ năng có trọng số thị trường — thứ keyword matching không làm được.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Phần hội đồng đánh giá cao sự trung thực. Nêu thẳng 6 hạn chế, mỗi cái kèm hướng khắc phục: (1) nhãn tự gán → thêm người gán + Cohen's kappa; (2) thiếu baseline → ablation; (3) Recall &amp; Skill Gap chưa đạt → fuzzy match + lưu 3 trạng thái; (4) tập nhỏ có cặp giả lập → mở rộng; (5) PII gửi Gemini → ẩn danh, đối chiếu Nghị định 13/2023; (6) chưa load test → xử lý bất đồng bộ + kiểm thử tải. Nếu hội đồng hỏi sâu, mình có slide dự phòng.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Hướng phát triển theo 4 trục: nâng độ vững đánh giá (baseline/ablation/độ nhạy), cải thiện thuật toán (3 trạng thái, fuzzy match, bất đồng bộ), mở rộng dữ liệu (đa ngành, lương, phỏng vấn), riêng tư &amp; scale (PII, load test). Ưu tiên bám phản hồi người dùng: lương và phỏng vấn.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Cảm ơn hội đồng. Giữ slide này khi hỏi đáp. Nếu bị hỏi sâu, chuyển tới các slide dự phòng phía sau.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E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486400" cy="5486400"/>
          </a:xfrm>
          <a:prstGeom prst="ellipse">
            <a:avLst/>
          </a:prstGeom>
          <a:solidFill>
            <a:srgbClr val="0A56A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4572000" cy="4572000"/>
          </a:xfrm>
          <a:prstGeom prst="ellipse">
            <a:avLst/>
          </a:prstGeom>
          <a:solidFill>
            <a:srgbClr val="0A56A0"/>
          </a:solidFill>
          <a:ln/>
        </p:spPr>
      </p:sp>
      <p:pic>
        <p:nvPicPr>
          <p:cNvPr id="4" name="Image 0" descr="/private/tmp/claude-501/-Users-ymytr-nova/5e161095-2610-40a0-961d-5450e47dcdec/scratchpad/build/logo-khtn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868680" cy="6824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ĐẠI HỌC KHOA HỌC TỰ NHIÊN — KHOA CÔNG NGHỆ THÔNG TIN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B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LUẬN TỐT NGHIỆP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11064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Đề xuất khung phân tích hỗ trợ sinh viên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tích dữ liệu tuyển dụng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66928" y="3886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</a:t>
            </a:r>
            <a:pPr indent="0" marL="0">
              <a:buNone/>
            </a:pPr>
            <a:r>
              <a:rPr lang="en-US" sz="1800" b="1" dirty="0">
                <a:solidFill>
                  <a:srgbClr val="1E8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CareerNova</a:t>
            </a:r>
            <a:pPr indent="0" marL="0">
              <a:buNone/>
            </a:pPr>
            <a:r>
              <a:rPr lang="en-US" sz="1800" dirty="0">
                <a:solidFill>
                  <a:srgbClr val="CB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career-nova.online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66928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SVTH: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Thái Thị Kim Huyền (22127169)   ·   Trần Thị Mỹ Ý (22127468)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66928" y="5440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GVHD: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TS. Vũ Thị Mỹ Hằng     ·     Bộ môn Hệ thống thông tin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66928" y="5989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TP. Hồ Chí Minh — Tháng 8, 2026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CareerNova · KLTN 2026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ymytr-nova/5e161095-2610-40a0-961d-5450e47dcdec/scratchpad/build/logo-khtn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384048"/>
            <a:ext cx="475488" cy="3735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6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Năm phần chính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22960" y="1691640"/>
            <a:ext cx="105156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51560" y="1892808"/>
            <a:ext cx="384048" cy="384048"/>
          </a:xfrm>
          <a:prstGeom prst="ellipse">
            <a:avLst/>
          </a:prstGeom>
          <a:solidFill>
            <a:srgbClr val="0C63B4"/>
          </a:solidFill>
          <a:ln/>
        </p:spPr>
      </p:sp>
      <p:sp>
        <p:nvSpPr>
          <p:cNvPr id="7" name="Text 4"/>
          <p:cNvSpPr/>
          <p:nvPr/>
        </p:nvSpPr>
        <p:spPr>
          <a:xfrm>
            <a:off x="1051560" y="1892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91640" y="174650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Giới thiệu &amp; Động lực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691640" y="209397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cảnh, vấn đề, mục tiêu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966960" y="1691640"/>
            <a:ext cx="1188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~4′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22960" y="2606040"/>
            <a:ext cx="105156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051560" y="2807208"/>
            <a:ext cx="384048" cy="384048"/>
          </a:xfrm>
          <a:prstGeom prst="ellipse">
            <a:avLst/>
          </a:prstGeom>
          <a:solidFill>
            <a:srgbClr val="0C63B4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" y="2807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691640" y="266090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Giải pháp &amp; Phương pháp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691640" y="300837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trúc, pipeline dữ liệu, thuật toán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9966960" y="2606040"/>
            <a:ext cx="1188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~8′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22960" y="3520440"/>
            <a:ext cx="105156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051560" y="3721608"/>
            <a:ext cx="384048" cy="384048"/>
          </a:xfrm>
          <a:prstGeom prst="ellipse">
            <a:avLst/>
          </a:prstGeom>
          <a:solidFill>
            <a:srgbClr val="0C63B4"/>
          </a:solidFill>
          <a:ln/>
        </p:spPr>
      </p:sp>
      <p:sp>
        <p:nvSpPr>
          <p:cNvPr id="19" name="Text 16"/>
          <p:cNvSpPr/>
          <p:nvPr/>
        </p:nvSpPr>
        <p:spPr>
          <a:xfrm>
            <a:off x="1051560" y="3721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691640" y="357530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&amp; Đánh giá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691640" y="392277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thật, kiểm thử, đo đạc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966960" y="3520440"/>
            <a:ext cx="1188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~6′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22960" y="4434840"/>
            <a:ext cx="105156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1051560" y="4636008"/>
            <a:ext cx="384048" cy="384048"/>
          </a:xfrm>
          <a:prstGeom prst="ellipse">
            <a:avLst/>
          </a:prstGeom>
          <a:solidFill>
            <a:srgbClr val="1E88D6"/>
          </a:solidFill>
          <a:ln/>
        </p:spPr>
      </p:sp>
      <p:sp>
        <p:nvSpPr>
          <p:cNvPr id="25" name="Text 22"/>
          <p:cNvSpPr/>
          <p:nvPr/>
        </p:nvSpPr>
        <p:spPr>
          <a:xfrm>
            <a:off x="1051560" y="4636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691640" y="448970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691640" y="483717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chức năng tốt nhất (video)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9966960" y="4434840"/>
            <a:ext cx="1188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8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10′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22960" y="5349240"/>
            <a:ext cx="105156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051560" y="5550408"/>
            <a:ext cx="384048" cy="384048"/>
          </a:xfrm>
          <a:prstGeom prst="ellipse">
            <a:avLst/>
          </a:prstGeom>
          <a:solidFill>
            <a:srgbClr val="0C63B4"/>
          </a:solidFill>
          <a:ln/>
        </p:spPr>
      </p:sp>
      <p:sp>
        <p:nvSpPr>
          <p:cNvPr id="31" name="Text 28"/>
          <p:cNvSpPr/>
          <p:nvPr/>
        </p:nvSpPr>
        <p:spPr>
          <a:xfrm>
            <a:off x="1051560" y="5550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691640" y="540410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luận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691640" y="575157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tâm đắc, hạn chế, hướng phát triển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9966960" y="5349240"/>
            <a:ext cx="1188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2′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CareerNova · KLTN 2026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3E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108960"/>
            <a:ext cx="6400800" cy="6400800"/>
          </a:xfrm>
          <a:prstGeom prst="ellipse">
            <a:avLst/>
          </a:prstGeom>
          <a:solidFill>
            <a:srgbClr val="0A56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E8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3200400" y="22860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Giới thiệu &amp; Động lực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24612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sinh viên CNTT cần CareerNova?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CareerNova · KLTN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ymytr-nova/5e161095-2610-40a0-961d-5450e47dcdec/scratchpad/build/logo-khtn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384048"/>
            <a:ext cx="475488" cy="3735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6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&amp; VẤN ĐỀ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thách thức của sinh viên CNTT năm cuối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21031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1E88D6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914400" y="29260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Khó biết mình còn thiếu gì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84048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Thị trường IT đổi nhanh, sinh viên khó biết mình còn yếu kỹ năng nào so với chỗ làm.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43400" y="1783080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21031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A56A0"/>
          </a:solidFill>
          <a:ln/>
        </p:spPr>
      </p:sp>
      <p:sp>
        <p:nvSpPr>
          <p:cNvPr id="12" name="Text 9"/>
          <p:cNvSpPr/>
          <p:nvPr/>
        </p:nvSpPr>
        <p:spPr>
          <a:xfrm>
            <a:off x="466344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617720" y="29260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Dữ liệu tuyển dụng phân mảnh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617720" y="384048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 tuyển dụng nhiều nguồn nhưng rời rạc, mỗi nơi viết một kiểu, khó phân tích.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046720" y="1783080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66760" y="21031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C63B4"/>
          </a:solidFill>
          <a:ln/>
        </p:spPr>
      </p:sp>
      <p:sp>
        <p:nvSpPr>
          <p:cNvPr id="17" name="Text 14"/>
          <p:cNvSpPr/>
          <p:nvPr/>
        </p:nvSpPr>
        <p:spPr>
          <a:xfrm>
            <a:off x="836676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8321040" y="29260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Công cụ hiện tại chỉ khớp từ khóa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321040" y="384048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LinkedIn/ATS lọc theo từ khóa → không nói bạn thiếu gì, lại bỏ sót từ đồng nghĩa.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03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Chính chúng em từng loay hoay: “mình còn thiếu gì để đi làm được?”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CareerNova · KLTN 2026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ymytr-nova/5e161095-2610-40a0-961d-5450e47dcdec/scratchpad/build/logo-khtn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384048"/>
            <a:ext cx="475488" cy="3735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6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KHOẢNG TRỐNG &amp; Ý TƯỞNG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Từ 'khớp từ khóa' đến 'định lượng khoảng cách kỹ năng'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5257800" cy="3977640"/>
          </a:xfrm>
          <a:prstGeom prst="roundRect">
            <a:avLst>
              <a:gd name="adj" fmla="val 1839"/>
            </a:avLst>
          </a:prstGeom>
          <a:solidFill>
            <a:srgbClr val="EAF2FB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965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C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Giải pháp hiện có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14400" y="25146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25880" y="2487168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Khớp từ khóa chính xác — bỏ sót từ đồng nghĩa (React ↔ ReactJS)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14400" y="326440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25880" y="3236976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định lượng được khoảng cách kỹ năng của ứng viên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14400" y="401421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25880" y="3986784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đóng, không phục vụ phân tích xu hướng thị trường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914400" y="476402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25880" y="4736592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nói ứng viên cần học thêm gì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63640" y="1783080"/>
            <a:ext cx="525780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0C63B4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537960" y="1965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C6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CareerNova</a:t>
            </a:r>
            <a:pPr indent="0" marL="0">
              <a:buNone/>
            </a:pPr>
            <a:r>
              <a:rPr lang="en-US" sz="19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đề xuất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6537960" y="25146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949440" y="2487168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hiểu ngữ nghĩa + kiểm chứng bằng chứng (chống ảo giác)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537960" y="326440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949440" y="3236976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khớp ngữ nghĩa (SBERT) có trọng số theo thị trường IT Việt Nam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537960" y="401421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949440" y="3986784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lượng khoảng cách &amp; liệt kê kỹ năng còn thiếu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6537960" y="476402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949440" y="4736592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trực quan xu hướng tuyển dụng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CareerNova · KLTN 2026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ymytr-nova/5e161095-2610-40a0-961d-5450e47dcdec/scratchpad/build/logo-khtn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384048"/>
            <a:ext cx="475488" cy="3735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6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· PHẠM VI · ĐÓNG GÓP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mục tiêu — ba đóng góp tương ứng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0C63B4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463040" y="182880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EAF2FB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691640" y="1938528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003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 &amp; chuẩn hóa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tuyển dụng đa nguồn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55080" y="2286000"/>
            <a:ext cx="502920" cy="320040"/>
          </a:xfrm>
          <a:prstGeom prst="rightArrow">
            <a:avLst/>
          </a:prstGeom>
          <a:solidFill>
            <a:srgbClr val="0C63B4"/>
          </a:solidFill>
          <a:ln/>
        </p:spPr>
      </p:sp>
      <p:sp>
        <p:nvSpPr>
          <p:cNvPr id="10" name="Shape 7"/>
          <p:cNvSpPr/>
          <p:nvPr/>
        </p:nvSpPr>
        <p:spPr>
          <a:xfrm>
            <a:off x="7040880" y="182880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0C63B4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269480" y="1938528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0C6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1: </a:t>
            </a:r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003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dữ liệu sạch + pipeline ETL/chuẩn hóa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520" y="3520440"/>
            <a:ext cx="457200" cy="457200"/>
          </a:xfrm>
          <a:prstGeom prst="ellipse">
            <a:avLst/>
          </a:prstGeom>
          <a:solidFill>
            <a:srgbClr val="0C63B4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463040" y="329184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EAF2FB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691640" y="3401568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003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Trích xuất &amp; định lượng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khoảng cách kỹ năng CV ↔ JD bằng NLP/AI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355080" y="3749040"/>
            <a:ext cx="502920" cy="320040"/>
          </a:xfrm>
          <a:prstGeom prst="rightArrow">
            <a:avLst/>
          </a:prstGeom>
          <a:solidFill>
            <a:srgbClr val="0C63B4"/>
          </a:solidFill>
          <a:ln/>
        </p:spPr>
      </p:sp>
      <p:sp>
        <p:nvSpPr>
          <p:cNvPr id="17" name="Shape 14"/>
          <p:cNvSpPr/>
          <p:nvPr/>
        </p:nvSpPr>
        <p:spPr>
          <a:xfrm>
            <a:off x="7040880" y="329184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0C63B4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269480" y="3401568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0C6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2: </a:t>
            </a:r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003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trích xuất + công cụ đo Skill Gap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31520" y="4983480"/>
            <a:ext cx="457200" cy="457200"/>
          </a:xfrm>
          <a:prstGeom prst="ellipse">
            <a:avLst/>
          </a:prstGeom>
          <a:solidFill>
            <a:srgbClr val="0C63B4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463040" y="475488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EAF2FB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691640" y="4864608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003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Trực quan hóa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 hướng thị trường hỗ trợ ra quyết định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355080" y="5212080"/>
            <a:ext cx="502920" cy="320040"/>
          </a:xfrm>
          <a:prstGeom prst="rightArrow">
            <a:avLst/>
          </a:prstGeom>
          <a:solidFill>
            <a:srgbClr val="0C63B4"/>
          </a:solidFill>
          <a:ln/>
        </p:spPr>
      </p:sp>
      <p:sp>
        <p:nvSpPr>
          <p:cNvPr id="24" name="Shape 21"/>
          <p:cNvSpPr/>
          <p:nvPr/>
        </p:nvSpPr>
        <p:spPr>
          <a:xfrm>
            <a:off x="7040880" y="475488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0C63B4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269480" y="4864608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0C6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3: </a:t>
            </a:r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003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CareerNova + Dashboard đã triển khai thật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31520" y="6309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vi: ngành CNTT, thị trường Việt Nam · Đối tượng: sinh viên năm cuối / mới ra trường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CareerNova · KLTN 2026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3E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108960"/>
            <a:ext cx="6400800" cy="6400800"/>
          </a:xfrm>
          <a:prstGeom prst="ellipse">
            <a:avLst/>
          </a:prstGeom>
          <a:solidFill>
            <a:srgbClr val="0A56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E8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3200400" y="22860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Giải pháp &amp; Phương pháp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24612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 kỹ thuật: thu thập → trích xuất → so khớp → trực quan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CareerNova · KLTN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ymytr-nova/5e161095-2610-40a0-961d-5450e47dcdec/scratchpad/build/logo-khtn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384048"/>
            <a:ext cx="475488" cy="3735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6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HỆ THỐNG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tổng thể của CareerNova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1737360"/>
            <a:ext cx="106984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38100" dir="5400000">
              <a:srgbClr val="8AA0B0">
                <a:alpha val="35000"/>
              </a:srgbClr>
            </a:outerShdw>
          </a:effectLst>
        </p:spPr>
      </p:sp>
      <p:pic>
        <p:nvPicPr>
          <p:cNvPr id="6" name="Image 1" descr="/private/tmp/claude-501/-Users-ymytr-nova/5e161095-2610-40a0-961d-5450e47dcdec/scratchpad/build/system_architect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462" y="1847088"/>
            <a:ext cx="8470597" cy="30266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52120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C6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hay ở thiết kế: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riêng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3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nova-algo-api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để lo phần AI nặng (trích xuất + so khớp) và có cache — nhờ vậy web luôn chạy mượt.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CareerNova · KLTN 2026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ymytr-nova/5e161095-2610-40a0-961d-5450e47dcdec/scratchpad/build/logo-khtn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384048"/>
            <a:ext cx="475488" cy="3735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6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DỮ LIỆU (ETL)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 thập → làm sạch → chuẩn hóa → khử trùng lặp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1691640"/>
            <a:ext cx="690372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38100" dir="5400000">
              <a:srgbClr val="8AA0B0">
                <a:alpha val="35000"/>
              </a:srgbClr>
            </a:outerShdw>
          </a:effectLst>
        </p:spPr>
      </p:sp>
      <p:pic>
        <p:nvPicPr>
          <p:cNvPr id="6" name="Image 1" descr="/private/tmp/claude-501/-Users-ymytr-nova/5e161095-2610-40a0-961d-5450e47dcdec/scratchpad/build/sequence_etl_proc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46349"/>
            <a:ext cx="6684264" cy="307386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818120" y="1691640"/>
            <a:ext cx="3703320" cy="3383280"/>
          </a:xfrm>
          <a:prstGeom prst="roundRect">
            <a:avLst>
              <a:gd name="adj" fmla="val 2162"/>
            </a:avLst>
          </a:prstGeom>
          <a:solidFill>
            <a:srgbClr val="EAF2FB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8046720" y="1874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Dữ liệu thật (14/07/2026)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046720" y="22860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6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7.245</a:t>
            </a:r>
            <a:endParaRPr lang="en-US" sz="3200" dirty="0"/>
          </a:p>
        </p:txBody>
      </p:sp>
      <p:sp>
        <p:nvSpPr>
          <p:cNvPr id="10" name="Text 6"/>
          <p:cNvSpPr/>
          <p:nvPr/>
        </p:nvSpPr>
        <p:spPr>
          <a:xfrm>
            <a:off x="8046720" y="2788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 tuyển dụng đã lưu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046720" y="318211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6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3.511</a:t>
            </a:r>
            <a:endParaRPr lang="en-US" sz="3200" dirty="0"/>
          </a:p>
        </p:txBody>
      </p:sp>
      <p:sp>
        <p:nvSpPr>
          <p:cNvPr id="12" name="Text 8"/>
          <p:cNvSpPr/>
          <p:nvPr/>
        </p:nvSpPr>
        <p:spPr>
          <a:xfrm>
            <a:off x="8046720" y="36850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ty (đã gộp nhóm)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046720" y="407822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6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6.048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8046720" y="458114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năng chuẩn hóa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31520" y="525780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C6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phải chuẩn hóa?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“React.js / ReactJS / react” thực ra là một — phải gom về một mối thì thống kê thị trường mới đúng.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CareerNova · KLTN 2026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ymytr-nova/5e161095-2610-40a0-961d-5450e47dcdec/scratchpad/build/logo-khtn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384048"/>
            <a:ext cx="475488" cy="3735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6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TRÍCH XUẤT KỸ NĂNG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hợp LLM và hậu kiểm bằng chứng để chống “ảo giác”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18288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EAF2FB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2057400"/>
            <a:ext cx="402336" cy="402336"/>
          </a:xfrm>
          <a:prstGeom prst="ellipse">
            <a:avLst/>
          </a:prstGeom>
          <a:solidFill>
            <a:srgbClr val="0C63B4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20574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32688" y="26060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Văn bản CV / JD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32688" y="33375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(nếu ảnh) → văn bản thô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73552" y="2788920"/>
            <a:ext cx="292608" cy="292608"/>
          </a:xfrm>
          <a:prstGeom prst="rightArrow">
            <a:avLst/>
          </a:prstGeom>
          <a:solidFill>
            <a:srgbClr val="0C63B4"/>
          </a:solidFill>
          <a:ln/>
        </p:spPr>
      </p:sp>
      <p:sp>
        <p:nvSpPr>
          <p:cNvPr id="11" name="Shape 8"/>
          <p:cNvSpPr/>
          <p:nvPr/>
        </p:nvSpPr>
        <p:spPr>
          <a:xfrm>
            <a:off x="3538728" y="18288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EAF2FB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767328" y="2057400"/>
            <a:ext cx="402336" cy="402336"/>
          </a:xfrm>
          <a:prstGeom prst="ellipse">
            <a:avLst/>
          </a:prstGeom>
          <a:solidFill>
            <a:srgbClr val="0C63B4"/>
          </a:solidFill>
          <a:ln/>
        </p:spPr>
      </p:sp>
      <p:sp>
        <p:nvSpPr>
          <p:cNvPr id="13" name="Text 10"/>
          <p:cNvSpPr/>
          <p:nvPr/>
        </p:nvSpPr>
        <p:spPr>
          <a:xfrm>
            <a:off x="3767328" y="20574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739896" y="26060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· Structured Output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3739896" y="33375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schema, temperature = 0 → kỹ năng + evidence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80760" y="2788920"/>
            <a:ext cx="292608" cy="292608"/>
          </a:xfrm>
          <a:prstGeom prst="rightArrow">
            <a:avLst/>
          </a:prstGeom>
          <a:solidFill>
            <a:srgbClr val="0C63B4"/>
          </a:solidFill>
          <a:ln/>
        </p:spPr>
      </p:sp>
      <p:sp>
        <p:nvSpPr>
          <p:cNvPr id="17" name="Shape 14"/>
          <p:cNvSpPr/>
          <p:nvPr/>
        </p:nvSpPr>
        <p:spPr>
          <a:xfrm>
            <a:off x="6345936" y="18288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1E88D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574536" y="2057400"/>
            <a:ext cx="402336" cy="402336"/>
          </a:xfrm>
          <a:prstGeom prst="ellipse">
            <a:avLst/>
          </a:prstGeom>
          <a:solidFill>
            <a:srgbClr val="1E88D6"/>
          </a:solidFill>
          <a:ln/>
        </p:spPr>
      </p:sp>
      <p:sp>
        <p:nvSpPr>
          <p:cNvPr id="19" name="Text 16"/>
          <p:cNvSpPr/>
          <p:nvPr/>
        </p:nvSpPr>
        <p:spPr>
          <a:xfrm>
            <a:off x="6574536" y="20574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547104" y="26060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Hậu kiểm bằng chứng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6547104" y="33375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 kỹ năng KHÔNG có dẫn chứng trong văn bản gốc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887968" y="2788920"/>
            <a:ext cx="292608" cy="292608"/>
          </a:xfrm>
          <a:prstGeom prst="rightArrow">
            <a:avLst/>
          </a:prstGeom>
          <a:solidFill>
            <a:srgbClr val="0C63B4"/>
          </a:solidFill>
          <a:ln/>
        </p:spPr>
      </p:sp>
      <p:sp>
        <p:nvSpPr>
          <p:cNvPr id="23" name="Shape 20"/>
          <p:cNvSpPr/>
          <p:nvPr/>
        </p:nvSpPr>
        <p:spPr>
          <a:xfrm>
            <a:off x="9153144" y="18288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EAF2FB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381744" y="2057400"/>
            <a:ext cx="402336" cy="402336"/>
          </a:xfrm>
          <a:prstGeom prst="ellipse">
            <a:avLst/>
          </a:prstGeom>
          <a:solidFill>
            <a:srgbClr val="0C63B4"/>
          </a:solidFill>
          <a:ln/>
        </p:spPr>
      </p:sp>
      <p:sp>
        <p:nvSpPr>
          <p:cNvPr id="25" name="Text 22"/>
          <p:cNvSpPr/>
          <p:nvPr/>
        </p:nvSpPr>
        <p:spPr>
          <a:xfrm>
            <a:off x="9381744" y="20574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9354312" y="26060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Kỹ năng đã xác thực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9354312" y="33375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Đưa vào chuẩn hóa &amp; so khớp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31520" y="4343400"/>
            <a:ext cx="10789920" cy="1554480"/>
          </a:xfrm>
          <a:prstGeom prst="roundRect">
            <a:avLst>
              <a:gd name="adj" fmla="val 4706"/>
            </a:avLst>
          </a:prstGeom>
          <a:solidFill>
            <a:srgbClr val="EAF2FB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960120" y="45262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C6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góp #1 — </a:t>
            </a:r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03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hậu kiểm bằng chứng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AI đôi khi “bịa” ra kỹ năng không có thật; bước hậu kiểm đối chiếu lại với văn bản gốc rồi loại bỏ. Nhờ vậy độ chính xác trích xuất đạt 98,9%.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CareerNova · KLTN 2026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ymytr-nova/5e161095-2610-40a0-961d-5450e47dcdec/scratchpad/build/logo-khtn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384048"/>
            <a:ext cx="475488" cy="3735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6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 SO KHỚP NĂNG LỰC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khớp ngữ nghĩa có trọng số thị trường lao động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1783080"/>
            <a:ext cx="2487168" cy="1371600"/>
          </a:xfrm>
          <a:prstGeom prst="roundRect">
            <a:avLst>
              <a:gd name="adj" fmla="val 5333"/>
            </a:avLst>
          </a:prstGeom>
          <a:solidFill>
            <a:srgbClr val="EAF2FB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90195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6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SBERT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2860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nhúng 384 chiều (all-MiniLM-L6-v2)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035808" y="2194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6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520440" y="1783080"/>
            <a:ext cx="2487168" cy="1371600"/>
          </a:xfrm>
          <a:prstGeom prst="roundRect">
            <a:avLst>
              <a:gd name="adj" fmla="val 5333"/>
            </a:avLst>
          </a:prstGeom>
          <a:solidFill>
            <a:srgbClr val="EAF2FB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703320" y="190195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6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Cosine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703320" y="22860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tương đồng ngữ nghĩa CV ↔ JD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824728" y="2194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6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309360" y="1783080"/>
            <a:ext cx="2487168" cy="1371600"/>
          </a:xfrm>
          <a:prstGeom prst="roundRect">
            <a:avLst>
              <a:gd name="adj" fmla="val 5333"/>
            </a:avLst>
          </a:prstGeom>
          <a:solidFill>
            <a:srgbClr val="EAF2FB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92240" y="190195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6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Trọng số IDF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92240" y="22860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năng hiếm/cầu cao tính nặng hơn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613648" y="2194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6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9098280" y="1783080"/>
            <a:ext cx="2487168" cy="1371600"/>
          </a:xfrm>
          <a:prstGeom prst="roundRect">
            <a:avLst>
              <a:gd name="adj" fmla="val 5333"/>
            </a:avLst>
          </a:prstGeom>
          <a:solidFill>
            <a:srgbClr val="EAF2FB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281160" y="190195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6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luật lọc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281160" y="22860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chỉnh theo nhóm kỹ năng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31520" y="338328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003E7E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" y="33832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  =  % phù hợp  +  danh sách kỹ năng còn thiếu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126480" y="3310128"/>
            <a:ext cx="539496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38100" dir="5400000">
              <a:srgbClr val="8AA0B0">
                <a:alpha val="35000"/>
              </a:srgbClr>
            </a:outerShdw>
          </a:effectLst>
        </p:spPr>
      </p:sp>
      <p:pic>
        <p:nvPicPr>
          <p:cNvPr id="23" name="Image 1" descr="/private/tmp/claude-501/-Users-ymytr-nova/5e161095-2610-40a0-961d-5450e47dcdec/scratchpad/build/sequence_matching_c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174" y="3419856"/>
            <a:ext cx="5035573" cy="2112264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731520" y="429768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EAF2FB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914400" y="44348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C6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góp #2 &amp; #3: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trọng số theo thị trường IT Việt Nam + 6 luật lọc kỹ năng.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3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cần trọng số?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năng hiếm mà đang được săn thì phải tính nặng hơn.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CareerNova · KLTN 2026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ymytr-nova/5e161095-2610-40a0-961d-5450e47dcdec/scratchpad/build/logo-khtn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384048"/>
            <a:ext cx="475488" cy="3735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6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TRỰC QUAN HÓA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thị trường và phân tích khoảng cách kỹ năng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1783080"/>
            <a:ext cx="539496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38100" dir="5400000">
              <a:srgbClr val="8AA0B0">
                <a:alpha val="35000"/>
              </a:srgbClr>
            </a:outerShdw>
          </a:effectLst>
        </p:spPr>
      </p:sp>
      <p:pic>
        <p:nvPicPr>
          <p:cNvPr id="6" name="Image 1" descr="/private/tmp/claude-501/-Users-ymytr-nova/5e161095-2610-40a0-961d-5450e47dcdec/scratchpad/build/ui_market_skil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102" y="1892808"/>
            <a:ext cx="5021797" cy="29809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50292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thị trường — kỹ năng cầu cao, việc làm hot, xu hướng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355080" y="1783080"/>
            <a:ext cx="516636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38100" dir="5400000">
              <a:srgbClr val="8AA0B0">
                <a:alpha val="35000"/>
              </a:srgbClr>
            </a:outerShdw>
          </a:effectLst>
        </p:spPr>
      </p:sp>
      <p:pic>
        <p:nvPicPr>
          <p:cNvPr id="9" name="Image 2" descr="/private/tmp/claude-501/-Users-ymytr-nova/5e161095-2610-40a0-961d-5450e47dcdec/scratchpad/build/ui_skill_gap_detai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1921158"/>
            <a:ext cx="4946904" cy="29242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55080" y="502920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— kỹ năng đã đạt vs còn thiếu + gợi ý lộ trình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731520" y="56235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C6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Tinh thần:  </a:t>
            </a:r>
            <a:pPr indent="0" marL="0">
              <a:buNone/>
            </a:pPr>
            <a:r>
              <a:rPr lang="en-US" sz="14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 dữ liệu thô thành việc làm được — bạn biết nên học gì và ứng tuyển vị trí nào.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CareerNova · KLTN 2026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3E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108960"/>
            <a:ext cx="6400800" cy="6400800"/>
          </a:xfrm>
          <a:prstGeom prst="ellipse">
            <a:avLst/>
          </a:prstGeom>
          <a:solidFill>
            <a:srgbClr val="0A56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E8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3200400" y="22860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&amp; Đánh giá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24612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chạy thật — đo đạc có bằng chứng, trình bày trung thực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CareerNova · KLTN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ymytr-nova/5e161095-2610-40a0-961d-5450e47dcdec/scratchpad/build/logo-khtn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384048"/>
            <a:ext cx="475488" cy="3735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6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ĐÃ XÂY DỰNG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Chạy thật, dữ liệu thật — không phải bản mẫu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1783080"/>
            <a:ext cx="676656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38100" dir="5400000">
              <a:srgbClr val="8AA0B0">
                <a:alpha val="35000"/>
              </a:srgbClr>
            </a:outerShdw>
          </a:effectLst>
        </p:spPr>
      </p:sp>
      <p:pic>
        <p:nvPicPr>
          <p:cNvPr id="6" name="Image 1" descr="/private/tmp/claude-501/-Users-ymytr-nova/5e161095-2610-40a0-961d-5450e47dcdec/scratchpad/build/ui_cv_matching_rad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368" y="1892808"/>
            <a:ext cx="6300864" cy="375818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726680" y="1783080"/>
            <a:ext cx="3794760" cy="896112"/>
          </a:xfrm>
          <a:prstGeom prst="roundRect">
            <a:avLst>
              <a:gd name="adj" fmla="val 8163"/>
            </a:avLst>
          </a:prstGeom>
          <a:solidFill>
            <a:srgbClr val="EAF2FB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955280" y="185623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6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career-nova.online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955280" y="23134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công khai (DigitalOcean)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7726680" y="2798064"/>
            <a:ext cx="3794760" cy="896112"/>
          </a:xfrm>
          <a:prstGeom prst="roundRect">
            <a:avLst>
              <a:gd name="adj" fmla="val 8163"/>
            </a:avLst>
          </a:prstGeom>
          <a:solidFill>
            <a:srgbClr val="EAF2FB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955280" y="287121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6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phân hệ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955280" y="332841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Dashboard · Job · CV · So khớp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726680" y="3813048"/>
            <a:ext cx="3794760" cy="896112"/>
          </a:xfrm>
          <a:prstGeom prst="roundRect">
            <a:avLst>
              <a:gd name="adj" fmla="val 8163"/>
            </a:avLst>
          </a:prstGeom>
          <a:solidFill>
            <a:srgbClr val="EAF2FB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955280" y="38862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6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11/11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7955280" y="4343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kiểm thử chức năng ĐẠT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726680" y="4828032"/>
            <a:ext cx="3794760" cy="896112"/>
          </a:xfrm>
          <a:prstGeom prst="roundRect">
            <a:avLst>
              <a:gd name="adj" fmla="val 8163"/>
            </a:avLst>
          </a:prstGeom>
          <a:solidFill>
            <a:srgbClr val="EAF2FB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955280" y="490118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6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8,56/10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7955280" y="535838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thiện cảm người dùng (n=9)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CareerNova · KLTN 2026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ymytr-nova/5e161095-2610-40a0-961d-5450e47dcdec/scratchpad/build/logo-khtn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384048"/>
            <a:ext cx="475488" cy="3735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6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CHỨC NĂNG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11/11 ca ĐẠT · có ma trận truy vết yêu cầu → kiểm thử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7442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286000"/>
                <a:gridCol w="3200400"/>
                <a:gridCol w="3108960"/>
                <a:gridCol w="10972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Chức năng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Đầu vào / Điều kiện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Kết quả mong đợi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KQ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7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Từ chối file sai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DOCX/TXT hoặc ảnh &gt; 5 MB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Báo lỗi, không lưu file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ĐẠT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Đối soát CV + Skill Gap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Chọn CV + nhóm nghề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phù hợp, radar, kỹ năng thiếu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ĐẠT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thị trường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Chọn bộ lọc khu vực/thời gian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Biểu đồ xu hướng đúng bộ lọc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ĐẠT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Tìm kiếm việc làm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Từ khóa + bộ lọc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Danh sách đúng tiêu chí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ĐẠT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Lưu / hủy lưu job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Bấm lưu rồi hủy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Danh sách đã lưu cập nhật đúng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ĐẠT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731520" y="5806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biểu 5/11 ca. TC-06 (biên từ chối) và TC-08 (chuỗi AI đầu–cuối) là hai ca rủi ro nhất — đều ĐẠT.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CareerNova · KLTN 2026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ymytr-nova/5e161095-2610-40a0-961d-5450e47dcdec/scratchpad/build/logo-khtn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384048"/>
            <a:ext cx="475488" cy="3735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6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THUẬT TOÁN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Trình bày trung thực: đạt gì, chưa đạt gì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1783080"/>
            <a:ext cx="107899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2130552"/>
            <a:ext cx="237744" cy="237744"/>
          </a:xfrm>
          <a:prstGeom prst="ellipse">
            <a:avLst/>
          </a:prstGeom>
          <a:solidFill>
            <a:srgbClr val="C08A1E"/>
          </a:solidFill>
          <a:ln/>
        </p:spPr>
      </p:sp>
      <p:sp>
        <p:nvSpPr>
          <p:cNvPr id="7" name="Text 4"/>
          <p:cNvSpPr/>
          <p:nvPr/>
        </p:nvSpPr>
        <p:spPr>
          <a:xfrm>
            <a:off x="1371600" y="186537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Trích xuất kỹ năng (NER) · 40 tài liệu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71600" y="2240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Chứng minh: tính tin cậy của trích xuất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669280" y="1856232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100% ✓  ·  Precision 98,9% ✓  ·  F1 84,0% ✓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326880" y="1856232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73,0% — chưa đạt 80%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1520" y="2816352"/>
            <a:ext cx="107899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60120" y="3163824"/>
            <a:ext cx="237744" cy="237744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3" name="Text 10"/>
          <p:cNvSpPr/>
          <p:nvPr/>
        </p:nvSpPr>
        <p:spPr>
          <a:xfrm>
            <a:off x="1371600" y="289864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Chuẩn hóa kỹ năng · 758 mẫu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371600" y="32735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Chứng minh: tính nhất quán của dữ liệu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0" y="2889504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67,6% ✓  ·  Reject 69,3% ✓  ·  Gộp công ty 83,3% ✓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326880" y="2889504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 cả 3 ngưỡng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31520" y="3849624"/>
            <a:ext cx="107899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960120" y="4197096"/>
            <a:ext cx="237744" cy="237744"/>
          </a:xfrm>
          <a:prstGeom prst="ellipse">
            <a:avLst/>
          </a:prstGeom>
          <a:solidFill>
            <a:srgbClr val="C08A1E"/>
          </a:solidFill>
          <a:ln/>
        </p:spPr>
      </p:sp>
      <p:sp>
        <p:nvSpPr>
          <p:cNvPr id="19" name="Text 16"/>
          <p:cNvSpPr/>
          <p:nvPr/>
        </p:nvSpPr>
        <p:spPr>
          <a:xfrm>
            <a:off x="1371600" y="393192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Khử trùng lặp · 52 cặp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371600" y="430682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Chứng minh: tính toàn vẹn dữ liệu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669280" y="3922776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Recall / F1 = 100%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326880" y="3922776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Tập nhỏ, có cặp giả lập → chỉ kiểm chứng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31520" y="4882896"/>
            <a:ext cx="107899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60120" y="5230368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5" name="Text 22"/>
          <p:cNvSpPr/>
          <p:nvPr/>
        </p:nvSpPr>
        <p:spPr>
          <a:xfrm>
            <a:off x="1371600" y="49651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loại Skill Gap · 10 CV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1371600" y="534009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Chứng minh: tính hợp lý của điểm số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669280" y="4956048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điểm số = 0,106 (điểm tổng hợp vẫn sát người chấm)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326880" y="4956048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54,8% &amp; Macro-F1 50,1% — chưa đạt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731520" y="59436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Skill Gap thấp? 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 CSDL chỉ lưu 2 trạng thái “có / thiếu”, chưa có “khớp một phần” → 117 kỹ năng khớp một phần bị dồn vào “thiếu”. Là hạn chế lưu trữ, không phải lỗi thuật toán (điểm số vẫn lệch rất ít).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CareerNova · KLTN 2026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ymytr-nova/5e161095-2610-40a0-961d-5450e47dcdec/scratchpad/build/logo-khtn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384048"/>
            <a:ext cx="475488" cy="3735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6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HIỆU NĂNG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Thời gian phản hồi thực đo — đạt NFR (20 lượt/thao tác)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83080"/>
          <a:ext cx="68580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914400"/>
                <a:gridCol w="914400"/>
                <a:gridCol w="914400"/>
                <a:gridCol w="9144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Thao tác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Lỗi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7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(API chậm nhất)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1,33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1,59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1,61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CV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1,31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2,03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2,63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Đối soát CV — lần đầu (cache miss)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41,9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49,3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55,1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Đối soát CV — lặp lại (cache hit)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0,27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0,31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0,31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772400" y="178308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1E8E5A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7955280" y="1874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Đạt NFR-02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955280" y="22860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Cache-miss max 55,1 s &lt; 60 s (0/20 vượt ngưỡng)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772400" y="329184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0C63B4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955280" y="3383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6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~155× nhanh hơn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955280" y="3776472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nhờ bộ nhớ đệm (cache): 41,9 s → 0,27 s ở lần đối soát lặp lại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31520" y="4617720"/>
            <a:ext cx="68580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38100" dir="5400000">
              <a:srgbClr val="8AA0B0">
                <a:alpha val="35000"/>
              </a:srgbClr>
            </a:outerShdw>
          </a:effectLst>
        </p:spPr>
      </p:sp>
      <p:pic>
        <p:nvPicPr>
          <p:cNvPr id="13" name="Image 1" descr="/private/tmp/claude-501/-Users-ymytr-nova/5e161095-2610-40a0-961d-5450e47dcdec/scratchpad/build/perf_measurement_term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320" y="4727448"/>
            <a:ext cx="2728400" cy="1472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0" y="4617720"/>
            <a:ext cx="37490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8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Nói thật: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đây là số đo với 1 người dùng. Máy chủ 2 vCPU không GPU nên đông người cùng lúc có thể chậm hơn; nhóm chưa load test — ghi nhận ở hạn chế.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CareerNova · KLTN 2026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ymytr-nova/5e161095-2610-40a0-961d-5450e47dcdec/scratchpad/build/logo-khtn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384048"/>
            <a:ext cx="475488" cy="3735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6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NGƯỜI DÙNG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Khảo sát 9 người dùng: đa số hài lòng, và chỉ ra điểm cần cải thiện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78308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7772400" y="1783080"/>
            <a:ext cx="3749040" cy="969264"/>
          </a:xfrm>
          <a:prstGeom prst="roundRect">
            <a:avLst>
              <a:gd name="adj" fmla="val 7547"/>
            </a:avLst>
          </a:prstGeom>
          <a:solidFill>
            <a:srgbClr val="EAF2FB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7973568" y="185623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6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8,56/10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973568" y="229514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thiện cảm tổng thể — 100% cho ≥ 7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7772400" y="2862072"/>
            <a:ext cx="3749040" cy="969264"/>
          </a:xfrm>
          <a:prstGeom prst="roundRect">
            <a:avLst>
              <a:gd name="adj" fmla="val 7547"/>
            </a:avLst>
          </a:prstGeom>
          <a:solidFill>
            <a:srgbClr val="EAF2FB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973568" y="293522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6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973568" y="337413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ý “tiết kiệm thời gian định hướng”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772400" y="3941064"/>
            <a:ext cx="37490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1E88D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973568" y="401421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8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3,89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973568" y="445312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thấp nhất: độ tin cậy % Matching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772400" y="5020056"/>
            <a:ext cx="37490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1E88D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973568" y="509320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8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71,4%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7973568" y="55321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muốn hệ thống giải thích cách chấm điểm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CareerNova · KLTN 2026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3E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108960"/>
            <a:ext cx="6400800" cy="6400800"/>
          </a:xfrm>
          <a:prstGeom prst="ellipse">
            <a:avLst/>
          </a:prstGeom>
          <a:solidFill>
            <a:srgbClr val="0A56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E8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3200400" y="22860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24612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chức năng tốt nhất — video quay sẵn (~10 phút)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CareerNova · KLTN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ymytr-nova/5e161095-2610-40a0-961d-5450e47dcdec/scratchpad/build/logo-khtn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384048"/>
            <a:ext cx="475488" cy="3735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6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ĐẦU VÀO → ĐẦU RA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chức năng tâm đắc nhất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2011680"/>
            <a:ext cx="384048" cy="384048"/>
          </a:xfrm>
          <a:prstGeom prst="ellipse">
            <a:avLst/>
          </a:prstGeom>
          <a:solidFill>
            <a:srgbClr val="1E88D6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19933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thị trường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868680" y="2560320"/>
            <a:ext cx="31546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38100" dir="5400000">
              <a:srgbClr val="8AA0B0">
                <a:alpha val="35000"/>
              </a:srgbClr>
            </a:outerShdw>
          </a:effectLst>
        </p:spPr>
      </p:sp>
      <p:pic>
        <p:nvPicPr>
          <p:cNvPr id="10" name="Image 1" descr="/private/tmp/claude-501/-Users-ymytr-nova/5e161095-2610-40a0-961d-5450e47dcdec/scratchpad/build/ui_market_skil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997" y="2670048"/>
            <a:ext cx="2326047" cy="1380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96112" y="42976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C6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vào: </a:t>
            </a:r>
            <a:pPr indent="0" marL="0">
              <a:buNone/>
            </a:pPr>
            <a:r>
              <a:rPr lang="en-US" sz="12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bộ lọc ngành / khu vực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96112" y="50292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8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ra: </a:t>
            </a:r>
            <a:pPr indent="0" marL="0">
              <a:buNone/>
            </a:pPr>
            <a:r>
              <a:rPr lang="en-US" sz="12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Việc làm hot · kỹ năng cầu cao · xu hướng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343400" y="178308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0" y="2011680"/>
            <a:ext cx="384048" cy="384048"/>
          </a:xfrm>
          <a:prstGeom prst="ellipse">
            <a:avLst/>
          </a:prstGeom>
          <a:solidFill>
            <a:srgbClr val="1E88D6"/>
          </a:solidFill>
          <a:ln/>
        </p:spPr>
      </p:sp>
      <p:sp>
        <p:nvSpPr>
          <p:cNvPr id="15" name="Text 11"/>
          <p:cNvSpPr/>
          <p:nvPr/>
        </p:nvSpPr>
        <p:spPr>
          <a:xfrm>
            <a:off x="4572000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074920" y="19933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CV → So khớp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4572000" y="2560320"/>
            <a:ext cx="31546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38100" dir="5400000">
              <a:srgbClr val="8AA0B0">
                <a:alpha val="35000"/>
              </a:srgbClr>
            </a:outerShdw>
          </a:effectLst>
        </p:spPr>
      </p:sp>
      <p:pic>
        <p:nvPicPr>
          <p:cNvPr id="18" name="Image 2" descr="/private/tmp/claude-501/-Users-ymytr-nova/5e161095-2610-40a0-961d-5450e47dcdec/scratchpad/build/ui_cv_matching_rad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882" y="2670048"/>
            <a:ext cx="2314916" cy="1380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99432" y="42976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C6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vào: </a:t>
            </a:r>
            <a:pPr indent="0" marL="0">
              <a:buNone/>
            </a:pPr>
            <a:r>
              <a:rPr lang="en-US" sz="12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CV + chọn nhóm nghề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99432" y="50292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8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ra: </a:t>
            </a:r>
            <a:pPr indent="0" marL="0">
              <a:buNone/>
            </a:pPr>
            <a:r>
              <a:rPr lang="en-US" sz="12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phù hợp · radar · kỹ năng còn thiếu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046720" y="178308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75320" y="2011680"/>
            <a:ext cx="384048" cy="384048"/>
          </a:xfrm>
          <a:prstGeom prst="ellipse">
            <a:avLst/>
          </a:prstGeom>
          <a:solidFill>
            <a:srgbClr val="1E88D6"/>
          </a:solidFill>
          <a:ln/>
        </p:spPr>
      </p:sp>
      <p:sp>
        <p:nvSpPr>
          <p:cNvPr id="23" name="Text 18"/>
          <p:cNvSpPr/>
          <p:nvPr/>
        </p:nvSpPr>
        <p:spPr>
          <a:xfrm>
            <a:off x="8275320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778240" y="19933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Gap → Lộ trình</a:t>
            </a:r>
            <a:endParaRPr lang="en-US" sz="1550" dirty="0"/>
          </a:p>
        </p:txBody>
      </p:sp>
      <p:sp>
        <p:nvSpPr>
          <p:cNvPr id="25" name="Shape 20"/>
          <p:cNvSpPr/>
          <p:nvPr/>
        </p:nvSpPr>
        <p:spPr>
          <a:xfrm>
            <a:off x="8275320" y="2560320"/>
            <a:ext cx="31546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38100" dir="5400000">
              <a:srgbClr val="8AA0B0">
                <a:alpha val="35000"/>
              </a:srgbClr>
            </a:outerShdw>
          </a:effectLst>
        </p:spPr>
      </p:sp>
      <p:pic>
        <p:nvPicPr>
          <p:cNvPr id="26" name="Image 3" descr="/private/tmp/claude-501/-Users-ymytr-nova/5e161095-2610-40a0-961d-5450e47dcdec/scratchpad/build/ui_skill_gap_road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169" y="2670048"/>
            <a:ext cx="2332981" cy="13807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302752" y="42976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C6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vào: </a:t>
            </a:r>
            <a:pPr indent="0" marL="0">
              <a:buNone/>
            </a:pPr>
            <a:r>
              <a:rPr lang="en-US" sz="12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chi tiết khoảng cách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8302752" y="50292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8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ra: </a:t>
            </a:r>
            <a:pPr indent="0" marL="0">
              <a:buNone/>
            </a:pPr>
            <a:r>
              <a:rPr lang="en-US" sz="12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năng ưu tiên + gợi ý học tập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quay sẵn để tránh sự cố mạng/kỹ thuật (theo quy định).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CareerNova · KLTN 2026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3E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108960"/>
            <a:ext cx="6400800" cy="6400800"/>
          </a:xfrm>
          <a:prstGeom prst="ellipse">
            <a:avLst/>
          </a:prstGeom>
          <a:solidFill>
            <a:srgbClr val="0A56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E8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3200400" y="22860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luận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24612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tâm đắc · Hạn chế tự đánh giá · Hướng phát triển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CareerNova · KLTN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ymytr-nova/5e161095-2610-40a0-961d-5450e47dcdec/scratchpad/build/logo-khtn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384048"/>
            <a:ext cx="475488" cy="3735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6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CHÚNG EM TÂM ĐẮC NHẤT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điều tự hào về kết quả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87452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219456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0C63B4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194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4400" y="3063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Chạy thật, đo thật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611880"/>
            <a:ext cx="31089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chạy công khai, dữ liệu thật hơn 7.000 tin, mọi con số đều có bằng chứng.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43400" y="187452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219456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0A56A0"/>
          </a:solidFill>
          <a:ln/>
        </p:spPr>
      </p:sp>
      <p:sp>
        <p:nvSpPr>
          <p:cNvPr id="12" name="Text 9"/>
          <p:cNvSpPr/>
          <p:nvPr/>
        </p:nvSpPr>
        <p:spPr>
          <a:xfrm>
            <a:off x="4617720" y="2194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617720" y="3063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Chống AI bịa kỹ năng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617720" y="3611880"/>
            <a:ext cx="31089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hậu kiểm bằng chứng giúp độ chính xác trích xuất đạt 98,9% — gần như không bịa.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046720" y="187452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21040" y="219456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1E88D6"/>
          </a:solidFill>
          <a:ln/>
        </p:spPr>
      </p:sp>
      <p:sp>
        <p:nvSpPr>
          <p:cNvPr id="17" name="Text 14"/>
          <p:cNvSpPr/>
          <p:nvPr/>
        </p:nvSpPr>
        <p:spPr>
          <a:xfrm>
            <a:off x="8321040" y="2194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8321040" y="3063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Đo được khoảng cách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321040" y="3611880"/>
            <a:ext cx="31089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khớp theo ngữ nghĩa có trọng số thị trường — chỉ ra bạn “thiếu gì”, điều khớp từ khóa không làm được.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CareerNova · KLTN 2026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ymytr-nova/5e161095-2610-40a0-961d-5450e47dcdec/scratchpad/build/logo-khtn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384048"/>
            <a:ext cx="475488" cy="3735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6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 &amp; TỰ ĐÁNH GIÁ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Nhìn thẳng — kèm hướng khắc phục</a:t>
            </a:r>
            <a:endParaRPr lang="en-US" sz="3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83080"/>
          <a:ext cx="1078992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303520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Hạn chế (tự nhận)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Hướng khắc phục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7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Nhãn chuẩn do nhóm tự gán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Bổ sung gán độc lập ≥ 2 người + đo Cohen's 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Chưa có baseline so sánh (keyword / SBERT thuần)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Chạy ablation tách vai trò từng thành phần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Recall NER 73% &amp; Skill Gap phân loại 54,8%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Fuzzy match evidence + lưu trữ 3 trạng thái (thêm Partial)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Tập đánh giá nhỏ, một phần dữ liệu giả lập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Mở rộng tập thật, thêm cặp khó (khái quát hơn)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CV gửi Gemini (bên thứ ba) — chưa xử lý PII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Ẩn danh hóa PII trước khi gửi; đối chiếu NĐ 13/2023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Chỉ đo đơn phiên, chưa load/stress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Xử lý bất đồng bộ + hàng đợi; kiểm thử tải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CareerNova · KLTN 2026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ymytr-nova/5e161095-2610-40a0-961d-5450e47dcdec/scratchpad/build/logo-khtn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384048"/>
            <a:ext cx="475488" cy="3735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6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Ưu tiên theo cả nghiên cứu lẫn phản hồi người dùng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22960" y="182880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51560" y="2103120"/>
            <a:ext cx="384048" cy="384048"/>
          </a:xfrm>
          <a:prstGeom prst="ellipse">
            <a:avLst/>
          </a:prstGeom>
          <a:solidFill>
            <a:srgbClr val="0C63B4"/>
          </a:solidFill>
          <a:ln/>
        </p:spPr>
      </p:sp>
      <p:sp>
        <p:nvSpPr>
          <p:cNvPr id="7" name="Text 4"/>
          <p:cNvSpPr/>
          <p:nvPr/>
        </p:nvSpPr>
        <p:spPr>
          <a:xfrm>
            <a:off x="105156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91640" y="19202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Nâng độ vững đánh giá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394960" y="192024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+ ablation, phân tích độ nhạy ngưỡng, kiểm định liên người gán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292608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51560" y="3200400"/>
            <a:ext cx="384048" cy="384048"/>
          </a:xfrm>
          <a:prstGeom prst="ellipse">
            <a:avLst/>
          </a:prstGeom>
          <a:solidFill>
            <a:srgbClr val="0C63B4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691640" y="30175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Cải thiện thuật toán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394960" y="301752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 3 trạng thái (Partial), fuzzy match bằng chứng, xử lý bất đồng bộ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22960" y="402336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051560" y="4297680"/>
            <a:ext cx="384048" cy="384048"/>
          </a:xfrm>
          <a:prstGeom prst="ellipse">
            <a:avLst/>
          </a:prstGeom>
          <a:solidFill>
            <a:srgbClr val="0C63B4"/>
          </a:solidFill>
          <a:ln/>
        </p:spPr>
      </p:sp>
      <p:sp>
        <p:nvSpPr>
          <p:cNvPr id="17" name="Text 14"/>
          <p:cNvSpPr/>
          <p:nvPr/>
        </p:nvSpPr>
        <p:spPr>
          <a:xfrm>
            <a:off x="1051560" y="4297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691640" y="411480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Mở rộng &amp; làm giàu dữ liệu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94960" y="411480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 ngành, tự cập nhật từ điển kỹ năng, thêm dữ liệu lương &amp; phỏng vấn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22960" y="512064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4">
                <a:alpha val="2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051560" y="5394960"/>
            <a:ext cx="384048" cy="384048"/>
          </a:xfrm>
          <a:prstGeom prst="ellipse">
            <a:avLst/>
          </a:prstGeom>
          <a:solidFill>
            <a:srgbClr val="0C63B4"/>
          </a:solidFill>
          <a:ln/>
        </p:spPr>
      </p:sp>
      <p:sp>
        <p:nvSpPr>
          <p:cNvPr id="22" name="Text 19"/>
          <p:cNvSpPr/>
          <p:nvPr/>
        </p:nvSpPr>
        <p:spPr>
          <a:xfrm>
            <a:off x="1051560" y="5394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691640" y="521208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Riêng tư &amp; mở rộng quy mô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394960" y="521208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Ẩn danh hóa PII, load test, mở rộng theo chiều ngang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22960" y="6263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mong muốn nhất: so sánh lương (77,8%) &amp; chuẩn bị phỏng vấn kỹ thuật (55,6%).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CareerNova · KLTN 2026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3E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286000"/>
            <a:ext cx="6400800" cy="6400800"/>
          </a:xfrm>
          <a:prstGeom prst="ellipse">
            <a:avLst/>
          </a:prstGeom>
          <a:solidFill>
            <a:srgbClr val="0A56A0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0A56A0"/>
          </a:solidFill>
          <a:ln/>
        </p:spPr>
      </p:sp>
      <p:pic>
        <p:nvPicPr>
          <p:cNvPr id="4" name="Image 0" descr="/private/tmp/claude-501/-Users-ymytr-nova/5e161095-2610-40a0-961d-5450e47dcdec/scratchpad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2103120" cy="9190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743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 quý thầy cô đã lắng nghe!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58368" y="3749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rất mong nhận được góp ý của hội đồng.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58368" y="4846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career-nova.online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Thái Thị Kim Huyền  ·  Trần Thị Mỹ Ý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58368" y="5349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GVHD: TS. Vũ Thị Mỹ Hằng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CareerNova · KLTN 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ymytr-nova/5e161095-2610-40a0-961d-5450e47dcdec/scratchpad/build/logo-khtn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384048"/>
            <a:ext cx="475488" cy="3735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8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DỰ PHÒNG · D1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&amp; Ablation — chứng minh giá trị từng thành phần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78308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hội đồng nêu: luận lập luận “lai LLM+SBERT+trọng số tốt hơn keyword” nhưng chưa đo đối chứng.</a:t>
            </a:r>
            <a:endParaRPr lang="en-US" sz="1500" dirty="0"/>
          </a:p>
          <a:p>
            <a:pPr marL="342900" indent="-3429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ablation trên cùng tập nhãn (20 JD + 20 CV): (1) chỉ khớp từ khóa; (2) SBERT thuần; (3) SBERT + trọng số IDF + 6 luật (đầy đủ).</a:t>
            </a:r>
            <a:endParaRPr lang="en-US" sz="1500" dirty="0"/>
          </a:p>
          <a:p>
            <a:pPr marL="342900" indent="-3429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Kỳ vọng: (3) &gt; (2) &gt; (1) → tách bạch đóng góp của trọng số và bộ luật.</a:t>
            </a:r>
            <a:endParaRPr lang="en-US" sz="1500" dirty="0"/>
          </a:p>
          <a:p>
            <a:pPr marL="342900" indent="-3429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thiểu: bật/tắt trọng số IDF để cho thấy tác dụng.</a:t>
            </a:r>
            <a:endParaRPr lang="en-US" sz="1500" dirty="0"/>
          </a:p>
          <a:p>
            <a:pPr marL="342900" indent="-3429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nếu chưa kịp chạy: “Đây là hạn chế đã ghi nhận; nhóm đề xuất ablation như trên làm bước đánh giá tiếp theo.”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CareerNova · KLTN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ymytr-nova/5e161095-2610-40a0-961d-5450e47dcdec/scratchpad/build/logo-khtn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384048"/>
            <a:ext cx="475488" cy="3735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8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DỰ PHÒNG · D2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Căn cứ chọn ngưỡng &amp; hệ số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78308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ngưỡng là tham số VẬN HÀNH THẬT trong mã nguồn: phân loại 0,75 / 0,45; sàn cosine 0,55; hybrid 0,85 + 0,15; ngưỡng động 0,80 / 0,70; boost ×1,2; khử trùng lặp θ = 0,8.</a:t>
            </a:r>
            <a:endParaRPr lang="en-US" sz="1500" dirty="0"/>
          </a:p>
          <a:p>
            <a:pPr marL="342900" indent="-3429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sở: trực giác thang Cosine (SBERT) + thử nghiệm sơ bộ trên tập dev; chưa grid-search toàn diện (thừa nhận).</a:t>
            </a:r>
            <a:endParaRPr lang="en-US" sz="1500" dirty="0"/>
          </a:p>
          <a:p>
            <a:pPr marL="342900" indent="-3429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Luật soft-skill (&gt;0,35 → 1,0): dễ thổi phồng điểm → đề xuất HẠ TRẦN lên tối đa 0,85 thay vì 1,0, hoặc giữ nguyên cosine.</a:t>
            </a:r>
            <a:endParaRPr lang="en-US" sz="1500" dirty="0"/>
          </a:p>
          <a:p>
            <a:pPr marL="342900" indent="-3429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cải tiến: bảng phân tích độ nhạy cho 1–2 ngưỡng quan trọng (quét 0,70/0,75/0,80).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CareerNova · KLTN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ymytr-nova/5e161095-2610-40a0-961d-5450e47dcdec/scratchpad/build/logo-khtn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384048"/>
            <a:ext cx="475488" cy="3735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8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DỰ PHÒNG · D3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Luật chứng chỉ &amp; thứ tự áp dụng 6 luật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78308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ngại: “ép độ tương đồng chứng chỉ về 0” khiến chứng chỉ không bao giờ khớp.</a:t>
            </a:r>
            <a:endParaRPr lang="en-US" sz="1500" dirty="0"/>
          </a:p>
          <a:p>
            <a:pPr marL="342900" indent="-3429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tế: có nhánh khớp chính xác theo tên/ID chứng chỉ TRƯỚC khi áp luật ép-0 (khớp đúng vẫn được tính).</a:t>
            </a:r>
            <a:endParaRPr lang="en-US" sz="1500" dirty="0"/>
          </a:p>
          <a:p>
            <a:pPr marL="342900" indent="-3429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Thứ tự áp dụng 6 luật là tuần tự, có short-circuit; luật ép-0 chỉ chi phối khi hai kỹ năng khác nhóm phân loại.</a:t>
            </a:r>
            <a:endParaRPr lang="en-US" sz="1500" dirty="0"/>
          </a:p>
          <a:p>
            <a:pPr marL="342900" indent="-3429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 ro phạt oan (missing giả) đã ghi nhận → cân nhắc nới luật theo nhóm liên quan chéo.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CareerNova · KLTN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ymytr-nova/5e161095-2610-40a0-961d-5450e47dcdec/scratchpad/build/logo-khtn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384048"/>
            <a:ext cx="475488" cy="3735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8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DỰ PHÒNG · D4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Quyền riêng tư dữ liệu CV (PII)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78308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chứa PII (họ tên, email, SĐT, quá trình làm việc) và được gửi tới Gemini API (bên thứ ba).</a:t>
            </a:r>
            <a:endParaRPr lang="en-US" sz="1500" dirty="0"/>
          </a:p>
          <a:p>
            <a:pPr marL="342900" indent="-3429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 trạng: chưa ẩn danh hóa PII trước khi gửi — nhóm nhìn nhận là hạn chế.</a:t>
            </a:r>
            <a:endParaRPr lang="en-US" sz="1500" dirty="0"/>
          </a:p>
          <a:p>
            <a:pPr marL="342900" indent="-3429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kết: chỉ dùng cho mục đích học thuật, không tái phân phối; người dùng chủ động tải CV.</a:t>
            </a:r>
            <a:endParaRPr lang="en-US" sz="1500" dirty="0"/>
          </a:p>
          <a:p>
            <a:pPr marL="342900" indent="-3429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khắc phục: loại/ẩn danh PII trước khi gửi; thông báo &amp; xin đồng ý rõ ràng.</a:t>
            </a:r>
            <a:endParaRPr lang="en-US" sz="1500" dirty="0"/>
          </a:p>
          <a:p>
            <a:pPr marL="342900" indent="-3429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chiếu Nghị định 13/2023/NĐ-CP về bảo vệ dữ liệu cá nhân.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CareerNova · KLTN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ymytr-nova/5e161095-2610-40a0-961d-5450e47dcdec/scratchpad/build/logo-khtn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384048"/>
            <a:ext cx="475488" cy="3735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8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DỰ PHÒNG · D5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Cân nhắc pháp lý &amp; đạo đức thu thập dữ liệu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78308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thuật thu thập trình bày ở góc độ trung tính; mục đích học thuật, phi thương mại.</a:t>
            </a:r>
            <a:endParaRPr lang="en-US" sz="1500" dirty="0"/>
          </a:p>
          <a:p>
            <a:pPr marL="342900" indent="-3429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rate-limit hợp lý; không tái phân phối dữ liệu thô; chỉ lưu dữ liệu tổng hợp phục vụ phân tích.</a:t>
            </a:r>
            <a:endParaRPr lang="en-US" sz="1500" dirty="0"/>
          </a:p>
          <a:p>
            <a:pPr marL="342900" indent="-3429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Thừa nhận giới hạn: một số nền tảng hạn chế scraping trong điều khoản sử dụng (ToS).</a:t>
            </a:r>
            <a:endParaRPr lang="en-US" sz="1500" dirty="0"/>
          </a:p>
          <a:p>
            <a:pPr marL="342900" indent="-3429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đi bền vững: ưu tiên nguồn có API/cho phép, hoặc thỏa thuận sử dụng dữ liệu.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CareerNova · KLTN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ymytr-nova/5e161095-2610-40a0-961d-5450e47dcdec/scratchpad/build/logo-khtn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384048"/>
            <a:ext cx="475488" cy="3735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8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DỰ PHÒNG · D6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Tổng quan bộ dữ liệu đánh giá (một bảng thống nhất)</a:t>
            </a:r>
            <a:endParaRPr lang="en-US" sz="2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83080"/>
          <a:ext cx="107899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017520"/>
                <a:gridCol w="2103120"/>
                <a:gridCol w="29260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Thí nghiệm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Tập dữ liệu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Cỡ mẫu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Nguồn / gán nhãn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7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Trích xuất NER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JD + CV thực tế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JD + 20 CV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KiemThu/… · nhóm gán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Chuẩn hóa kỹ năng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Kỹ năng thô (map + nhiễu)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758 (312 + 446)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JD/CV · nhóm gán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Gộp nhóm công 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Tên có hậu tố pháp lý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công 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nhóm gán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Khử trùng lặp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Cặp tin (cùng/đa nguồn)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tin → 52 cặp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same + 35 cross (có giả lập)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Phân loại Skill Gap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↔ JD nhóm nghề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CV (290 cặp KN)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3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nhóm gán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731520" y="5806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quyết mâu thuẫn cỡ mẫu: mỗi thí nghiệm dùng tập nhãn riêng, kích thước &amp; nguồn khác nhau.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CareerNova · KLTN 2026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ymytr-nova/5e161095-2610-40a0-961d-5450e47dcdec/scratchpad/build/logo-khtn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384048"/>
            <a:ext cx="475488" cy="3735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8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DỰ PHÒNG · D7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Định nghĩa chỉ số &amp; “TF-IDF động”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78308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NER: TP = kỹ năng trích đúng có bằng chứng; FP = kỹ năng bịa; FN = kỹ năng bỏ sót. Precision/Recall/F1 theo công thức chuẩn.</a:t>
            </a:r>
            <a:endParaRPr lang="en-US" sz="1500" dirty="0"/>
          </a:p>
          <a:p>
            <a:pPr marL="342900" indent="-3429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Accuracy = tỷ lệ kỹ năng thô ánh xạ đúng nhãn chuẩn (312 mẫu). Reject Accuracy = tỷ lệ chuỗi nhiễu bị từ chối đúng (446 mẫu).</a:t>
            </a:r>
            <a:endParaRPr lang="en-US" sz="1500" dirty="0"/>
          </a:p>
          <a:p>
            <a:pPr marL="342900" indent="-3429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Gap: Classification Accuracy + Macro-F1 (3 lớp Matched/Partial/Missing) + Match Score MAE (độ lệch điểm so người chấm).</a:t>
            </a:r>
            <a:endParaRPr lang="en-US" sz="1500" dirty="0"/>
          </a:p>
          <a:p>
            <a:pPr marL="342900" indent="-3429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“TF-IDF động”: TF nhị phân (kỹ năng có/không trong JD) ⇒ trọng số quy về IDF; phù hợp dữ liệu dạng danh sách kỹ năng (không lặp từ).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CareerNova · KLTN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ymytr-nova/5e161095-2610-40a0-961d-5450e47dcdec/scratchpad/build/logo-khtn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384048"/>
            <a:ext cx="475488" cy="3735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8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DỰ PHÒNG · D8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Thiết kế cơ sở dữ liệu (ERD)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31520" y="1737360"/>
            <a:ext cx="1078992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38100" dir="5400000">
              <a:srgbClr val="8AA0B0">
                <a:alpha val="35000"/>
              </a:srgbClr>
            </a:outerShdw>
          </a:effectLst>
        </p:spPr>
      </p:sp>
      <p:pic>
        <p:nvPicPr>
          <p:cNvPr id="6" name="Image 1" descr="/private/tmp/claude-501/-Users-ymytr-nova/5e161095-2610-40a0-961d-5450e47dcdec/scratchpad/build/erd_dia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047311"/>
            <a:ext cx="10570464" cy="34034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CareerNova · KLTN 2026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ymytr-nova/5e161095-2610-40a0-961d-5450e47dcdec/scratchpad/build/logo-khtn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384048"/>
            <a:ext cx="475488" cy="3735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8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DỰ PHÒNG · D9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Sơ đồ Use Case tổng quát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200400" y="1691640"/>
            <a:ext cx="576072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D2E0EE"/>
            </a:solidFill>
            <a:prstDash val="solid"/>
          </a:ln>
          <a:effectLst>
            <a:outerShdw sx="100000" sy="100000" kx="0" ky="0" algn="bl" rotWithShape="0" blurRad="76200" dist="38100" dir="5400000">
              <a:srgbClr val="8AA0B0">
                <a:alpha val="35000"/>
              </a:srgbClr>
            </a:outerShdw>
          </a:effectLst>
        </p:spPr>
      </p:sp>
      <p:pic>
        <p:nvPicPr>
          <p:cNvPr id="6" name="Image 1" descr="/private/tmp/claude-501/-Users-ymytr-nova/5e161095-2610-40a0-961d-5450e47dcdec/scratchpad/build/usecase_dia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267" y="1801368"/>
            <a:ext cx="3398985" cy="45354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CareerNova · KLTN 2026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ymytr-nova/5e161095-2610-40a0-961d-5450e47dcdec/scratchpad/build/logo-khtn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384048"/>
            <a:ext cx="475488" cy="3735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8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DỰ PHÒNG · D10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 — kiểm chứng tính hợp lý Match Score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78308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viên tốt nhất trong tập: ứng tuyển nhóm Information Security Consultant (28 kỹ năng yêu cầu).</a:t>
            </a:r>
            <a:endParaRPr lang="en-US" sz="1500" dirty="0"/>
          </a:p>
          <a:p>
            <a:pPr marL="342900" indent="-3429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phân loại đúng 75%; Match Score hệ thống 34% vs người chấm 25% → MAE = 0,09 (đạt ≤ 0,10).</a:t>
            </a:r>
            <a:endParaRPr lang="en-US" sz="1500" dirty="0"/>
          </a:p>
          <a:p>
            <a:pPr marL="342900" indent="-3429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 sai đều là Partial (GT) bị hệ thống trả Missing — đúng nguyên nhân “CSDL nhị phân, thiếu Partial”.</a:t>
            </a:r>
            <a:endParaRPr lang="en-US" sz="1500" dirty="0"/>
          </a:p>
          <a:p>
            <a:pPr marL="342900" indent="-3429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ca nào sai theo chiều Missing → Matched → sàn lọc cosine ≥ 0,55 hoạt động an toàn, không tạo khớp giả.</a:t>
            </a:r>
            <a:endParaRPr lang="en-US" sz="1500" dirty="0"/>
          </a:p>
          <a:p>
            <a:pPr marL="342900" indent="-3429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luận: điểm số tổng hợp phản ánh sát đánh giá con người dù phân loại trung gian bị đơn giản hóa.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CareerNova · KLTN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2026-07-30T11:31:24Z</dcterms:created>
  <dcterms:modified xsi:type="dcterms:W3CDTF">2026-07-30T11:31:24Z</dcterms:modified>
</cp:coreProperties>
</file>